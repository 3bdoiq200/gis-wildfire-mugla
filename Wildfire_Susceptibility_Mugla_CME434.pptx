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Shape 1"/>
          <p:cNvSpPr/>
          <p:nvPr/>
        </p:nvSpPr>
        <p:spPr>
          <a:xfrm>
            <a:off x="0" y="0"/>
            <a:ext cx="9144000" cy="640080"/>
          </a:xfrm>
          <a:prstGeom prst="rect">
            <a:avLst/>
          </a:prstGeom>
          <a:solidFill>
            <a:srgbClr val="C0392B"/>
          </a:solidFill>
          <a:ln w="12700">
            <a:solidFill>
              <a:srgbClr val="C0392B"/>
            </a:solidFill>
            <a:prstDash val="solid"/>
          </a:ln>
        </p:spPr>
      </p:sp>
      <p:sp>
        <p:nvSpPr>
          <p:cNvPr id="4" name="Text 2"/>
          <p:cNvSpPr/>
          <p:nvPr/>
        </p:nvSpPr>
        <p:spPr>
          <a:xfrm>
            <a:off x="274320" y="0"/>
            <a:ext cx="8595360" cy="640080"/>
          </a:xfrm>
          <a:prstGeom prst="rect">
            <a:avLst/>
          </a:prstGeom>
          <a:noFill/>
          <a:ln/>
        </p:spPr>
        <p:txBody>
          <a:bodyPr wrap="square" rtlCol="0" anchor="ctr"/>
          <a:lstStyle/>
          <a:p>
            <a:pPr algn="ctr" indent="0" marL="0">
              <a:buNone/>
            </a:pPr>
            <a:r>
              <a:rPr lang="en-US" sz="1000" spc="200" kern="0" dirty="0">
                <a:solidFill>
                  <a:srgbClr val="FFFFFF"/>
                </a:solidFill>
                <a:latin typeface="Calibri" pitchFamily="34" charset="0"/>
                <a:ea typeface="Calibri" pitchFamily="34" charset="-122"/>
                <a:cs typeface="Calibri" pitchFamily="34" charset="-120"/>
              </a:rPr>
              <a:t>CME434 — GEOGRAPHIC INFORMATION SYSTEMS  |  KARABÜK UNIVERSITY  |  2026</a:t>
            </a:r>
            <a:endParaRPr lang="en-US" sz="1000" dirty="0"/>
          </a:p>
        </p:txBody>
      </p:sp>
      <p:sp>
        <p:nvSpPr>
          <p:cNvPr id="5" name="Text 3"/>
          <p:cNvSpPr/>
          <p:nvPr/>
        </p:nvSpPr>
        <p:spPr>
          <a:xfrm>
            <a:off x="3886200" y="822960"/>
            <a:ext cx="1371600" cy="100584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6" name="Text 4"/>
          <p:cNvSpPr/>
          <p:nvPr/>
        </p:nvSpPr>
        <p:spPr>
          <a:xfrm>
            <a:off x="457200" y="1691640"/>
            <a:ext cx="8229600" cy="594360"/>
          </a:xfrm>
          <a:prstGeom prst="rect">
            <a:avLst/>
          </a:prstGeom>
          <a:noFill/>
          <a:ln/>
        </p:spPr>
        <p:txBody>
          <a:bodyPr wrap="square" rtlCol="0" anchor="ctr"/>
          <a:lstStyle/>
          <a:p>
            <a:pPr algn="ctr" indent="0" marL="0">
              <a:buNone/>
            </a:pPr>
            <a:r>
              <a:rPr lang="en-US" sz="2600" b="1" dirty="0">
                <a:solidFill>
                  <a:srgbClr val="F5A623"/>
                </a:solidFill>
                <a:latin typeface="Calibri" pitchFamily="34" charset="0"/>
                <a:ea typeface="Calibri" pitchFamily="34" charset="-122"/>
                <a:cs typeface="Calibri" pitchFamily="34" charset="-120"/>
              </a:rPr>
              <a:t>GIS and Machine Learning-Based</a:t>
            </a:r>
            <a:endParaRPr lang="en-US" sz="2600" dirty="0"/>
          </a:p>
        </p:txBody>
      </p:sp>
      <p:sp>
        <p:nvSpPr>
          <p:cNvPr id="7" name="Text 5"/>
          <p:cNvSpPr/>
          <p:nvPr/>
        </p:nvSpPr>
        <p:spPr>
          <a:xfrm>
            <a:off x="457200" y="2240280"/>
            <a:ext cx="8229600"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Wildfire Susceptibility Mapping</a:t>
            </a:r>
            <a:endParaRPr lang="en-US" sz="3400" dirty="0"/>
          </a:p>
        </p:txBody>
      </p:sp>
      <p:sp>
        <p:nvSpPr>
          <p:cNvPr id="8" name="Text 6"/>
          <p:cNvSpPr/>
          <p:nvPr/>
        </p:nvSpPr>
        <p:spPr>
          <a:xfrm>
            <a:off x="457200" y="2907792"/>
            <a:ext cx="8229600" cy="411480"/>
          </a:xfrm>
          <a:prstGeom prst="rect">
            <a:avLst/>
          </a:prstGeom>
          <a:noFill/>
          <a:ln/>
        </p:spPr>
        <p:txBody>
          <a:bodyPr wrap="square" rtlCol="0" anchor="ctr"/>
          <a:lstStyle/>
          <a:p>
            <a:pPr algn="ctr" indent="0" marL="0">
              <a:buNone/>
            </a:pPr>
            <a:r>
              <a:rPr lang="en-US" sz="1600" i="1" dirty="0">
                <a:solidFill>
                  <a:srgbClr val="9BAAB5"/>
                </a:solidFill>
                <a:latin typeface="Calibri" pitchFamily="34" charset="0"/>
                <a:ea typeface="Calibri" pitchFamily="34" charset="-122"/>
                <a:cs typeface="Calibri" pitchFamily="34" charset="-120"/>
              </a:rPr>
              <a:t>Muğla Province, Turkey  ·  Summer Wildfires 2025</a:t>
            </a:r>
            <a:endParaRPr lang="en-US" sz="1600" dirty="0"/>
          </a:p>
        </p:txBody>
      </p:sp>
      <p:sp>
        <p:nvSpPr>
          <p:cNvPr id="9" name="Shape 7"/>
          <p:cNvSpPr/>
          <p:nvPr/>
        </p:nvSpPr>
        <p:spPr>
          <a:xfrm>
            <a:off x="3200400" y="3401568"/>
            <a:ext cx="2743200" cy="36576"/>
          </a:xfrm>
          <a:prstGeom prst="rect">
            <a:avLst/>
          </a:prstGeom>
          <a:solidFill>
            <a:srgbClr val="C0392B"/>
          </a:solidFill>
          <a:ln w="12700">
            <a:solidFill>
              <a:srgbClr val="C0392B"/>
            </a:solidFill>
            <a:prstDash val="solid"/>
          </a:ln>
        </p:spPr>
      </p:sp>
      <p:sp>
        <p:nvSpPr>
          <p:cNvPr id="10" name="Shape 8"/>
          <p:cNvSpPr/>
          <p:nvPr/>
        </p:nvSpPr>
        <p:spPr>
          <a:xfrm>
            <a:off x="365760" y="3364992"/>
            <a:ext cx="8412480" cy="987552"/>
          </a:xfrm>
          <a:prstGeom prst="rect">
            <a:avLst/>
          </a:prstGeom>
          <a:solidFill>
            <a:srgbClr val="0A1520"/>
          </a:solidFill>
          <a:ln w="12700">
            <a:solidFill>
              <a:srgbClr val="C0392B"/>
            </a:solidFill>
            <a:prstDash val="solid"/>
          </a:ln>
        </p:spPr>
      </p:sp>
      <p:sp>
        <p:nvSpPr>
          <p:cNvPr id="11" name="Shape 9"/>
          <p:cNvSpPr/>
          <p:nvPr/>
        </p:nvSpPr>
        <p:spPr>
          <a:xfrm>
            <a:off x="365760" y="3364992"/>
            <a:ext cx="8412480" cy="310896"/>
          </a:xfrm>
          <a:prstGeom prst="rect">
            <a:avLst/>
          </a:prstGeom>
          <a:solidFill>
            <a:srgbClr val="1B2A3B"/>
          </a:solidFill>
          <a:ln w="12700">
            <a:solidFill>
              <a:srgbClr val="1B2A3B"/>
            </a:solidFill>
            <a:prstDash val="solid"/>
          </a:ln>
        </p:spPr>
      </p:sp>
      <p:sp>
        <p:nvSpPr>
          <p:cNvPr id="12" name="Text 10"/>
          <p:cNvSpPr/>
          <p:nvPr/>
        </p:nvSpPr>
        <p:spPr>
          <a:xfrm>
            <a:off x="365760" y="3364992"/>
            <a:ext cx="8412480" cy="310896"/>
          </a:xfrm>
          <a:prstGeom prst="rect">
            <a:avLst/>
          </a:prstGeom>
          <a:noFill/>
          <a:ln/>
        </p:spPr>
        <p:txBody>
          <a:bodyPr wrap="square" rtlCol="0" anchor="ctr"/>
          <a:lstStyle/>
          <a:p>
            <a:pPr algn="ctr" indent="0" marL="0">
              <a:buNone/>
            </a:pPr>
            <a:r>
              <a:rPr lang="en-US" sz="1000" b="1" spc="200" kern="0" dirty="0">
                <a:solidFill>
                  <a:srgbClr val="F5A623"/>
                </a:solidFill>
                <a:latin typeface="Calibri" pitchFamily="34" charset="0"/>
                <a:ea typeface="Calibri" pitchFamily="34" charset="-122"/>
                <a:cs typeface="Calibri" pitchFamily="34" charset="-120"/>
              </a:rPr>
              <a:t>TEAM MEMBERS</a:t>
            </a:r>
            <a:endParaRPr lang="en-US" sz="1000" dirty="0"/>
          </a:p>
        </p:txBody>
      </p:sp>
      <p:sp>
        <p:nvSpPr>
          <p:cNvPr id="13" name="Shape 11"/>
          <p:cNvSpPr/>
          <p:nvPr/>
        </p:nvSpPr>
        <p:spPr>
          <a:xfrm>
            <a:off x="438912" y="3730752"/>
            <a:ext cx="2011680" cy="548640"/>
          </a:xfrm>
          <a:prstGeom prst="rect">
            <a:avLst/>
          </a:prstGeom>
          <a:solidFill>
            <a:srgbClr val="1B2A3B"/>
          </a:solidFill>
          <a:ln w="6350">
            <a:solidFill>
              <a:srgbClr val="2A3B4C"/>
            </a:solidFill>
            <a:prstDash val="solid"/>
          </a:ln>
        </p:spPr>
      </p:sp>
      <p:sp>
        <p:nvSpPr>
          <p:cNvPr id="14" name="Shape 12"/>
          <p:cNvSpPr/>
          <p:nvPr/>
        </p:nvSpPr>
        <p:spPr>
          <a:xfrm>
            <a:off x="438912" y="3730752"/>
            <a:ext cx="45720" cy="548640"/>
          </a:xfrm>
          <a:prstGeom prst="rect">
            <a:avLst/>
          </a:prstGeom>
          <a:solidFill>
            <a:srgbClr val="C0392B"/>
          </a:solidFill>
          <a:ln w="12700">
            <a:solidFill>
              <a:srgbClr val="C0392B"/>
            </a:solidFill>
            <a:prstDash val="solid"/>
          </a:ln>
        </p:spPr>
      </p:sp>
      <p:sp>
        <p:nvSpPr>
          <p:cNvPr id="15" name="Text 13"/>
          <p:cNvSpPr/>
          <p:nvPr/>
        </p:nvSpPr>
        <p:spPr>
          <a:xfrm>
            <a:off x="530352" y="3758184"/>
            <a:ext cx="1901952"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Abdalrahman Asmaael</a:t>
            </a:r>
            <a:endParaRPr lang="en-US" sz="1000" dirty="0"/>
          </a:p>
        </p:txBody>
      </p:sp>
      <p:sp>
        <p:nvSpPr>
          <p:cNvPr id="16" name="Text 14"/>
          <p:cNvSpPr/>
          <p:nvPr/>
        </p:nvSpPr>
        <p:spPr>
          <a:xfrm>
            <a:off x="530352" y="4032504"/>
            <a:ext cx="1901952" cy="219456"/>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2210213532</a:t>
            </a:r>
            <a:endParaRPr lang="en-US" sz="900" dirty="0"/>
          </a:p>
        </p:txBody>
      </p:sp>
      <p:sp>
        <p:nvSpPr>
          <p:cNvPr id="17" name="Shape 15"/>
          <p:cNvSpPr/>
          <p:nvPr/>
        </p:nvSpPr>
        <p:spPr>
          <a:xfrm>
            <a:off x="2514600" y="3730752"/>
            <a:ext cx="2011680" cy="548640"/>
          </a:xfrm>
          <a:prstGeom prst="rect">
            <a:avLst/>
          </a:prstGeom>
          <a:solidFill>
            <a:srgbClr val="1B2A3B"/>
          </a:solidFill>
          <a:ln w="6350">
            <a:solidFill>
              <a:srgbClr val="2A3B4C"/>
            </a:solidFill>
            <a:prstDash val="solid"/>
          </a:ln>
        </p:spPr>
      </p:sp>
      <p:sp>
        <p:nvSpPr>
          <p:cNvPr id="18" name="Shape 16"/>
          <p:cNvSpPr/>
          <p:nvPr/>
        </p:nvSpPr>
        <p:spPr>
          <a:xfrm>
            <a:off x="2514600" y="3730752"/>
            <a:ext cx="45720" cy="548640"/>
          </a:xfrm>
          <a:prstGeom prst="rect">
            <a:avLst/>
          </a:prstGeom>
          <a:solidFill>
            <a:srgbClr val="C0392B"/>
          </a:solidFill>
          <a:ln w="12700">
            <a:solidFill>
              <a:srgbClr val="C0392B"/>
            </a:solidFill>
            <a:prstDash val="solid"/>
          </a:ln>
        </p:spPr>
      </p:sp>
      <p:sp>
        <p:nvSpPr>
          <p:cNvPr id="19" name="Text 17"/>
          <p:cNvSpPr/>
          <p:nvPr/>
        </p:nvSpPr>
        <p:spPr>
          <a:xfrm>
            <a:off x="2606040" y="3758184"/>
            <a:ext cx="1901952"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Ibrahim Ajaha</a:t>
            </a:r>
            <a:endParaRPr lang="en-US" sz="1000" dirty="0"/>
          </a:p>
        </p:txBody>
      </p:sp>
      <p:sp>
        <p:nvSpPr>
          <p:cNvPr id="20" name="Text 18"/>
          <p:cNvSpPr/>
          <p:nvPr/>
        </p:nvSpPr>
        <p:spPr>
          <a:xfrm>
            <a:off x="2606040" y="4032504"/>
            <a:ext cx="1901952" cy="219456"/>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2110213526</a:t>
            </a:r>
            <a:endParaRPr lang="en-US" sz="900" dirty="0"/>
          </a:p>
        </p:txBody>
      </p:sp>
      <p:sp>
        <p:nvSpPr>
          <p:cNvPr id="21" name="Shape 19"/>
          <p:cNvSpPr/>
          <p:nvPr/>
        </p:nvSpPr>
        <p:spPr>
          <a:xfrm>
            <a:off x="4590288" y="3730752"/>
            <a:ext cx="2011680" cy="548640"/>
          </a:xfrm>
          <a:prstGeom prst="rect">
            <a:avLst/>
          </a:prstGeom>
          <a:solidFill>
            <a:srgbClr val="1B2A3B"/>
          </a:solidFill>
          <a:ln w="6350">
            <a:solidFill>
              <a:srgbClr val="2A3B4C"/>
            </a:solidFill>
            <a:prstDash val="solid"/>
          </a:ln>
        </p:spPr>
      </p:sp>
      <p:sp>
        <p:nvSpPr>
          <p:cNvPr id="22" name="Shape 20"/>
          <p:cNvSpPr/>
          <p:nvPr/>
        </p:nvSpPr>
        <p:spPr>
          <a:xfrm>
            <a:off x="4590288" y="3730752"/>
            <a:ext cx="45720" cy="548640"/>
          </a:xfrm>
          <a:prstGeom prst="rect">
            <a:avLst/>
          </a:prstGeom>
          <a:solidFill>
            <a:srgbClr val="C0392B"/>
          </a:solidFill>
          <a:ln w="12700">
            <a:solidFill>
              <a:srgbClr val="C0392B"/>
            </a:solidFill>
            <a:prstDash val="solid"/>
          </a:ln>
        </p:spPr>
      </p:sp>
      <p:sp>
        <p:nvSpPr>
          <p:cNvPr id="23" name="Text 21"/>
          <p:cNvSpPr/>
          <p:nvPr/>
        </p:nvSpPr>
        <p:spPr>
          <a:xfrm>
            <a:off x="4681728" y="3758184"/>
            <a:ext cx="1901952"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Omar Ehab Talat Helal</a:t>
            </a:r>
            <a:endParaRPr lang="en-US" sz="1000" dirty="0"/>
          </a:p>
        </p:txBody>
      </p:sp>
      <p:sp>
        <p:nvSpPr>
          <p:cNvPr id="24" name="Text 22"/>
          <p:cNvSpPr/>
          <p:nvPr/>
        </p:nvSpPr>
        <p:spPr>
          <a:xfrm>
            <a:off x="4681728" y="4032504"/>
            <a:ext cx="1901952" cy="219456"/>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2210213526</a:t>
            </a:r>
            <a:endParaRPr lang="en-US" sz="900" dirty="0"/>
          </a:p>
        </p:txBody>
      </p:sp>
      <p:sp>
        <p:nvSpPr>
          <p:cNvPr id="25" name="Shape 23"/>
          <p:cNvSpPr/>
          <p:nvPr/>
        </p:nvSpPr>
        <p:spPr>
          <a:xfrm>
            <a:off x="6665976" y="3730752"/>
            <a:ext cx="2011680" cy="548640"/>
          </a:xfrm>
          <a:prstGeom prst="rect">
            <a:avLst/>
          </a:prstGeom>
          <a:solidFill>
            <a:srgbClr val="1B2A3B"/>
          </a:solidFill>
          <a:ln w="6350">
            <a:solidFill>
              <a:srgbClr val="2A3B4C"/>
            </a:solidFill>
            <a:prstDash val="solid"/>
          </a:ln>
        </p:spPr>
      </p:sp>
      <p:sp>
        <p:nvSpPr>
          <p:cNvPr id="26" name="Shape 24"/>
          <p:cNvSpPr/>
          <p:nvPr/>
        </p:nvSpPr>
        <p:spPr>
          <a:xfrm>
            <a:off x="6665976" y="3730752"/>
            <a:ext cx="45720" cy="548640"/>
          </a:xfrm>
          <a:prstGeom prst="rect">
            <a:avLst/>
          </a:prstGeom>
          <a:solidFill>
            <a:srgbClr val="C0392B"/>
          </a:solidFill>
          <a:ln w="12700">
            <a:solidFill>
              <a:srgbClr val="C0392B"/>
            </a:solidFill>
            <a:prstDash val="solid"/>
          </a:ln>
        </p:spPr>
      </p:sp>
      <p:sp>
        <p:nvSpPr>
          <p:cNvPr id="27" name="Text 25"/>
          <p:cNvSpPr/>
          <p:nvPr/>
        </p:nvSpPr>
        <p:spPr>
          <a:xfrm>
            <a:off x="6757416" y="3758184"/>
            <a:ext cx="1901952"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Ahmet Karadağ</a:t>
            </a:r>
            <a:endParaRPr lang="en-US" sz="1000" dirty="0"/>
          </a:p>
        </p:txBody>
      </p:sp>
      <p:sp>
        <p:nvSpPr>
          <p:cNvPr id="28" name="Text 26"/>
          <p:cNvSpPr/>
          <p:nvPr/>
        </p:nvSpPr>
        <p:spPr>
          <a:xfrm>
            <a:off x="6757416" y="4032504"/>
            <a:ext cx="1901952" cy="219456"/>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2110213033</a:t>
            </a:r>
            <a:endParaRPr lang="en-US" sz="900" dirty="0"/>
          </a:p>
        </p:txBody>
      </p:sp>
      <p:sp>
        <p:nvSpPr>
          <p:cNvPr id="29" name="Text 27"/>
          <p:cNvSpPr/>
          <p:nvPr/>
        </p:nvSpPr>
        <p:spPr>
          <a:xfrm>
            <a:off x="502920" y="4462272"/>
            <a:ext cx="1554480" cy="219456"/>
          </a:xfrm>
          <a:prstGeom prst="rect">
            <a:avLst/>
          </a:prstGeom>
          <a:noFill/>
          <a:ln/>
        </p:spPr>
        <p:txBody>
          <a:bodyPr wrap="square" rtlCol="0" anchor="ctr"/>
          <a:lstStyle/>
          <a:p>
            <a:pPr indent="0" marL="0">
              <a:buNone/>
            </a:pPr>
            <a:r>
              <a:rPr lang="en-US" sz="900" spc="120" kern="0" dirty="0">
                <a:solidFill>
                  <a:srgbClr val="F5A623"/>
                </a:solidFill>
                <a:latin typeface="Calibri" pitchFamily="34" charset="0"/>
                <a:ea typeface="Calibri" pitchFamily="34" charset="-122"/>
                <a:cs typeface="Calibri" pitchFamily="34" charset="-120"/>
              </a:rPr>
              <a:t>COURSE:</a:t>
            </a:r>
            <a:endParaRPr lang="en-US" sz="900" dirty="0"/>
          </a:p>
        </p:txBody>
      </p:sp>
      <p:sp>
        <p:nvSpPr>
          <p:cNvPr id="30" name="Text 28"/>
          <p:cNvSpPr/>
          <p:nvPr/>
        </p:nvSpPr>
        <p:spPr>
          <a:xfrm>
            <a:off x="2075688" y="4462272"/>
            <a:ext cx="2834640" cy="21945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CME434 — GIS Applications</a:t>
            </a:r>
            <a:endParaRPr lang="en-US" sz="1000" dirty="0"/>
          </a:p>
        </p:txBody>
      </p:sp>
      <p:sp>
        <p:nvSpPr>
          <p:cNvPr id="31" name="Text 29"/>
          <p:cNvSpPr/>
          <p:nvPr/>
        </p:nvSpPr>
        <p:spPr>
          <a:xfrm>
            <a:off x="4983480" y="4462272"/>
            <a:ext cx="1554480" cy="219456"/>
          </a:xfrm>
          <a:prstGeom prst="rect">
            <a:avLst/>
          </a:prstGeom>
          <a:noFill/>
          <a:ln/>
        </p:spPr>
        <p:txBody>
          <a:bodyPr wrap="square" rtlCol="0" anchor="ctr"/>
          <a:lstStyle/>
          <a:p>
            <a:pPr indent="0" marL="0">
              <a:buNone/>
            </a:pPr>
            <a:r>
              <a:rPr lang="en-US" sz="900" spc="120" kern="0" dirty="0">
                <a:solidFill>
                  <a:srgbClr val="F5A623"/>
                </a:solidFill>
                <a:latin typeface="Calibri" pitchFamily="34" charset="0"/>
                <a:ea typeface="Calibri" pitchFamily="34" charset="-122"/>
                <a:cs typeface="Calibri" pitchFamily="34" charset="-120"/>
              </a:rPr>
              <a:t>SUPERVISOR:</a:t>
            </a:r>
            <a:endParaRPr lang="en-US" sz="900" dirty="0"/>
          </a:p>
        </p:txBody>
      </p:sp>
      <p:sp>
        <p:nvSpPr>
          <p:cNvPr id="32" name="Text 30"/>
          <p:cNvSpPr/>
          <p:nvPr/>
        </p:nvSpPr>
        <p:spPr>
          <a:xfrm>
            <a:off x="6556248" y="4462272"/>
            <a:ext cx="2834640" cy="21945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Dr. Sohaib K. M. Abujayyab</a:t>
            </a:r>
            <a:endParaRPr lang="en-US" sz="1000" dirty="0"/>
          </a:p>
        </p:txBody>
      </p:sp>
      <p:sp>
        <p:nvSpPr>
          <p:cNvPr id="33" name="Text 31"/>
          <p:cNvSpPr/>
          <p:nvPr/>
        </p:nvSpPr>
        <p:spPr>
          <a:xfrm>
            <a:off x="502920" y="4700016"/>
            <a:ext cx="1554480" cy="219456"/>
          </a:xfrm>
          <a:prstGeom prst="rect">
            <a:avLst/>
          </a:prstGeom>
          <a:noFill/>
          <a:ln/>
        </p:spPr>
        <p:txBody>
          <a:bodyPr wrap="square" rtlCol="0" anchor="ctr"/>
          <a:lstStyle/>
          <a:p>
            <a:pPr indent="0" marL="0">
              <a:buNone/>
            </a:pPr>
            <a:r>
              <a:rPr lang="en-US" sz="900" spc="120" kern="0" dirty="0">
                <a:solidFill>
                  <a:srgbClr val="F5A623"/>
                </a:solidFill>
                <a:latin typeface="Calibri" pitchFamily="34" charset="0"/>
                <a:ea typeface="Calibri" pitchFamily="34" charset="-122"/>
                <a:cs typeface="Calibri" pitchFamily="34" charset="-120"/>
              </a:rPr>
              <a:t>INSTITUTION:</a:t>
            </a:r>
            <a:endParaRPr lang="en-US" sz="900" dirty="0"/>
          </a:p>
        </p:txBody>
      </p:sp>
      <p:sp>
        <p:nvSpPr>
          <p:cNvPr id="34" name="Text 32"/>
          <p:cNvSpPr/>
          <p:nvPr/>
        </p:nvSpPr>
        <p:spPr>
          <a:xfrm>
            <a:off x="2075688" y="4700016"/>
            <a:ext cx="2834640" cy="21945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Karabük University</a:t>
            </a:r>
            <a:endParaRPr lang="en-US" sz="1000" dirty="0"/>
          </a:p>
        </p:txBody>
      </p:sp>
      <p:sp>
        <p:nvSpPr>
          <p:cNvPr id="35" name="Text 33"/>
          <p:cNvSpPr/>
          <p:nvPr/>
        </p:nvSpPr>
        <p:spPr>
          <a:xfrm>
            <a:off x="4983480" y="4700016"/>
            <a:ext cx="1554480" cy="219456"/>
          </a:xfrm>
          <a:prstGeom prst="rect">
            <a:avLst/>
          </a:prstGeom>
          <a:noFill/>
          <a:ln/>
        </p:spPr>
        <p:txBody>
          <a:bodyPr wrap="square" rtlCol="0" anchor="ctr"/>
          <a:lstStyle/>
          <a:p>
            <a:pPr indent="0" marL="0">
              <a:buNone/>
            </a:pPr>
            <a:r>
              <a:rPr lang="en-US" sz="900" spc="120" kern="0" dirty="0">
                <a:solidFill>
                  <a:srgbClr val="F5A623"/>
                </a:solidFill>
                <a:latin typeface="Calibri" pitchFamily="34" charset="0"/>
                <a:ea typeface="Calibri" pitchFamily="34" charset="-122"/>
                <a:cs typeface="Calibri" pitchFamily="34" charset="-120"/>
              </a:rPr>
              <a:t>DATE:</a:t>
            </a:r>
            <a:endParaRPr lang="en-US" sz="900" dirty="0"/>
          </a:p>
        </p:txBody>
      </p:sp>
      <p:sp>
        <p:nvSpPr>
          <p:cNvPr id="36" name="Text 34"/>
          <p:cNvSpPr/>
          <p:nvPr/>
        </p:nvSpPr>
        <p:spPr>
          <a:xfrm>
            <a:off x="6556248" y="4700016"/>
            <a:ext cx="2834640" cy="21945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  Table of Contents</a:t>
            </a:r>
            <a:endParaRPr lang="en-US" sz="2800" dirty="0"/>
          </a:p>
        </p:txBody>
      </p:sp>
      <p:sp>
        <p:nvSpPr>
          <p:cNvPr id="4" name="Shape 2"/>
          <p:cNvSpPr/>
          <p:nvPr/>
        </p:nvSpPr>
        <p:spPr>
          <a:xfrm>
            <a:off x="365760" y="896112"/>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96112"/>
            <a:ext cx="502920" cy="868680"/>
          </a:xfrm>
          <a:prstGeom prst="rect">
            <a:avLst/>
          </a:prstGeom>
          <a:solidFill>
            <a:srgbClr val="0D1B2A"/>
          </a:solidFill>
          <a:ln w="12700">
            <a:solidFill>
              <a:srgbClr val="0D1B2A"/>
            </a:solidFill>
            <a:prstDash val="solid"/>
          </a:ln>
        </p:spPr>
      </p:sp>
      <p:sp>
        <p:nvSpPr>
          <p:cNvPr id="6" name="Text 4"/>
          <p:cNvSpPr/>
          <p:nvPr/>
        </p:nvSpPr>
        <p:spPr>
          <a:xfrm>
            <a:off x="365760" y="896112"/>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41832" y="950976"/>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Abstract</a:t>
            </a:r>
            <a:endParaRPr lang="en-US" sz="1300" dirty="0"/>
          </a:p>
        </p:txBody>
      </p:sp>
      <p:sp>
        <p:nvSpPr>
          <p:cNvPr id="8" name="Text 6"/>
          <p:cNvSpPr/>
          <p:nvPr/>
        </p:nvSpPr>
        <p:spPr>
          <a:xfrm>
            <a:off x="941832" y="1335024"/>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Executive summary of findings</a:t>
            </a:r>
            <a:endParaRPr lang="en-US" sz="1000" dirty="0"/>
          </a:p>
        </p:txBody>
      </p:sp>
      <p:sp>
        <p:nvSpPr>
          <p:cNvPr id="9" name="Shape 7"/>
          <p:cNvSpPr/>
          <p:nvPr/>
        </p:nvSpPr>
        <p:spPr>
          <a:xfrm>
            <a:off x="4800600" y="896112"/>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800600" y="896112"/>
            <a:ext cx="502920" cy="868680"/>
          </a:xfrm>
          <a:prstGeom prst="rect">
            <a:avLst/>
          </a:prstGeom>
          <a:solidFill>
            <a:srgbClr val="0D1B2A"/>
          </a:solidFill>
          <a:ln w="12700">
            <a:solidFill>
              <a:srgbClr val="0D1B2A"/>
            </a:solidFill>
            <a:prstDash val="solid"/>
          </a:ln>
        </p:spPr>
      </p:sp>
      <p:sp>
        <p:nvSpPr>
          <p:cNvPr id="11" name="Text 9"/>
          <p:cNvSpPr/>
          <p:nvPr/>
        </p:nvSpPr>
        <p:spPr>
          <a:xfrm>
            <a:off x="4800600" y="896112"/>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376672" y="950976"/>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Introduction</a:t>
            </a:r>
            <a:endParaRPr lang="en-US" sz="1300" dirty="0"/>
          </a:p>
        </p:txBody>
      </p:sp>
      <p:sp>
        <p:nvSpPr>
          <p:cNvPr id="13" name="Text 11"/>
          <p:cNvSpPr/>
          <p:nvPr/>
        </p:nvSpPr>
        <p:spPr>
          <a:xfrm>
            <a:off x="5376672" y="1335024"/>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Context, motivation, objectives</a:t>
            </a:r>
            <a:endParaRPr lang="en-US" sz="1000" dirty="0"/>
          </a:p>
        </p:txBody>
      </p:sp>
      <p:sp>
        <p:nvSpPr>
          <p:cNvPr id="14" name="Shape 12"/>
          <p:cNvSpPr/>
          <p:nvPr/>
        </p:nvSpPr>
        <p:spPr>
          <a:xfrm>
            <a:off x="365760" y="1874520"/>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65760" y="1874520"/>
            <a:ext cx="502920" cy="868680"/>
          </a:xfrm>
          <a:prstGeom prst="rect">
            <a:avLst/>
          </a:prstGeom>
          <a:solidFill>
            <a:srgbClr val="0D1B2A"/>
          </a:solidFill>
          <a:ln w="12700">
            <a:solidFill>
              <a:srgbClr val="0D1B2A"/>
            </a:solidFill>
            <a:prstDash val="solid"/>
          </a:ln>
        </p:spPr>
      </p:sp>
      <p:sp>
        <p:nvSpPr>
          <p:cNvPr id="16" name="Text 14"/>
          <p:cNvSpPr/>
          <p:nvPr/>
        </p:nvSpPr>
        <p:spPr>
          <a:xfrm>
            <a:off x="365760" y="1874520"/>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941832" y="1929384"/>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Study Area</a:t>
            </a:r>
            <a:endParaRPr lang="en-US" sz="1300" dirty="0"/>
          </a:p>
        </p:txBody>
      </p:sp>
      <p:sp>
        <p:nvSpPr>
          <p:cNvPr id="18" name="Text 16"/>
          <p:cNvSpPr/>
          <p:nvPr/>
        </p:nvSpPr>
        <p:spPr>
          <a:xfrm>
            <a:off x="941832" y="2313432"/>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Muğla Province geography &amp; climate</a:t>
            </a:r>
            <a:endParaRPr lang="en-US" sz="1000" dirty="0"/>
          </a:p>
        </p:txBody>
      </p:sp>
      <p:sp>
        <p:nvSpPr>
          <p:cNvPr id="19" name="Shape 17"/>
          <p:cNvSpPr/>
          <p:nvPr/>
        </p:nvSpPr>
        <p:spPr>
          <a:xfrm>
            <a:off x="4800600" y="1874520"/>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800600" y="1874520"/>
            <a:ext cx="502920" cy="868680"/>
          </a:xfrm>
          <a:prstGeom prst="rect">
            <a:avLst/>
          </a:prstGeom>
          <a:solidFill>
            <a:srgbClr val="0D1B2A"/>
          </a:solidFill>
          <a:ln w="12700">
            <a:solidFill>
              <a:srgbClr val="0D1B2A"/>
            </a:solidFill>
            <a:prstDash val="solid"/>
          </a:ln>
        </p:spPr>
      </p:sp>
      <p:sp>
        <p:nvSpPr>
          <p:cNvPr id="21" name="Text 19"/>
          <p:cNvSpPr/>
          <p:nvPr/>
        </p:nvSpPr>
        <p:spPr>
          <a:xfrm>
            <a:off x="4800600" y="1874520"/>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5376672" y="1929384"/>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Data Sources</a:t>
            </a:r>
            <a:endParaRPr lang="en-US" sz="1300" dirty="0"/>
          </a:p>
        </p:txBody>
      </p:sp>
      <p:sp>
        <p:nvSpPr>
          <p:cNvPr id="23" name="Text 21"/>
          <p:cNvSpPr/>
          <p:nvPr/>
        </p:nvSpPr>
        <p:spPr>
          <a:xfrm>
            <a:off x="5376672" y="2313432"/>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Satellite &amp; geospatial datasets</a:t>
            </a:r>
            <a:endParaRPr lang="en-US" sz="1000" dirty="0"/>
          </a:p>
        </p:txBody>
      </p:sp>
      <p:sp>
        <p:nvSpPr>
          <p:cNvPr id="24" name="Shape 22"/>
          <p:cNvSpPr/>
          <p:nvPr/>
        </p:nvSpPr>
        <p:spPr>
          <a:xfrm>
            <a:off x="365760" y="2852928"/>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65760" y="2852928"/>
            <a:ext cx="502920" cy="868680"/>
          </a:xfrm>
          <a:prstGeom prst="rect">
            <a:avLst/>
          </a:prstGeom>
          <a:solidFill>
            <a:srgbClr val="0D1B2A"/>
          </a:solidFill>
          <a:ln w="12700">
            <a:solidFill>
              <a:srgbClr val="0D1B2A"/>
            </a:solidFill>
            <a:prstDash val="solid"/>
          </a:ln>
        </p:spPr>
      </p:sp>
      <p:sp>
        <p:nvSpPr>
          <p:cNvPr id="26" name="Text 24"/>
          <p:cNvSpPr/>
          <p:nvPr/>
        </p:nvSpPr>
        <p:spPr>
          <a:xfrm>
            <a:off x="365760" y="2852928"/>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05</a:t>
            </a:r>
            <a:endParaRPr lang="en-US" sz="1800" dirty="0"/>
          </a:p>
        </p:txBody>
      </p:sp>
      <p:sp>
        <p:nvSpPr>
          <p:cNvPr id="27" name="Text 25"/>
          <p:cNvSpPr/>
          <p:nvPr/>
        </p:nvSpPr>
        <p:spPr>
          <a:xfrm>
            <a:off x="941832" y="2907792"/>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Methodology</a:t>
            </a:r>
            <a:endParaRPr lang="en-US" sz="1300" dirty="0"/>
          </a:p>
        </p:txBody>
      </p:sp>
      <p:sp>
        <p:nvSpPr>
          <p:cNvPr id="28" name="Text 26"/>
          <p:cNvSpPr/>
          <p:nvPr/>
        </p:nvSpPr>
        <p:spPr>
          <a:xfrm>
            <a:off x="941832" y="3291840"/>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dNBR labeling, feature extraction, ML pipeline</a:t>
            </a:r>
            <a:endParaRPr lang="en-US" sz="1000" dirty="0"/>
          </a:p>
        </p:txBody>
      </p:sp>
      <p:sp>
        <p:nvSpPr>
          <p:cNvPr id="29" name="Shape 27"/>
          <p:cNvSpPr/>
          <p:nvPr/>
        </p:nvSpPr>
        <p:spPr>
          <a:xfrm>
            <a:off x="4800600" y="2852928"/>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4800600" y="2852928"/>
            <a:ext cx="502920" cy="868680"/>
          </a:xfrm>
          <a:prstGeom prst="rect">
            <a:avLst/>
          </a:prstGeom>
          <a:solidFill>
            <a:srgbClr val="0D1B2A"/>
          </a:solidFill>
          <a:ln w="12700">
            <a:solidFill>
              <a:srgbClr val="0D1B2A"/>
            </a:solidFill>
            <a:prstDash val="solid"/>
          </a:ln>
        </p:spPr>
      </p:sp>
      <p:sp>
        <p:nvSpPr>
          <p:cNvPr id="31" name="Text 29"/>
          <p:cNvSpPr/>
          <p:nvPr/>
        </p:nvSpPr>
        <p:spPr>
          <a:xfrm>
            <a:off x="4800600" y="2852928"/>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06</a:t>
            </a:r>
            <a:endParaRPr lang="en-US" sz="1800" dirty="0"/>
          </a:p>
        </p:txBody>
      </p:sp>
      <p:sp>
        <p:nvSpPr>
          <p:cNvPr id="32" name="Text 30"/>
          <p:cNvSpPr/>
          <p:nvPr/>
        </p:nvSpPr>
        <p:spPr>
          <a:xfrm>
            <a:off x="5376672" y="2907792"/>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Results</a:t>
            </a:r>
            <a:endParaRPr lang="en-US" sz="1300" dirty="0"/>
          </a:p>
        </p:txBody>
      </p:sp>
      <p:sp>
        <p:nvSpPr>
          <p:cNvPr id="33" name="Text 31"/>
          <p:cNvSpPr/>
          <p:nvPr/>
        </p:nvSpPr>
        <p:spPr>
          <a:xfrm>
            <a:off x="5376672" y="3291840"/>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Model metrics, feature importance, susceptibility map</a:t>
            </a:r>
            <a:endParaRPr lang="en-US" sz="1000" dirty="0"/>
          </a:p>
        </p:txBody>
      </p:sp>
      <p:sp>
        <p:nvSpPr>
          <p:cNvPr id="34" name="Shape 32"/>
          <p:cNvSpPr/>
          <p:nvPr/>
        </p:nvSpPr>
        <p:spPr>
          <a:xfrm>
            <a:off x="365760" y="3831336"/>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365760" y="3831336"/>
            <a:ext cx="502920" cy="868680"/>
          </a:xfrm>
          <a:prstGeom prst="rect">
            <a:avLst/>
          </a:prstGeom>
          <a:solidFill>
            <a:srgbClr val="0D1B2A"/>
          </a:solidFill>
          <a:ln w="12700">
            <a:solidFill>
              <a:srgbClr val="0D1B2A"/>
            </a:solidFill>
            <a:prstDash val="solid"/>
          </a:ln>
        </p:spPr>
      </p:sp>
      <p:sp>
        <p:nvSpPr>
          <p:cNvPr id="36" name="Text 34"/>
          <p:cNvSpPr/>
          <p:nvPr/>
        </p:nvSpPr>
        <p:spPr>
          <a:xfrm>
            <a:off x="365760" y="3831336"/>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07</a:t>
            </a:r>
            <a:endParaRPr lang="en-US" sz="1800" dirty="0"/>
          </a:p>
        </p:txBody>
      </p:sp>
      <p:sp>
        <p:nvSpPr>
          <p:cNvPr id="37" name="Text 35"/>
          <p:cNvSpPr/>
          <p:nvPr/>
        </p:nvSpPr>
        <p:spPr>
          <a:xfrm>
            <a:off x="941832" y="3886200"/>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Web GIS Application</a:t>
            </a:r>
            <a:endParaRPr lang="en-US" sz="1300" dirty="0"/>
          </a:p>
        </p:txBody>
      </p:sp>
      <p:sp>
        <p:nvSpPr>
          <p:cNvPr id="38" name="Text 36"/>
          <p:cNvSpPr/>
          <p:nvPr/>
        </p:nvSpPr>
        <p:spPr>
          <a:xfrm>
            <a:off x="941832" y="4270248"/>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Interactive Leaflet decision-support tool</a:t>
            </a:r>
            <a:endParaRPr lang="en-US" sz="1000" dirty="0"/>
          </a:p>
        </p:txBody>
      </p:sp>
      <p:sp>
        <p:nvSpPr>
          <p:cNvPr id="39" name="Shape 37"/>
          <p:cNvSpPr/>
          <p:nvPr/>
        </p:nvSpPr>
        <p:spPr>
          <a:xfrm>
            <a:off x="4800600" y="3831336"/>
            <a:ext cx="4206240" cy="8686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4800600" y="3831336"/>
            <a:ext cx="502920" cy="868680"/>
          </a:xfrm>
          <a:prstGeom prst="rect">
            <a:avLst/>
          </a:prstGeom>
          <a:solidFill>
            <a:srgbClr val="0D1B2A"/>
          </a:solidFill>
          <a:ln w="12700">
            <a:solidFill>
              <a:srgbClr val="0D1B2A"/>
            </a:solidFill>
            <a:prstDash val="solid"/>
          </a:ln>
        </p:spPr>
      </p:sp>
      <p:sp>
        <p:nvSpPr>
          <p:cNvPr id="41" name="Text 39"/>
          <p:cNvSpPr/>
          <p:nvPr/>
        </p:nvSpPr>
        <p:spPr>
          <a:xfrm>
            <a:off x="4800600" y="3831336"/>
            <a:ext cx="502920" cy="86868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08</a:t>
            </a:r>
            <a:endParaRPr lang="en-US" sz="1800" dirty="0"/>
          </a:p>
        </p:txBody>
      </p:sp>
      <p:sp>
        <p:nvSpPr>
          <p:cNvPr id="42" name="Text 40"/>
          <p:cNvSpPr/>
          <p:nvPr/>
        </p:nvSpPr>
        <p:spPr>
          <a:xfrm>
            <a:off x="5376672" y="3886200"/>
            <a:ext cx="3547872"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Discussion &amp; Conclusion</a:t>
            </a:r>
            <a:endParaRPr lang="en-US" sz="1300" dirty="0"/>
          </a:p>
        </p:txBody>
      </p:sp>
      <p:sp>
        <p:nvSpPr>
          <p:cNvPr id="43" name="Text 41"/>
          <p:cNvSpPr/>
          <p:nvPr/>
        </p:nvSpPr>
        <p:spPr>
          <a:xfrm>
            <a:off x="5376672" y="4270248"/>
            <a:ext cx="3547872" cy="34747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Insights, limitations, future work</a:t>
            </a:r>
            <a:endParaRPr lang="en-US" sz="1000" dirty="0"/>
          </a:p>
        </p:txBody>
      </p:sp>
      <p:sp>
        <p:nvSpPr>
          <p:cNvPr id="44" name="Shape 42"/>
          <p:cNvSpPr/>
          <p:nvPr/>
        </p:nvSpPr>
        <p:spPr>
          <a:xfrm>
            <a:off x="0" y="4892040"/>
            <a:ext cx="9144000" cy="251460"/>
          </a:xfrm>
          <a:prstGeom prst="rect">
            <a:avLst/>
          </a:prstGeom>
          <a:solidFill>
            <a:srgbClr val="0D1B2A"/>
          </a:solidFill>
          <a:ln w="12700">
            <a:solidFill>
              <a:srgbClr val="0D1B2A"/>
            </a:solidFill>
            <a:prstDash val="solid"/>
          </a:ln>
        </p:spPr>
      </p:sp>
      <p:sp>
        <p:nvSpPr>
          <p:cNvPr id="45" name="Text 43"/>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46" name="Text 44"/>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§1  Abstract</a:t>
            </a:r>
            <a:endParaRPr lang="en-US" sz="2800" dirty="0"/>
          </a:p>
        </p:txBody>
      </p:sp>
      <p:sp>
        <p:nvSpPr>
          <p:cNvPr id="4" name="Shape 2"/>
          <p:cNvSpPr/>
          <p:nvPr/>
        </p:nvSpPr>
        <p:spPr>
          <a:xfrm>
            <a:off x="365760" y="822960"/>
            <a:ext cx="8412480" cy="3566160"/>
          </a:xfrm>
          <a:prstGeom prst="rect">
            <a:avLst/>
          </a:prstGeom>
          <a:solidFill>
            <a:srgbClr val="FFFFFF"/>
          </a:solidFill>
          <a:ln w="1905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8412480" cy="45720"/>
          </a:xfrm>
          <a:prstGeom prst="rect">
            <a:avLst/>
          </a:prstGeom>
          <a:solidFill>
            <a:srgbClr val="C0392B"/>
          </a:solidFill>
          <a:ln w="12700">
            <a:solidFill>
              <a:srgbClr val="C0392B"/>
            </a:solidFill>
            <a:prstDash val="solid"/>
          </a:ln>
        </p:spPr>
      </p:sp>
      <p:sp>
        <p:nvSpPr>
          <p:cNvPr id="6" name="Text 4"/>
          <p:cNvSpPr/>
          <p:nvPr/>
        </p:nvSpPr>
        <p:spPr>
          <a:xfrm>
            <a:off x="548640" y="960120"/>
            <a:ext cx="8046720" cy="3291840"/>
          </a:xfrm>
          <a:prstGeom prst="rect">
            <a:avLst/>
          </a:prstGeom>
          <a:noFill/>
          <a:ln/>
        </p:spPr>
        <p:txBody>
          <a:bodyPr wrap="square" rtlCol="0" anchor="t"/>
          <a:lstStyle/>
          <a:p>
            <a:pPr indent="0" marL="0">
              <a:lnSpc>
                <a:spcPct val="135000"/>
              </a:lnSpc>
              <a:spcAft>
                <a:spcPts val="600"/>
              </a:spcAft>
              <a:buNone/>
            </a:pPr>
            <a:r>
              <a:rPr lang="en-US" sz="1250" dirty="0">
                <a:solidFill>
                  <a:srgbClr val="1A1A2E"/>
                </a:solidFill>
                <a:latin typeface="Calibri" pitchFamily="34" charset="0"/>
                <a:ea typeface="Calibri" pitchFamily="34" charset="-122"/>
                <a:cs typeface="Calibri" pitchFamily="34" charset="-120"/>
              </a:rPr>
              <a:t>This study presents a GIS and machine learning-based framework for wildfire susceptibility mapping in Muğla Province, southwestern Turkey, following the catastrophic wildfire season of summer 2025. Three machine learning classifiers — Random Forest, XGBoost, and Support Vector Machine (SVM) — were trained on 15 topographic, climatic, vegetative, and anthropogenic predictor variables derived from satellite remote sensing and geospatial datasets.</a:t>
            </a:r>
            <a:endParaRPr lang="en-US" sz="1250" dirty="0"/>
          </a:p>
          <a:p>
            <a:pPr indent="0" marL="0">
              <a:lnSpc>
                <a:spcPct val="135000"/>
              </a:lnSpc>
              <a:spcAft>
                <a:spcPts val="600"/>
              </a:spcAft>
              <a:buNone/>
            </a:pPr>
            <a:endParaRPr lang="en-US" sz="1250" dirty="0"/>
          </a:p>
          <a:p>
            <a:pPr indent="0" marL="0">
              <a:lnSpc>
                <a:spcPct val="135000"/>
              </a:lnSpc>
              <a:spcAft>
                <a:spcPts val="600"/>
              </a:spcAft>
              <a:buNone/>
            </a:pPr>
            <a:r>
              <a:rPr lang="en-US" sz="1250" dirty="0">
                <a:solidFill>
                  <a:srgbClr val="1A1A2E"/>
                </a:solidFill>
                <a:latin typeface="Calibri" pitchFamily="34" charset="0"/>
                <a:ea typeface="Calibri" pitchFamily="34" charset="-122"/>
                <a:cs typeface="Calibri" pitchFamily="34" charset="-120"/>
              </a:rPr>
              <a:t>Burned-area labels were extracted from Sentinel-2 dNBR differenced imagery, yielding 61 confirmed burned pixels and 441 unburned reference samples. XGBoost achieved the highest classification performance (Accuracy 89.4%, AUC-ROC 0.901, F1 0.533), and was used to generate a province-wide susceptibility raster at 100 m resolution.</a:t>
            </a:r>
            <a:endParaRPr lang="en-US" sz="1250" dirty="0"/>
          </a:p>
          <a:p>
            <a:pPr indent="0" marL="0">
              <a:lnSpc>
                <a:spcPct val="135000"/>
              </a:lnSpc>
              <a:spcAft>
                <a:spcPts val="600"/>
              </a:spcAft>
              <a:buNone/>
            </a:pPr>
            <a:endParaRPr lang="en-US" sz="1250" dirty="0"/>
          </a:p>
          <a:p>
            <a:pPr indent="0" marL="0">
              <a:lnSpc>
                <a:spcPct val="135000"/>
              </a:lnSpc>
              <a:spcAft>
                <a:spcPts val="600"/>
              </a:spcAft>
              <a:buNone/>
            </a:pPr>
            <a:r>
              <a:rPr lang="en-US" sz="1250" dirty="0">
                <a:solidFill>
                  <a:srgbClr val="1A1A2E"/>
                </a:solidFill>
                <a:latin typeface="Calibri" pitchFamily="34" charset="0"/>
                <a:ea typeface="Calibri" pitchFamily="34" charset="-122"/>
                <a:cs typeface="Calibri" pitchFamily="34" charset="-120"/>
              </a:rPr>
              <a:t>Results were published through an interactive Leaflet.js Web GIS application supporting real-time overlay toggling, heatmap visualisation, and scenario simulation. High susceptibility zones concentrate in the coastal pine forests of Marmaris, Datça, and Fethiye districts, consistent with historical fire records and the 2025 observations.</a:t>
            </a:r>
            <a:endParaRPr lang="en-US" sz="1250" dirty="0"/>
          </a:p>
        </p:txBody>
      </p:sp>
      <p:sp>
        <p:nvSpPr>
          <p:cNvPr id="7" name="Shape 5"/>
          <p:cNvSpPr/>
          <p:nvPr/>
        </p:nvSpPr>
        <p:spPr>
          <a:xfrm>
            <a:off x="365760" y="4498848"/>
            <a:ext cx="1965960" cy="56692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365760" y="4498848"/>
            <a:ext cx="1965960" cy="292608"/>
          </a:xfrm>
          <a:prstGeom prst="rect">
            <a:avLst/>
          </a:prstGeom>
          <a:noFill/>
          <a:ln/>
        </p:spPr>
        <p:txBody>
          <a:bodyPr wrap="square" rtlCol="0" anchor="b"/>
          <a:lstStyle/>
          <a:p>
            <a:pPr algn="ctr" indent="0" marL="0">
              <a:buNone/>
            </a:pPr>
            <a:r>
              <a:rPr lang="en-US" sz="1800" b="1" dirty="0">
                <a:solidFill>
                  <a:srgbClr val="F5A623"/>
                </a:solidFill>
                <a:latin typeface="Calibri" pitchFamily="34" charset="0"/>
                <a:ea typeface="Calibri" pitchFamily="34" charset="-122"/>
                <a:cs typeface="Calibri" pitchFamily="34" charset="-120"/>
              </a:rPr>
              <a:t>502</a:t>
            </a:r>
            <a:endParaRPr lang="en-US" sz="1800" dirty="0"/>
          </a:p>
        </p:txBody>
      </p:sp>
      <p:sp>
        <p:nvSpPr>
          <p:cNvPr id="9" name="Text 7"/>
          <p:cNvSpPr/>
          <p:nvPr/>
        </p:nvSpPr>
        <p:spPr>
          <a:xfrm>
            <a:off x="365760" y="4791456"/>
            <a:ext cx="1965960" cy="274320"/>
          </a:xfrm>
          <a:prstGeom prst="rect">
            <a:avLst/>
          </a:prstGeom>
          <a:noFill/>
          <a:ln/>
        </p:spPr>
        <p:txBody>
          <a:bodyPr wrap="square" rtlCol="0" anchor="t"/>
          <a:lstStyle/>
          <a:p>
            <a:pPr algn="ctr" indent="0" marL="0">
              <a:buNone/>
            </a:pPr>
            <a:r>
              <a:rPr lang="en-US" sz="900" dirty="0">
                <a:solidFill>
                  <a:srgbClr val="9BAAB5"/>
                </a:solidFill>
                <a:latin typeface="Calibri" pitchFamily="34" charset="0"/>
                <a:ea typeface="Calibri" pitchFamily="34" charset="-122"/>
                <a:cs typeface="Calibri" pitchFamily="34" charset="-120"/>
              </a:rPr>
              <a:t>Labeled Points</a:t>
            </a:r>
            <a:endParaRPr lang="en-US" sz="900" dirty="0"/>
          </a:p>
        </p:txBody>
      </p:sp>
      <p:sp>
        <p:nvSpPr>
          <p:cNvPr id="10" name="Shape 8"/>
          <p:cNvSpPr/>
          <p:nvPr/>
        </p:nvSpPr>
        <p:spPr>
          <a:xfrm>
            <a:off x="2468880" y="4498848"/>
            <a:ext cx="1965960" cy="56692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2468880" y="4498848"/>
            <a:ext cx="1965960" cy="292608"/>
          </a:xfrm>
          <a:prstGeom prst="rect">
            <a:avLst/>
          </a:prstGeom>
          <a:noFill/>
          <a:ln/>
        </p:spPr>
        <p:txBody>
          <a:bodyPr wrap="square" rtlCol="0" anchor="b"/>
          <a:lstStyle/>
          <a:p>
            <a:pPr algn="ctr" indent="0" marL="0">
              <a:buNone/>
            </a:pPr>
            <a:r>
              <a:rPr lang="en-US" sz="1800" b="1" dirty="0">
                <a:solidFill>
                  <a:srgbClr val="F5A623"/>
                </a:solidFill>
                <a:latin typeface="Calibri" pitchFamily="34" charset="0"/>
                <a:ea typeface="Calibri" pitchFamily="34" charset="-122"/>
                <a:cs typeface="Calibri" pitchFamily="34" charset="-120"/>
              </a:rPr>
              <a:t>61</a:t>
            </a:r>
            <a:endParaRPr lang="en-US" sz="1800" dirty="0"/>
          </a:p>
        </p:txBody>
      </p:sp>
      <p:sp>
        <p:nvSpPr>
          <p:cNvPr id="12" name="Text 10"/>
          <p:cNvSpPr/>
          <p:nvPr/>
        </p:nvSpPr>
        <p:spPr>
          <a:xfrm>
            <a:off x="2468880" y="4791456"/>
            <a:ext cx="1965960" cy="274320"/>
          </a:xfrm>
          <a:prstGeom prst="rect">
            <a:avLst/>
          </a:prstGeom>
          <a:noFill/>
          <a:ln/>
        </p:spPr>
        <p:txBody>
          <a:bodyPr wrap="square" rtlCol="0" anchor="t"/>
          <a:lstStyle/>
          <a:p>
            <a:pPr algn="ctr" indent="0" marL="0">
              <a:buNone/>
            </a:pPr>
            <a:r>
              <a:rPr lang="en-US" sz="900" dirty="0">
                <a:solidFill>
                  <a:srgbClr val="9BAAB5"/>
                </a:solidFill>
                <a:latin typeface="Calibri" pitchFamily="34" charset="0"/>
                <a:ea typeface="Calibri" pitchFamily="34" charset="-122"/>
                <a:cs typeface="Calibri" pitchFamily="34" charset="-120"/>
              </a:rPr>
              <a:t>Burned Samples</a:t>
            </a:r>
            <a:endParaRPr lang="en-US" sz="900" dirty="0"/>
          </a:p>
        </p:txBody>
      </p:sp>
      <p:sp>
        <p:nvSpPr>
          <p:cNvPr id="13" name="Shape 11"/>
          <p:cNvSpPr/>
          <p:nvPr/>
        </p:nvSpPr>
        <p:spPr>
          <a:xfrm>
            <a:off x="4572000" y="4498848"/>
            <a:ext cx="1965960" cy="56692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4572000" y="4498848"/>
            <a:ext cx="1965960" cy="292608"/>
          </a:xfrm>
          <a:prstGeom prst="rect">
            <a:avLst/>
          </a:prstGeom>
          <a:noFill/>
          <a:ln/>
        </p:spPr>
        <p:txBody>
          <a:bodyPr wrap="square" rtlCol="0" anchor="b"/>
          <a:lstStyle/>
          <a:p>
            <a:pPr algn="ctr" indent="0" marL="0">
              <a:buNone/>
            </a:pPr>
            <a:r>
              <a:rPr lang="en-US" sz="1800" b="1" dirty="0">
                <a:solidFill>
                  <a:srgbClr val="F5A623"/>
                </a:solidFill>
                <a:latin typeface="Calibri" pitchFamily="34" charset="0"/>
                <a:ea typeface="Calibri" pitchFamily="34" charset="-122"/>
                <a:cs typeface="Calibri" pitchFamily="34" charset="-120"/>
              </a:rPr>
              <a:t>15</a:t>
            </a:r>
            <a:endParaRPr lang="en-US" sz="1800" dirty="0"/>
          </a:p>
        </p:txBody>
      </p:sp>
      <p:sp>
        <p:nvSpPr>
          <p:cNvPr id="15" name="Text 13"/>
          <p:cNvSpPr/>
          <p:nvPr/>
        </p:nvSpPr>
        <p:spPr>
          <a:xfrm>
            <a:off x="4572000" y="4791456"/>
            <a:ext cx="1965960" cy="274320"/>
          </a:xfrm>
          <a:prstGeom prst="rect">
            <a:avLst/>
          </a:prstGeom>
          <a:noFill/>
          <a:ln/>
        </p:spPr>
        <p:txBody>
          <a:bodyPr wrap="square" rtlCol="0" anchor="t"/>
          <a:lstStyle/>
          <a:p>
            <a:pPr algn="ctr" indent="0" marL="0">
              <a:buNone/>
            </a:pPr>
            <a:r>
              <a:rPr lang="en-US" sz="900" dirty="0">
                <a:solidFill>
                  <a:srgbClr val="9BAAB5"/>
                </a:solidFill>
                <a:latin typeface="Calibri" pitchFamily="34" charset="0"/>
                <a:ea typeface="Calibri" pitchFamily="34" charset="-122"/>
                <a:cs typeface="Calibri" pitchFamily="34" charset="-120"/>
              </a:rPr>
              <a:t>GEE Features</a:t>
            </a:r>
            <a:endParaRPr lang="en-US" sz="900" dirty="0"/>
          </a:p>
        </p:txBody>
      </p:sp>
      <p:sp>
        <p:nvSpPr>
          <p:cNvPr id="16" name="Shape 14"/>
          <p:cNvSpPr/>
          <p:nvPr/>
        </p:nvSpPr>
        <p:spPr>
          <a:xfrm>
            <a:off x="6675120" y="4498848"/>
            <a:ext cx="1965960" cy="56692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6675120" y="4498848"/>
            <a:ext cx="1965960" cy="292608"/>
          </a:xfrm>
          <a:prstGeom prst="rect">
            <a:avLst/>
          </a:prstGeom>
          <a:noFill/>
          <a:ln/>
        </p:spPr>
        <p:txBody>
          <a:bodyPr wrap="square" rtlCol="0" anchor="b"/>
          <a:lstStyle/>
          <a:p>
            <a:pPr algn="ctr" indent="0" marL="0">
              <a:buNone/>
            </a:pPr>
            <a:r>
              <a:rPr lang="en-US" sz="1800" b="1" dirty="0">
                <a:solidFill>
                  <a:srgbClr val="F5A623"/>
                </a:solidFill>
                <a:latin typeface="Calibri" pitchFamily="34" charset="0"/>
                <a:ea typeface="Calibri" pitchFamily="34" charset="-122"/>
                <a:cs typeface="Calibri" pitchFamily="34" charset="-120"/>
              </a:rPr>
              <a:t>89.4%</a:t>
            </a:r>
            <a:endParaRPr lang="en-US" sz="1800" dirty="0"/>
          </a:p>
        </p:txBody>
      </p:sp>
      <p:sp>
        <p:nvSpPr>
          <p:cNvPr id="18" name="Text 16"/>
          <p:cNvSpPr/>
          <p:nvPr/>
        </p:nvSpPr>
        <p:spPr>
          <a:xfrm>
            <a:off x="6675120" y="4791456"/>
            <a:ext cx="1965960" cy="274320"/>
          </a:xfrm>
          <a:prstGeom prst="rect">
            <a:avLst/>
          </a:prstGeom>
          <a:noFill/>
          <a:ln/>
        </p:spPr>
        <p:txBody>
          <a:bodyPr wrap="square" rtlCol="0" anchor="t"/>
          <a:lstStyle/>
          <a:p>
            <a:pPr algn="ctr" indent="0" marL="0">
              <a:buNone/>
            </a:pPr>
            <a:r>
              <a:rPr lang="en-US" sz="900" dirty="0">
                <a:solidFill>
                  <a:srgbClr val="9BAAB5"/>
                </a:solidFill>
                <a:latin typeface="Calibri" pitchFamily="34" charset="0"/>
                <a:ea typeface="Calibri" pitchFamily="34" charset="-122"/>
                <a:cs typeface="Calibri" pitchFamily="34" charset="-120"/>
              </a:rPr>
              <a:t>Best Accuracy</a:t>
            </a:r>
            <a:endParaRPr lang="en-US" sz="900" dirty="0"/>
          </a:p>
        </p:txBody>
      </p:sp>
      <p:sp>
        <p:nvSpPr>
          <p:cNvPr id="19" name="Shape 17"/>
          <p:cNvSpPr/>
          <p:nvPr/>
        </p:nvSpPr>
        <p:spPr>
          <a:xfrm>
            <a:off x="0" y="4892040"/>
            <a:ext cx="9144000" cy="251460"/>
          </a:xfrm>
          <a:prstGeom prst="rect">
            <a:avLst/>
          </a:prstGeom>
          <a:solidFill>
            <a:srgbClr val="0D1B2A"/>
          </a:solidFill>
          <a:ln w="12700">
            <a:solidFill>
              <a:srgbClr val="0D1B2A"/>
            </a:solidFill>
            <a:prstDash val="solid"/>
          </a:ln>
        </p:spPr>
      </p:sp>
      <p:sp>
        <p:nvSpPr>
          <p:cNvPr id="20" name="Text 18"/>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21" name="Text 19"/>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§2  Introduction</a:t>
            </a:r>
            <a:endParaRPr lang="en-US" sz="2800" dirty="0"/>
          </a:p>
        </p:txBody>
      </p:sp>
      <p:sp>
        <p:nvSpPr>
          <p:cNvPr id="4" name="Shape 2"/>
          <p:cNvSpPr/>
          <p:nvPr/>
        </p:nvSpPr>
        <p:spPr>
          <a:xfrm>
            <a:off x="365760" y="896112"/>
            <a:ext cx="4206240" cy="100584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438912" y="1005840"/>
            <a:ext cx="45720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932688" y="969264"/>
            <a:ext cx="3547872"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Mediterranean Wildfire Crisis</a:t>
            </a:r>
            <a:endParaRPr lang="en-US" sz="1250" dirty="0"/>
          </a:p>
        </p:txBody>
      </p:sp>
      <p:sp>
        <p:nvSpPr>
          <p:cNvPr id="7" name="Text 5"/>
          <p:cNvSpPr/>
          <p:nvPr/>
        </p:nvSpPr>
        <p:spPr>
          <a:xfrm>
            <a:off x="932688" y="1289304"/>
            <a:ext cx="3547872" cy="548640"/>
          </a:xfrm>
          <a:prstGeom prst="rect">
            <a:avLst/>
          </a:prstGeom>
          <a:noFill/>
          <a:ln/>
        </p:spPr>
        <p:txBody>
          <a:bodyPr wrap="square" rtlCol="0" anchor="t"/>
          <a:lstStyle/>
          <a:p>
            <a:pPr indent="0" marL="0">
              <a:buNone/>
            </a:pPr>
            <a:r>
              <a:rPr lang="en-US" sz="1000" dirty="0">
                <a:solidFill>
                  <a:srgbClr val="7F8C8D"/>
                </a:solidFill>
                <a:latin typeface="Calibri" pitchFamily="34" charset="0"/>
                <a:ea typeface="Calibri" pitchFamily="34" charset="-122"/>
                <a:cs typeface="Calibri" pitchFamily="34" charset="-120"/>
              </a:rPr>
              <a:t>Turkey recorded 230,000+ fire incidents (2002–2024), burning over 2.5 million hectares (AFAD, 2024). Climate-driven temperature extremes and drought intensify risk annually.</a:t>
            </a:r>
            <a:endParaRPr lang="en-US" sz="1000" dirty="0"/>
          </a:p>
        </p:txBody>
      </p:sp>
      <p:sp>
        <p:nvSpPr>
          <p:cNvPr id="8" name="Shape 6"/>
          <p:cNvSpPr/>
          <p:nvPr/>
        </p:nvSpPr>
        <p:spPr>
          <a:xfrm>
            <a:off x="4800600" y="896112"/>
            <a:ext cx="4206240" cy="100584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873752" y="1005840"/>
            <a:ext cx="45720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5367528" y="969264"/>
            <a:ext cx="3547872"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2025 Muğla Wildfires</a:t>
            </a:r>
            <a:endParaRPr lang="en-US" sz="1250" dirty="0"/>
          </a:p>
        </p:txBody>
      </p:sp>
      <p:sp>
        <p:nvSpPr>
          <p:cNvPr id="11" name="Text 9"/>
          <p:cNvSpPr/>
          <p:nvPr/>
        </p:nvSpPr>
        <p:spPr>
          <a:xfrm>
            <a:off x="5367528" y="1289304"/>
            <a:ext cx="3547872" cy="548640"/>
          </a:xfrm>
          <a:prstGeom prst="rect">
            <a:avLst/>
          </a:prstGeom>
          <a:noFill/>
          <a:ln/>
        </p:spPr>
        <p:txBody>
          <a:bodyPr wrap="square" rtlCol="0" anchor="t"/>
          <a:lstStyle/>
          <a:p>
            <a:pPr indent="0" marL="0">
              <a:buNone/>
            </a:pPr>
            <a:r>
              <a:rPr lang="en-US" sz="1000" dirty="0">
                <a:solidFill>
                  <a:srgbClr val="7F8C8D"/>
                </a:solidFill>
                <a:latin typeface="Calibri" pitchFamily="34" charset="0"/>
                <a:ea typeface="Calibri" pitchFamily="34" charset="-122"/>
                <a:cs typeface="Calibri" pitchFamily="34" charset="-120"/>
              </a:rPr>
              <a:t>Exceptional severity: multiple large fires burned tens of thousands of hectares. Marmaris alone burned ~12,000 ha in 72 hours, displacing thousands and causing severe ecological damage.</a:t>
            </a:r>
            <a:endParaRPr lang="en-US" sz="1000" dirty="0"/>
          </a:p>
        </p:txBody>
      </p:sp>
      <p:sp>
        <p:nvSpPr>
          <p:cNvPr id="12" name="Shape 10"/>
          <p:cNvSpPr/>
          <p:nvPr/>
        </p:nvSpPr>
        <p:spPr>
          <a:xfrm>
            <a:off x="365760" y="1975104"/>
            <a:ext cx="4206240" cy="100584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438912" y="2084832"/>
            <a:ext cx="45720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932688" y="2048256"/>
            <a:ext cx="3547872"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Objective</a:t>
            </a:r>
            <a:endParaRPr lang="en-US" sz="1250" dirty="0"/>
          </a:p>
        </p:txBody>
      </p:sp>
      <p:sp>
        <p:nvSpPr>
          <p:cNvPr id="15" name="Text 13"/>
          <p:cNvSpPr/>
          <p:nvPr/>
        </p:nvSpPr>
        <p:spPr>
          <a:xfrm>
            <a:off x="932688" y="2368296"/>
            <a:ext cx="3547872" cy="548640"/>
          </a:xfrm>
          <a:prstGeom prst="rect">
            <a:avLst/>
          </a:prstGeom>
          <a:noFill/>
          <a:ln/>
        </p:spPr>
        <p:txBody>
          <a:bodyPr wrap="square" rtlCol="0" anchor="t"/>
          <a:lstStyle/>
          <a:p>
            <a:pPr indent="0" marL="0">
              <a:buNone/>
            </a:pPr>
            <a:r>
              <a:rPr lang="en-US" sz="1000" dirty="0">
                <a:solidFill>
                  <a:srgbClr val="7F8C8D"/>
                </a:solidFill>
                <a:latin typeface="Calibri" pitchFamily="34" charset="0"/>
                <a:ea typeface="Calibri" pitchFamily="34" charset="-122"/>
                <a:cs typeface="Calibri" pitchFamily="34" charset="-120"/>
              </a:rPr>
              <a:t>Construct a reproducible GIS + ML susceptibility workflow: GEE satellite acquisition → dNBR labeling → 15-feature extraction → multi-model training → province-wide map → Web GIS publication.</a:t>
            </a:r>
            <a:endParaRPr lang="en-US" sz="1000" dirty="0"/>
          </a:p>
        </p:txBody>
      </p:sp>
      <p:sp>
        <p:nvSpPr>
          <p:cNvPr id="16" name="Shape 14"/>
          <p:cNvSpPr/>
          <p:nvPr/>
        </p:nvSpPr>
        <p:spPr>
          <a:xfrm>
            <a:off x="4800600" y="1975104"/>
            <a:ext cx="4206240" cy="100584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873752" y="2084832"/>
            <a:ext cx="45720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367528" y="2048256"/>
            <a:ext cx="3547872"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Approach</a:t>
            </a:r>
            <a:endParaRPr lang="en-US" sz="1250" dirty="0"/>
          </a:p>
        </p:txBody>
      </p:sp>
      <p:sp>
        <p:nvSpPr>
          <p:cNvPr id="19" name="Text 17"/>
          <p:cNvSpPr/>
          <p:nvPr/>
        </p:nvSpPr>
        <p:spPr>
          <a:xfrm>
            <a:off x="5367528" y="2368296"/>
            <a:ext cx="3547872" cy="548640"/>
          </a:xfrm>
          <a:prstGeom prst="rect">
            <a:avLst/>
          </a:prstGeom>
          <a:noFill/>
          <a:ln/>
        </p:spPr>
        <p:txBody>
          <a:bodyPr wrap="square" rtlCol="0" anchor="t"/>
          <a:lstStyle/>
          <a:p>
            <a:pPr indent="0" marL="0">
              <a:buNone/>
            </a:pPr>
            <a:r>
              <a:rPr lang="en-US" sz="1000" dirty="0">
                <a:solidFill>
                  <a:srgbClr val="7F8C8D"/>
                </a:solidFill>
                <a:latin typeface="Calibri" pitchFamily="34" charset="0"/>
                <a:ea typeface="Calibri" pitchFamily="34" charset="-122"/>
                <a:cs typeface="Calibri" pitchFamily="34" charset="-120"/>
              </a:rPr>
              <a:t>Sentinel-2 dNBR provides burned area labels. Google Earth Engine processes 15 predictor rasters. Python trains RF, XGBoost, and SVM. XGBoost selected as best model. Leaflet.js delivers interactive output.</a:t>
            </a:r>
            <a:endParaRPr lang="en-US" sz="1000" dirty="0"/>
          </a:p>
        </p:txBody>
      </p:sp>
      <p:sp>
        <p:nvSpPr>
          <p:cNvPr id="20" name="Shape 18"/>
          <p:cNvSpPr/>
          <p:nvPr/>
        </p:nvSpPr>
        <p:spPr>
          <a:xfrm>
            <a:off x="0" y="4892040"/>
            <a:ext cx="9144000" cy="251460"/>
          </a:xfrm>
          <a:prstGeom prst="rect">
            <a:avLst/>
          </a:prstGeom>
          <a:solidFill>
            <a:srgbClr val="0D1B2A"/>
          </a:solidFill>
          <a:ln w="12700">
            <a:solidFill>
              <a:srgbClr val="0D1B2A"/>
            </a:solidFill>
            <a:prstDash val="solid"/>
          </a:ln>
        </p:spPr>
      </p:sp>
      <p:sp>
        <p:nvSpPr>
          <p:cNvPr id="21" name="Text 19"/>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22" name="Text 20"/>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§3  Study Area — Muğla Province, Turkey</a:t>
            </a:r>
            <a:endParaRPr lang="en-US" sz="2800" dirty="0"/>
          </a:p>
        </p:txBody>
      </p:sp>
      <p:sp>
        <p:nvSpPr>
          <p:cNvPr id="4" name="Shape 2"/>
          <p:cNvSpPr/>
          <p:nvPr/>
        </p:nvSpPr>
        <p:spPr>
          <a:xfrm>
            <a:off x="365760" y="822960"/>
            <a:ext cx="4114800" cy="374904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4114800" cy="384048"/>
          </a:xfrm>
          <a:prstGeom prst="rect">
            <a:avLst/>
          </a:prstGeom>
          <a:solidFill>
            <a:srgbClr val="0D1B2A"/>
          </a:solidFill>
          <a:ln w="12700">
            <a:solidFill>
              <a:srgbClr val="0D1B2A"/>
            </a:solidFill>
            <a:prstDash val="solid"/>
          </a:ln>
        </p:spPr>
      </p:sp>
      <p:sp>
        <p:nvSpPr>
          <p:cNvPr id="6" name="Text 4"/>
          <p:cNvSpPr/>
          <p:nvPr/>
        </p:nvSpPr>
        <p:spPr>
          <a:xfrm>
            <a:off x="365760" y="822960"/>
            <a:ext cx="4114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Province Facts</a:t>
            </a:r>
            <a:endParaRPr lang="en-US" sz="1200" dirty="0"/>
          </a:p>
        </p:txBody>
      </p:sp>
      <p:sp>
        <p:nvSpPr>
          <p:cNvPr id="7" name="Shape 5"/>
          <p:cNvSpPr/>
          <p:nvPr/>
        </p:nvSpPr>
        <p:spPr>
          <a:xfrm>
            <a:off x="365760" y="1261872"/>
            <a:ext cx="4114800" cy="402336"/>
          </a:xfrm>
          <a:prstGeom prst="rect">
            <a:avLst/>
          </a:prstGeom>
          <a:solidFill>
            <a:srgbClr val="F7F9FC"/>
          </a:solidFill>
          <a:ln w="6350">
            <a:solidFill>
              <a:srgbClr val="E0E6EC"/>
            </a:solidFill>
            <a:prstDash val="solid"/>
          </a:ln>
        </p:spPr>
      </p:sp>
      <p:sp>
        <p:nvSpPr>
          <p:cNvPr id="8" name="Text 6"/>
          <p:cNvSpPr/>
          <p:nvPr/>
        </p:nvSpPr>
        <p:spPr>
          <a:xfrm>
            <a:off x="457200" y="1261872"/>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Location</a:t>
            </a:r>
            <a:endParaRPr lang="en-US" sz="1000" dirty="0"/>
          </a:p>
        </p:txBody>
      </p:sp>
      <p:sp>
        <p:nvSpPr>
          <p:cNvPr id="9" name="Text 7"/>
          <p:cNvSpPr/>
          <p:nvPr/>
        </p:nvSpPr>
        <p:spPr>
          <a:xfrm>
            <a:off x="1920240" y="1261872"/>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36.0°–37.5° N, 27.2°–29.5° E</a:t>
            </a:r>
            <a:endParaRPr lang="en-US" sz="1000" dirty="0"/>
          </a:p>
        </p:txBody>
      </p:sp>
      <p:sp>
        <p:nvSpPr>
          <p:cNvPr id="10" name="Shape 8"/>
          <p:cNvSpPr/>
          <p:nvPr/>
        </p:nvSpPr>
        <p:spPr>
          <a:xfrm>
            <a:off x="365760" y="1664208"/>
            <a:ext cx="4114800" cy="402336"/>
          </a:xfrm>
          <a:prstGeom prst="rect">
            <a:avLst/>
          </a:prstGeom>
          <a:solidFill>
            <a:srgbClr val="FFFFFF"/>
          </a:solidFill>
          <a:ln w="6350">
            <a:solidFill>
              <a:srgbClr val="E0E6EC"/>
            </a:solidFill>
            <a:prstDash val="solid"/>
          </a:ln>
        </p:spPr>
      </p:sp>
      <p:sp>
        <p:nvSpPr>
          <p:cNvPr id="11" name="Text 9"/>
          <p:cNvSpPr/>
          <p:nvPr/>
        </p:nvSpPr>
        <p:spPr>
          <a:xfrm>
            <a:off x="457200" y="1664208"/>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Area</a:t>
            </a:r>
            <a:endParaRPr lang="en-US" sz="1000" dirty="0"/>
          </a:p>
        </p:txBody>
      </p:sp>
      <p:sp>
        <p:nvSpPr>
          <p:cNvPr id="12" name="Text 10"/>
          <p:cNvSpPr/>
          <p:nvPr/>
        </p:nvSpPr>
        <p:spPr>
          <a:xfrm>
            <a:off x="1920240" y="1664208"/>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13,338 km²</a:t>
            </a:r>
            <a:endParaRPr lang="en-US" sz="1000" dirty="0"/>
          </a:p>
        </p:txBody>
      </p:sp>
      <p:sp>
        <p:nvSpPr>
          <p:cNvPr id="13" name="Shape 11"/>
          <p:cNvSpPr/>
          <p:nvPr/>
        </p:nvSpPr>
        <p:spPr>
          <a:xfrm>
            <a:off x="365760" y="2066544"/>
            <a:ext cx="4114800" cy="402336"/>
          </a:xfrm>
          <a:prstGeom prst="rect">
            <a:avLst/>
          </a:prstGeom>
          <a:solidFill>
            <a:srgbClr val="F7F9FC"/>
          </a:solidFill>
          <a:ln w="6350">
            <a:solidFill>
              <a:srgbClr val="E0E6EC"/>
            </a:solidFill>
            <a:prstDash val="solid"/>
          </a:ln>
        </p:spPr>
      </p:sp>
      <p:sp>
        <p:nvSpPr>
          <p:cNvPr id="14" name="Text 12"/>
          <p:cNvSpPr/>
          <p:nvPr/>
        </p:nvSpPr>
        <p:spPr>
          <a:xfrm>
            <a:off x="457200" y="2066544"/>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Climate</a:t>
            </a:r>
            <a:endParaRPr lang="en-US" sz="1000" dirty="0"/>
          </a:p>
        </p:txBody>
      </p:sp>
      <p:sp>
        <p:nvSpPr>
          <p:cNvPr id="15" name="Text 13"/>
          <p:cNvSpPr/>
          <p:nvPr/>
        </p:nvSpPr>
        <p:spPr>
          <a:xfrm>
            <a:off x="1920240" y="2066544"/>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Mediterranean Csa — hot dry summers</a:t>
            </a:r>
            <a:endParaRPr lang="en-US" sz="1000" dirty="0"/>
          </a:p>
        </p:txBody>
      </p:sp>
      <p:sp>
        <p:nvSpPr>
          <p:cNvPr id="16" name="Shape 14"/>
          <p:cNvSpPr/>
          <p:nvPr/>
        </p:nvSpPr>
        <p:spPr>
          <a:xfrm>
            <a:off x="365760" y="2468880"/>
            <a:ext cx="4114800" cy="402336"/>
          </a:xfrm>
          <a:prstGeom prst="rect">
            <a:avLst/>
          </a:prstGeom>
          <a:solidFill>
            <a:srgbClr val="FFFFFF"/>
          </a:solidFill>
          <a:ln w="6350">
            <a:solidFill>
              <a:srgbClr val="E0E6EC"/>
            </a:solidFill>
            <a:prstDash val="solid"/>
          </a:ln>
        </p:spPr>
      </p:sp>
      <p:sp>
        <p:nvSpPr>
          <p:cNvPr id="17" name="Text 15"/>
          <p:cNvSpPr/>
          <p:nvPr/>
        </p:nvSpPr>
        <p:spPr>
          <a:xfrm>
            <a:off x="457200" y="2468880"/>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Vegetation</a:t>
            </a:r>
            <a:endParaRPr lang="en-US" sz="1000" dirty="0"/>
          </a:p>
        </p:txBody>
      </p:sp>
      <p:sp>
        <p:nvSpPr>
          <p:cNvPr id="18" name="Text 16"/>
          <p:cNvSpPr/>
          <p:nvPr/>
        </p:nvSpPr>
        <p:spPr>
          <a:xfrm>
            <a:off x="1920240" y="2468880"/>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Pinus brutia, maquis, oak</a:t>
            </a:r>
            <a:endParaRPr lang="en-US" sz="1000" dirty="0"/>
          </a:p>
        </p:txBody>
      </p:sp>
      <p:sp>
        <p:nvSpPr>
          <p:cNvPr id="19" name="Shape 17"/>
          <p:cNvSpPr/>
          <p:nvPr/>
        </p:nvSpPr>
        <p:spPr>
          <a:xfrm>
            <a:off x="365760" y="2871216"/>
            <a:ext cx="4114800" cy="402336"/>
          </a:xfrm>
          <a:prstGeom prst="rect">
            <a:avLst/>
          </a:prstGeom>
          <a:solidFill>
            <a:srgbClr val="F7F9FC"/>
          </a:solidFill>
          <a:ln w="6350">
            <a:solidFill>
              <a:srgbClr val="E0E6EC"/>
            </a:solidFill>
            <a:prstDash val="solid"/>
          </a:ln>
        </p:spPr>
      </p:sp>
      <p:sp>
        <p:nvSpPr>
          <p:cNvPr id="20" name="Text 18"/>
          <p:cNvSpPr/>
          <p:nvPr/>
        </p:nvSpPr>
        <p:spPr>
          <a:xfrm>
            <a:off x="457200" y="2871216"/>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July Temp.</a:t>
            </a:r>
            <a:endParaRPr lang="en-US" sz="1000" dirty="0"/>
          </a:p>
        </p:txBody>
      </p:sp>
      <p:sp>
        <p:nvSpPr>
          <p:cNvPr id="21" name="Text 19"/>
          <p:cNvSpPr/>
          <p:nvPr/>
        </p:nvSpPr>
        <p:spPr>
          <a:xfrm>
            <a:off x="1920240" y="2871216"/>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28°C mean, &lt; 10 mm precipitation</a:t>
            </a:r>
            <a:endParaRPr lang="en-US" sz="1000" dirty="0"/>
          </a:p>
        </p:txBody>
      </p:sp>
      <p:sp>
        <p:nvSpPr>
          <p:cNvPr id="22" name="Shape 20"/>
          <p:cNvSpPr/>
          <p:nvPr/>
        </p:nvSpPr>
        <p:spPr>
          <a:xfrm>
            <a:off x="365760" y="3273552"/>
            <a:ext cx="4114800" cy="402336"/>
          </a:xfrm>
          <a:prstGeom prst="rect">
            <a:avLst/>
          </a:prstGeom>
          <a:solidFill>
            <a:srgbClr val="FFFFFF"/>
          </a:solidFill>
          <a:ln w="6350">
            <a:solidFill>
              <a:srgbClr val="E0E6EC"/>
            </a:solidFill>
            <a:prstDash val="solid"/>
          </a:ln>
        </p:spPr>
      </p:sp>
      <p:sp>
        <p:nvSpPr>
          <p:cNvPr id="23" name="Text 21"/>
          <p:cNvSpPr/>
          <p:nvPr/>
        </p:nvSpPr>
        <p:spPr>
          <a:xfrm>
            <a:off x="457200" y="3273552"/>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Fire Zones</a:t>
            </a:r>
            <a:endParaRPr lang="en-US" sz="1000" dirty="0"/>
          </a:p>
        </p:txBody>
      </p:sp>
      <p:sp>
        <p:nvSpPr>
          <p:cNvPr id="24" name="Text 22"/>
          <p:cNvSpPr/>
          <p:nvPr/>
        </p:nvSpPr>
        <p:spPr>
          <a:xfrm>
            <a:off x="1920240" y="3273552"/>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Marmaris, Datça, Köyceğiz, Bodrum, Fethiye</a:t>
            </a:r>
            <a:endParaRPr lang="en-US" sz="1000" dirty="0"/>
          </a:p>
        </p:txBody>
      </p:sp>
      <p:sp>
        <p:nvSpPr>
          <p:cNvPr id="25" name="Shape 23"/>
          <p:cNvSpPr/>
          <p:nvPr/>
        </p:nvSpPr>
        <p:spPr>
          <a:xfrm>
            <a:off x="365760" y="3675888"/>
            <a:ext cx="4114800" cy="402336"/>
          </a:xfrm>
          <a:prstGeom prst="rect">
            <a:avLst/>
          </a:prstGeom>
          <a:solidFill>
            <a:srgbClr val="F7F9FC"/>
          </a:solidFill>
          <a:ln w="6350">
            <a:solidFill>
              <a:srgbClr val="E0E6EC"/>
            </a:solidFill>
            <a:prstDash val="solid"/>
          </a:ln>
        </p:spPr>
      </p:sp>
      <p:sp>
        <p:nvSpPr>
          <p:cNvPr id="26" name="Text 24"/>
          <p:cNvSpPr/>
          <p:nvPr/>
        </p:nvSpPr>
        <p:spPr>
          <a:xfrm>
            <a:off x="457200" y="3675888"/>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Population</a:t>
            </a:r>
            <a:endParaRPr lang="en-US" sz="1000" dirty="0"/>
          </a:p>
        </p:txBody>
      </p:sp>
      <p:sp>
        <p:nvSpPr>
          <p:cNvPr id="27" name="Text 25"/>
          <p:cNvSpPr/>
          <p:nvPr/>
        </p:nvSpPr>
        <p:spPr>
          <a:xfrm>
            <a:off x="1920240" y="3675888"/>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~1 million inhabitants</a:t>
            </a:r>
            <a:endParaRPr lang="en-US" sz="1000" dirty="0"/>
          </a:p>
        </p:txBody>
      </p:sp>
      <p:sp>
        <p:nvSpPr>
          <p:cNvPr id="28" name="Shape 26"/>
          <p:cNvSpPr/>
          <p:nvPr/>
        </p:nvSpPr>
        <p:spPr>
          <a:xfrm>
            <a:off x="365760" y="4078224"/>
            <a:ext cx="4114800" cy="402336"/>
          </a:xfrm>
          <a:prstGeom prst="rect">
            <a:avLst/>
          </a:prstGeom>
          <a:solidFill>
            <a:srgbClr val="FFFFFF"/>
          </a:solidFill>
          <a:ln w="6350">
            <a:solidFill>
              <a:srgbClr val="E0E6EC"/>
            </a:solidFill>
            <a:prstDash val="solid"/>
          </a:ln>
        </p:spPr>
      </p:sp>
      <p:sp>
        <p:nvSpPr>
          <p:cNvPr id="29" name="Text 27"/>
          <p:cNvSpPr/>
          <p:nvPr/>
        </p:nvSpPr>
        <p:spPr>
          <a:xfrm>
            <a:off x="457200" y="4078224"/>
            <a:ext cx="146304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Terrain</a:t>
            </a:r>
            <a:endParaRPr lang="en-US" sz="1000" dirty="0"/>
          </a:p>
        </p:txBody>
      </p:sp>
      <p:sp>
        <p:nvSpPr>
          <p:cNvPr id="30" name="Text 28"/>
          <p:cNvSpPr/>
          <p:nvPr/>
        </p:nvSpPr>
        <p:spPr>
          <a:xfrm>
            <a:off x="1920240" y="4078224"/>
            <a:ext cx="2468880" cy="402336"/>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Rugged — Menteşe &amp; Taurus Mountains</a:t>
            </a:r>
            <a:endParaRPr lang="en-US" sz="1000" dirty="0"/>
          </a:p>
        </p:txBody>
      </p:sp>
      <p:sp>
        <p:nvSpPr>
          <p:cNvPr id="31" name="Shape 29"/>
          <p:cNvSpPr/>
          <p:nvPr/>
        </p:nvSpPr>
        <p:spPr>
          <a:xfrm>
            <a:off x="4663440" y="822960"/>
            <a:ext cx="4114800" cy="384048"/>
          </a:xfrm>
          <a:prstGeom prst="rect">
            <a:avLst/>
          </a:prstGeom>
          <a:solidFill>
            <a:srgbClr val="C0392B"/>
          </a:solidFill>
          <a:ln w="12700">
            <a:solidFill>
              <a:srgbClr val="C0392B"/>
            </a:solidFill>
            <a:prstDash val="solid"/>
          </a:ln>
        </p:spPr>
      </p:sp>
      <p:sp>
        <p:nvSpPr>
          <p:cNvPr id="32" name="Text 30"/>
          <p:cNvSpPr/>
          <p:nvPr/>
        </p:nvSpPr>
        <p:spPr>
          <a:xfrm>
            <a:off x="4663440" y="822960"/>
            <a:ext cx="411480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Major Fire Zones (2025)</a:t>
            </a:r>
            <a:endParaRPr lang="en-US" sz="1200" dirty="0"/>
          </a:p>
        </p:txBody>
      </p:sp>
      <p:sp>
        <p:nvSpPr>
          <p:cNvPr id="33" name="Shape 31"/>
          <p:cNvSpPr/>
          <p:nvPr/>
        </p:nvSpPr>
        <p:spPr>
          <a:xfrm>
            <a:off x="4663440" y="1261872"/>
            <a:ext cx="4114800" cy="594360"/>
          </a:xfrm>
          <a:prstGeom prst="rect">
            <a:avLst/>
          </a:prstGeom>
          <a:solidFill>
            <a:srgbClr val="FFFFFF"/>
          </a:solidFill>
          <a:ln w="6350">
            <a:solidFill>
              <a:srgbClr val="E0E6EC"/>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4663440" y="1261872"/>
            <a:ext cx="54864" cy="594360"/>
          </a:xfrm>
          <a:prstGeom prst="rect">
            <a:avLst/>
          </a:prstGeom>
          <a:solidFill>
            <a:srgbClr val="C0392B"/>
          </a:solidFill>
          <a:ln w="12700">
            <a:solidFill>
              <a:srgbClr val="C0392B"/>
            </a:solidFill>
            <a:prstDash val="solid"/>
          </a:ln>
        </p:spPr>
      </p:sp>
      <p:sp>
        <p:nvSpPr>
          <p:cNvPr id="35" name="Text 33"/>
          <p:cNvSpPr/>
          <p:nvPr/>
        </p:nvSpPr>
        <p:spPr>
          <a:xfrm>
            <a:off x="4773168" y="1298448"/>
            <a:ext cx="3913632"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Marmaris</a:t>
            </a:r>
            <a:endParaRPr lang="en-US" sz="1200" dirty="0"/>
          </a:p>
        </p:txBody>
      </p:sp>
      <p:sp>
        <p:nvSpPr>
          <p:cNvPr id="36" name="Text 34"/>
          <p:cNvSpPr/>
          <p:nvPr/>
        </p:nvSpPr>
        <p:spPr>
          <a:xfrm>
            <a:off x="4773168" y="1563624"/>
            <a:ext cx="3913632" cy="25603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Western coast — ~12,000 ha burned in 72h</a:t>
            </a:r>
            <a:endParaRPr lang="en-US" sz="1000" dirty="0"/>
          </a:p>
        </p:txBody>
      </p:sp>
      <p:sp>
        <p:nvSpPr>
          <p:cNvPr id="37" name="Shape 35"/>
          <p:cNvSpPr/>
          <p:nvPr/>
        </p:nvSpPr>
        <p:spPr>
          <a:xfrm>
            <a:off x="4663440" y="1920240"/>
            <a:ext cx="4114800" cy="594360"/>
          </a:xfrm>
          <a:prstGeom prst="rect">
            <a:avLst/>
          </a:prstGeom>
          <a:solidFill>
            <a:srgbClr val="FFFFFF"/>
          </a:solidFill>
          <a:ln w="6350">
            <a:solidFill>
              <a:srgbClr val="E0E6EC"/>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663440" y="1920240"/>
            <a:ext cx="54864" cy="594360"/>
          </a:xfrm>
          <a:prstGeom prst="rect">
            <a:avLst/>
          </a:prstGeom>
          <a:solidFill>
            <a:srgbClr val="C0392B"/>
          </a:solidFill>
          <a:ln w="12700">
            <a:solidFill>
              <a:srgbClr val="C0392B"/>
            </a:solidFill>
            <a:prstDash val="solid"/>
          </a:ln>
        </p:spPr>
      </p:sp>
      <p:sp>
        <p:nvSpPr>
          <p:cNvPr id="39" name="Text 37"/>
          <p:cNvSpPr/>
          <p:nvPr/>
        </p:nvSpPr>
        <p:spPr>
          <a:xfrm>
            <a:off x="4773168" y="1956816"/>
            <a:ext cx="3913632"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Datça</a:t>
            </a:r>
            <a:endParaRPr lang="en-US" sz="1200" dirty="0"/>
          </a:p>
        </p:txBody>
      </p:sp>
      <p:sp>
        <p:nvSpPr>
          <p:cNvPr id="40" name="Text 38"/>
          <p:cNvSpPr/>
          <p:nvPr/>
        </p:nvSpPr>
        <p:spPr>
          <a:xfrm>
            <a:off x="4773168" y="2221992"/>
            <a:ext cx="3913632" cy="25603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Peninsula — narrow terrain, three-sided sea exposure</a:t>
            </a:r>
            <a:endParaRPr lang="en-US" sz="1000" dirty="0"/>
          </a:p>
        </p:txBody>
      </p:sp>
      <p:sp>
        <p:nvSpPr>
          <p:cNvPr id="41" name="Shape 39"/>
          <p:cNvSpPr/>
          <p:nvPr/>
        </p:nvSpPr>
        <p:spPr>
          <a:xfrm>
            <a:off x="4663440" y="2578608"/>
            <a:ext cx="4114800" cy="594360"/>
          </a:xfrm>
          <a:prstGeom prst="rect">
            <a:avLst/>
          </a:prstGeom>
          <a:solidFill>
            <a:srgbClr val="FFFFFF"/>
          </a:solidFill>
          <a:ln w="6350">
            <a:solidFill>
              <a:srgbClr val="E0E6EC"/>
            </a:solidFill>
            <a:prstDash val="solid"/>
          </a:ln>
          <a:effectLst>
            <a:outerShdw sx="100000" sy="100000" kx="0" ky="0" algn="bl" rotWithShape="0" blurRad="101600" dist="38100" dir="8100000">
              <a:srgbClr val="000000">
                <a:alpha val="18000"/>
              </a:srgbClr>
            </a:outerShdw>
          </a:effectLst>
        </p:spPr>
      </p:sp>
      <p:sp>
        <p:nvSpPr>
          <p:cNvPr id="42" name="Shape 40"/>
          <p:cNvSpPr/>
          <p:nvPr/>
        </p:nvSpPr>
        <p:spPr>
          <a:xfrm>
            <a:off x="4663440" y="2578608"/>
            <a:ext cx="54864" cy="594360"/>
          </a:xfrm>
          <a:prstGeom prst="rect">
            <a:avLst/>
          </a:prstGeom>
          <a:solidFill>
            <a:srgbClr val="C0392B"/>
          </a:solidFill>
          <a:ln w="12700">
            <a:solidFill>
              <a:srgbClr val="C0392B"/>
            </a:solidFill>
            <a:prstDash val="solid"/>
          </a:ln>
        </p:spPr>
      </p:sp>
      <p:sp>
        <p:nvSpPr>
          <p:cNvPr id="43" name="Text 41"/>
          <p:cNvSpPr/>
          <p:nvPr/>
        </p:nvSpPr>
        <p:spPr>
          <a:xfrm>
            <a:off x="4773168" y="2615184"/>
            <a:ext cx="3913632"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Köyceğiz</a:t>
            </a:r>
            <a:endParaRPr lang="en-US" sz="1200" dirty="0"/>
          </a:p>
        </p:txBody>
      </p:sp>
      <p:sp>
        <p:nvSpPr>
          <p:cNvPr id="44" name="Text 42"/>
          <p:cNvSpPr/>
          <p:nvPr/>
        </p:nvSpPr>
        <p:spPr>
          <a:xfrm>
            <a:off x="4773168" y="2880360"/>
            <a:ext cx="3913632" cy="25603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Interior coastal zone — mixed pine &amp; maquis</a:t>
            </a:r>
            <a:endParaRPr lang="en-US" sz="1000" dirty="0"/>
          </a:p>
        </p:txBody>
      </p:sp>
      <p:sp>
        <p:nvSpPr>
          <p:cNvPr id="45" name="Shape 43"/>
          <p:cNvSpPr/>
          <p:nvPr/>
        </p:nvSpPr>
        <p:spPr>
          <a:xfrm>
            <a:off x="4663440" y="3236976"/>
            <a:ext cx="4114800" cy="594360"/>
          </a:xfrm>
          <a:prstGeom prst="rect">
            <a:avLst/>
          </a:prstGeom>
          <a:solidFill>
            <a:srgbClr val="FFFFFF"/>
          </a:solidFill>
          <a:ln w="6350">
            <a:solidFill>
              <a:srgbClr val="E0E6EC"/>
            </a:solidFill>
            <a:prstDash val="solid"/>
          </a:ln>
          <a:effectLst>
            <a:outerShdw sx="100000" sy="100000" kx="0" ky="0" algn="bl" rotWithShape="0" blurRad="101600" dist="38100" dir="8100000">
              <a:srgbClr val="000000">
                <a:alpha val="18000"/>
              </a:srgbClr>
            </a:outerShdw>
          </a:effectLst>
        </p:spPr>
      </p:sp>
      <p:sp>
        <p:nvSpPr>
          <p:cNvPr id="46" name="Shape 44"/>
          <p:cNvSpPr/>
          <p:nvPr/>
        </p:nvSpPr>
        <p:spPr>
          <a:xfrm>
            <a:off x="4663440" y="3236976"/>
            <a:ext cx="54864" cy="594360"/>
          </a:xfrm>
          <a:prstGeom prst="rect">
            <a:avLst/>
          </a:prstGeom>
          <a:solidFill>
            <a:srgbClr val="C0392B"/>
          </a:solidFill>
          <a:ln w="12700">
            <a:solidFill>
              <a:srgbClr val="C0392B"/>
            </a:solidFill>
            <a:prstDash val="solid"/>
          </a:ln>
        </p:spPr>
      </p:sp>
      <p:sp>
        <p:nvSpPr>
          <p:cNvPr id="47" name="Text 45"/>
          <p:cNvSpPr/>
          <p:nvPr/>
        </p:nvSpPr>
        <p:spPr>
          <a:xfrm>
            <a:off x="4773168" y="3273552"/>
            <a:ext cx="3913632"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Bodrum</a:t>
            </a:r>
            <a:endParaRPr lang="en-US" sz="1200" dirty="0"/>
          </a:p>
        </p:txBody>
      </p:sp>
      <p:sp>
        <p:nvSpPr>
          <p:cNvPr id="48" name="Text 46"/>
          <p:cNvSpPr/>
          <p:nvPr/>
        </p:nvSpPr>
        <p:spPr>
          <a:xfrm>
            <a:off x="4773168" y="3538728"/>
            <a:ext cx="3913632" cy="25603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Northern peninsula — high tourism pressure</a:t>
            </a:r>
            <a:endParaRPr lang="en-US" sz="1000" dirty="0"/>
          </a:p>
        </p:txBody>
      </p:sp>
      <p:sp>
        <p:nvSpPr>
          <p:cNvPr id="49" name="Shape 47"/>
          <p:cNvSpPr/>
          <p:nvPr/>
        </p:nvSpPr>
        <p:spPr>
          <a:xfrm>
            <a:off x="4663440" y="3895344"/>
            <a:ext cx="4114800" cy="594360"/>
          </a:xfrm>
          <a:prstGeom prst="rect">
            <a:avLst/>
          </a:prstGeom>
          <a:solidFill>
            <a:srgbClr val="FFFFFF"/>
          </a:solidFill>
          <a:ln w="6350">
            <a:solidFill>
              <a:srgbClr val="E0E6EC"/>
            </a:solidFill>
            <a:prstDash val="solid"/>
          </a:ln>
          <a:effectLst>
            <a:outerShdw sx="100000" sy="100000" kx="0" ky="0" algn="bl" rotWithShape="0" blurRad="101600" dist="38100" dir="8100000">
              <a:srgbClr val="000000">
                <a:alpha val="18000"/>
              </a:srgbClr>
            </a:outerShdw>
          </a:effectLst>
        </p:spPr>
      </p:sp>
      <p:sp>
        <p:nvSpPr>
          <p:cNvPr id="50" name="Shape 48"/>
          <p:cNvSpPr/>
          <p:nvPr/>
        </p:nvSpPr>
        <p:spPr>
          <a:xfrm>
            <a:off x="4663440" y="3895344"/>
            <a:ext cx="54864" cy="594360"/>
          </a:xfrm>
          <a:prstGeom prst="rect">
            <a:avLst/>
          </a:prstGeom>
          <a:solidFill>
            <a:srgbClr val="C0392B"/>
          </a:solidFill>
          <a:ln w="12700">
            <a:solidFill>
              <a:srgbClr val="C0392B"/>
            </a:solidFill>
            <a:prstDash val="solid"/>
          </a:ln>
        </p:spPr>
      </p:sp>
      <p:sp>
        <p:nvSpPr>
          <p:cNvPr id="51" name="Text 49"/>
          <p:cNvSpPr/>
          <p:nvPr/>
        </p:nvSpPr>
        <p:spPr>
          <a:xfrm>
            <a:off x="4773168" y="3931920"/>
            <a:ext cx="3913632"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Fethiye</a:t>
            </a:r>
            <a:endParaRPr lang="en-US" sz="1200" dirty="0"/>
          </a:p>
        </p:txBody>
      </p:sp>
      <p:sp>
        <p:nvSpPr>
          <p:cNvPr id="52" name="Text 50"/>
          <p:cNvSpPr/>
          <p:nvPr/>
        </p:nvSpPr>
        <p:spPr>
          <a:xfrm>
            <a:off x="4773168" y="4197096"/>
            <a:ext cx="3913632" cy="256032"/>
          </a:xfrm>
          <a:prstGeom prst="rect">
            <a:avLst/>
          </a:prstGeom>
          <a:noFill/>
          <a:ln/>
        </p:spPr>
        <p:txBody>
          <a:bodyPr wrap="square" rtlCol="0" anchor="ctr"/>
          <a:lstStyle/>
          <a:p>
            <a:pPr indent="0" marL="0">
              <a:buNone/>
            </a:pPr>
            <a:r>
              <a:rPr lang="en-US" sz="1000" dirty="0">
                <a:solidFill>
                  <a:srgbClr val="7F8C8D"/>
                </a:solidFill>
                <a:latin typeface="Calibri" pitchFamily="34" charset="0"/>
                <a:ea typeface="Calibri" pitchFamily="34" charset="-122"/>
                <a:cs typeface="Calibri" pitchFamily="34" charset="-120"/>
              </a:rPr>
              <a:t>Eastern coast — steep slopes, dense Pinus brutia</a:t>
            </a:r>
            <a:endParaRPr lang="en-US" sz="1000" dirty="0"/>
          </a:p>
        </p:txBody>
      </p:sp>
      <p:sp>
        <p:nvSpPr>
          <p:cNvPr id="53" name="Shape 51"/>
          <p:cNvSpPr/>
          <p:nvPr/>
        </p:nvSpPr>
        <p:spPr>
          <a:xfrm>
            <a:off x="0" y="4892040"/>
            <a:ext cx="9144000" cy="251460"/>
          </a:xfrm>
          <a:prstGeom prst="rect">
            <a:avLst/>
          </a:prstGeom>
          <a:solidFill>
            <a:srgbClr val="0D1B2A"/>
          </a:solidFill>
          <a:ln w="12700">
            <a:solidFill>
              <a:srgbClr val="0D1B2A"/>
            </a:solidFill>
            <a:prstDash val="solid"/>
          </a:ln>
        </p:spPr>
      </p:sp>
      <p:sp>
        <p:nvSpPr>
          <p:cNvPr id="54" name="Text 52"/>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55" name="Text 53"/>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§4  Data Sources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804672"/>
          <a:ext cx="8412480" cy="914400"/>
        </p:xfrm>
        <a:graphic>
          <a:graphicData uri="http://schemas.openxmlformats.org/drawingml/2006/table">
            <a:tbl>
              <a:tblPr/>
              <a:tblGrid>
                <a:gridCol w="2194560"/>
                <a:gridCol w="2103120"/>
                <a:gridCol w="1463040"/>
                <a:gridCol w="26517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in Project</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Sentinel-2 MSI (L2A)</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ESA / Copernicus via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10–20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dNBR labels, NDVI, NDWI, EVI, NBR</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SRTM DEM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NASA / USGS via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30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Elevation, slope, aspect, hillshade, TPI</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ERA5-Land</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ECMWF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9 km → 100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Wind speed (annual mean 2023–2024)</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CHIRPS v2.0</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UCSB CHG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5.5 km → 100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Annual rainfall (2024)</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Landsat 8 (Collection 2)</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USGS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30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Land Surface Temperature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NASA SMAP L3</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NASA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9 km → 100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Soil moisture (2023–2024 mean)</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FAO GAUL (2015)</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FAO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Vector</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Province boundary (ADM1 = 'Mugla')</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MODIS MCD12Q1</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NASA / GEE</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500 m → 100 m</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alibri" pitchFamily="34" charset="0"/>
                          <a:ea typeface="Calibri" pitchFamily="34" charset="-122"/>
                          <a:cs typeface="Calibri" pitchFamily="34" charset="-120"/>
                        </a:rPr>
                        <a:t>Distance to urban (LC class 13)</a:t>
                      </a:r>
                      <a:endParaRPr lang="en-US" sz="10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bl>
          </a:graphicData>
        </a:graphic>
      </p:graphicFrame>
      <p:sp>
        <p:nvSpPr>
          <p:cNvPr id="5" name="Text 2"/>
          <p:cNvSpPr/>
          <p:nvPr/>
        </p:nvSpPr>
        <p:spPr>
          <a:xfrm>
            <a:off x="365760" y="4617720"/>
            <a:ext cx="8412480" cy="256032"/>
          </a:xfrm>
          <a:prstGeom prst="rect">
            <a:avLst/>
          </a:prstGeom>
          <a:noFill/>
          <a:ln/>
        </p:spPr>
        <p:txBody>
          <a:bodyPr wrap="square" rtlCol="0" anchor="ctr"/>
          <a:lstStyle/>
          <a:p>
            <a:pPr algn="ctr" indent="0" marL="0">
              <a:buNone/>
            </a:pPr>
            <a:r>
              <a:rPr lang="en-US" sz="1000" i="1" dirty="0">
                <a:solidFill>
                  <a:srgbClr val="7F8C8D"/>
                </a:solidFill>
                <a:latin typeface="Calibri" pitchFamily="34" charset="0"/>
                <a:ea typeface="Calibri" pitchFamily="34" charset="-122"/>
                <a:cs typeface="Calibri" pitchFamily="34" charset="-120"/>
              </a:rPr>
              <a:t>All datasets processed in Google Earth Engine — Project ID: causal-bison-488813-q1  |  Export folder: GIS_Wildfire_Mugla  |  Resolution: 100 m (EPSG:32636)</a:t>
            </a:r>
            <a:endParaRPr lang="en-US" sz="1000" dirty="0"/>
          </a:p>
        </p:txBody>
      </p:sp>
      <p:sp>
        <p:nvSpPr>
          <p:cNvPr id="6" name="Shape 3"/>
          <p:cNvSpPr/>
          <p:nvPr/>
        </p:nvSpPr>
        <p:spPr>
          <a:xfrm>
            <a:off x="0" y="4892040"/>
            <a:ext cx="9144000" cy="251460"/>
          </a:xfrm>
          <a:prstGeom prst="rect">
            <a:avLst/>
          </a:prstGeom>
          <a:solidFill>
            <a:srgbClr val="0D1B2A"/>
          </a:solidFill>
          <a:ln w="12700">
            <a:solidFill>
              <a:srgbClr val="0D1B2A"/>
            </a:solidFill>
            <a:prstDash val="solid"/>
          </a:ln>
        </p:spPr>
      </p:sp>
      <p:sp>
        <p:nvSpPr>
          <p:cNvPr id="7" name="Text 4"/>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8" name="Text 5"/>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§5  Methodology — Burn Labeling &amp; Sampling</a:t>
            </a:r>
            <a:endParaRPr lang="en-US" sz="2800" dirty="0"/>
          </a:p>
        </p:txBody>
      </p:sp>
      <p:sp>
        <p:nvSpPr>
          <p:cNvPr id="4" name="Shape 2"/>
          <p:cNvSpPr/>
          <p:nvPr/>
        </p:nvSpPr>
        <p:spPr>
          <a:xfrm>
            <a:off x="365760" y="822960"/>
            <a:ext cx="4114800" cy="1920240"/>
          </a:xfrm>
          <a:prstGeom prst="rect">
            <a:avLst/>
          </a:prstGeom>
          <a:solidFill>
            <a:srgbClr val="FFFFFF"/>
          </a:solidFill>
          <a:ln w="1905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4114800" cy="384048"/>
          </a:xfrm>
          <a:prstGeom prst="rect">
            <a:avLst/>
          </a:prstGeom>
          <a:solidFill>
            <a:srgbClr val="0D1B2A"/>
          </a:solidFill>
          <a:ln w="12700">
            <a:solidFill>
              <a:srgbClr val="0D1B2A"/>
            </a:solidFill>
            <a:prstDash val="solid"/>
          </a:ln>
        </p:spPr>
      </p:sp>
      <p:sp>
        <p:nvSpPr>
          <p:cNvPr id="6" name="Text 4"/>
          <p:cNvSpPr/>
          <p:nvPr/>
        </p:nvSpPr>
        <p:spPr>
          <a:xfrm>
            <a:off x="365760" y="822960"/>
            <a:ext cx="41148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dNBR Formula</a:t>
            </a:r>
            <a:endParaRPr lang="en-US" sz="1300" dirty="0"/>
          </a:p>
        </p:txBody>
      </p:sp>
      <p:sp>
        <p:nvSpPr>
          <p:cNvPr id="7" name="Text 5"/>
          <p:cNvSpPr/>
          <p:nvPr/>
        </p:nvSpPr>
        <p:spPr>
          <a:xfrm>
            <a:off x="502920" y="1280160"/>
            <a:ext cx="3840480" cy="411480"/>
          </a:xfrm>
          <a:prstGeom prst="rect">
            <a:avLst/>
          </a:prstGeom>
          <a:noFill/>
          <a:ln/>
        </p:spPr>
        <p:txBody>
          <a:bodyPr wrap="square"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NBR = (NIR − SWIR2) / (NIR + SWIR2)</a:t>
            </a:r>
            <a:endParaRPr lang="en-US" sz="1200" dirty="0"/>
          </a:p>
        </p:txBody>
      </p:sp>
      <p:sp>
        <p:nvSpPr>
          <p:cNvPr id="8" name="Text 6"/>
          <p:cNvSpPr/>
          <p:nvPr/>
        </p:nvSpPr>
        <p:spPr>
          <a:xfrm>
            <a:off x="502920" y="1664208"/>
            <a:ext cx="3840480" cy="38404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dNBR = NBR_pre − NBR_post</a:t>
            </a:r>
            <a:endParaRPr lang="en-US" sz="1300" dirty="0"/>
          </a:p>
        </p:txBody>
      </p:sp>
      <p:sp>
        <p:nvSpPr>
          <p:cNvPr id="9" name="Text 7"/>
          <p:cNvSpPr/>
          <p:nvPr/>
        </p:nvSpPr>
        <p:spPr>
          <a:xfrm>
            <a:off x="502920" y="2029968"/>
            <a:ext cx="3840480" cy="347472"/>
          </a:xfrm>
          <a:prstGeom prst="rect">
            <a:avLst/>
          </a:prstGeom>
          <a:noFill/>
          <a:ln/>
        </p:spPr>
        <p:txBody>
          <a:bodyPr wrap="square" rtlCol="0" anchor="ctr"/>
          <a:lstStyle/>
          <a:p>
            <a:pPr algn="ctr" indent="0" marL="0">
              <a:buNone/>
            </a:pPr>
            <a:r>
              <a:rPr lang="en-US" sz="1000" i="1" dirty="0">
                <a:solidFill>
                  <a:srgbClr val="7F8C8D"/>
                </a:solidFill>
                <a:latin typeface="Calibri" pitchFamily="34" charset="0"/>
                <a:ea typeface="Calibri" pitchFamily="34" charset="-122"/>
                <a:cs typeface="Calibri" pitchFamily="34" charset="-120"/>
              </a:rPr>
              <a:t>Pre-fire: May–Jun 2025  |  Post-fire: Jul–Sep 2025</a:t>
            </a:r>
            <a:endParaRPr lang="en-US" sz="1000" dirty="0"/>
          </a:p>
        </p:txBody>
      </p:sp>
      <p:sp>
        <p:nvSpPr>
          <p:cNvPr id="10" name="Shape 8"/>
          <p:cNvSpPr/>
          <p:nvPr/>
        </p:nvSpPr>
        <p:spPr>
          <a:xfrm>
            <a:off x="4663440" y="822960"/>
            <a:ext cx="4114800" cy="1920240"/>
          </a:xfrm>
          <a:prstGeom prst="rect">
            <a:avLst/>
          </a:prstGeom>
          <a:solidFill>
            <a:srgbClr val="FFFFFF"/>
          </a:solidFill>
          <a:ln w="19050">
            <a:solidFill>
              <a:srgbClr val="0D1B2A"/>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663440" y="822960"/>
            <a:ext cx="4114800" cy="384048"/>
          </a:xfrm>
          <a:prstGeom prst="rect">
            <a:avLst/>
          </a:prstGeom>
          <a:solidFill>
            <a:srgbClr val="0D1B2A"/>
          </a:solidFill>
          <a:ln w="12700">
            <a:solidFill>
              <a:srgbClr val="0D1B2A"/>
            </a:solidFill>
            <a:prstDash val="solid"/>
          </a:ln>
        </p:spPr>
      </p:sp>
      <p:sp>
        <p:nvSpPr>
          <p:cNvPr id="12" name="Text 10"/>
          <p:cNvSpPr/>
          <p:nvPr/>
        </p:nvSpPr>
        <p:spPr>
          <a:xfrm>
            <a:off x="4663440" y="822960"/>
            <a:ext cx="41148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Classification Thresholds</a:t>
            </a:r>
            <a:endParaRPr lang="en-US" sz="1300" dirty="0"/>
          </a:p>
        </p:txBody>
      </p:sp>
      <p:sp>
        <p:nvSpPr>
          <p:cNvPr id="13" name="Shape 11"/>
          <p:cNvSpPr/>
          <p:nvPr/>
        </p:nvSpPr>
        <p:spPr>
          <a:xfrm>
            <a:off x="4663440" y="1261872"/>
            <a:ext cx="164592" cy="457200"/>
          </a:xfrm>
          <a:prstGeom prst="rect">
            <a:avLst/>
          </a:prstGeom>
          <a:solidFill>
            <a:srgbClr val="D73027"/>
          </a:solidFill>
          <a:ln w="12700">
            <a:solidFill>
              <a:srgbClr val="D73027"/>
            </a:solidFill>
            <a:prstDash val="solid"/>
          </a:ln>
        </p:spPr>
      </p:sp>
      <p:sp>
        <p:nvSpPr>
          <p:cNvPr id="14" name="Text 12"/>
          <p:cNvSpPr/>
          <p:nvPr/>
        </p:nvSpPr>
        <p:spPr>
          <a:xfrm>
            <a:off x="4882896" y="1298448"/>
            <a:ext cx="2103120" cy="219456"/>
          </a:xfrm>
          <a:prstGeom prst="rect">
            <a:avLst/>
          </a:prstGeom>
          <a:noFill/>
          <a:ln/>
        </p:spPr>
        <p:txBody>
          <a:bodyPr wrap="square"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Burned (Label = 1)</a:t>
            </a:r>
            <a:endParaRPr lang="en-US" sz="1050" dirty="0"/>
          </a:p>
        </p:txBody>
      </p:sp>
      <p:sp>
        <p:nvSpPr>
          <p:cNvPr id="15" name="Text 13"/>
          <p:cNvSpPr/>
          <p:nvPr/>
        </p:nvSpPr>
        <p:spPr>
          <a:xfrm>
            <a:off x="4882896" y="1499616"/>
            <a:ext cx="2103120" cy="201168"/>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dNBR &gt; 0.15</a:t>
            </a:r>
            <a:endParaRPr lang="en-US" sz="1000" dirty="0"/>
          </a:p>
        </p:txBody>
      </p:sp>
      <p:sp>
        <p:nvSpPr>
          <p:cNvPr id="16" name="Text 14"/>
          <p:cNvSpPr/>
          <p:nvPr/>
        </p:nvSpPr>
        <p:spPr>
          <a:xfrm>
            <a:off x="7040880" y="1344168"/>
            <a:ext cx="1645920" cy="292608"/>
          </a:xfrm>
          <a:prstGeom prst="rect">
            <a:avLst/>
          </a:prstGeom>
          <a:noFill/>
          <a:ln/>
        </p:spPr>
        <p:txBody>
          <a:bodyPr wrap="square" rtlCol="0" anchor="ctr"/>
          <a:lstStyle/>
          <a:p>
            <a:pPr algn="r" indent="0" marL="0">
              <a:buNone/>
            </a:pPr>
            <a:r>
              <a:rPr lang="en-US" sz="1300" b="1" dirty="0">
                <a:solidFill>
                  <a:srgbClr val="0D1B2A"/>
                </a:solidFill>
                <a:latin typeface="Calibri" pitchFamily="34" charset="0"/>
                <a:ea typeface="Calibri" pitchFamily="34" charset="-122"/>
                <a:cs typeface="Calibri" pitchFamily="34" charset="-120"/>
              </a:rPr>
              <a:t>61 points</a:t>
            </a:r>
            <a:endParaRPr lang="en-US" sz="1300" dirty="0"/>
          </a:p>
        </p:txBody>
      </p:sp>
      <p:sp>
        <p:nvSpPr>
          <p:cNvPr id="17" name="Shape 15"/>
          <p:cNvSpPr/>
          <p:nvPr/>
        </p:nvSpPr>
        <p:spPr>
          <a:xfrm>
            <a:off x="4663440" y="1755648"/>
            <a:ext cx="164592" cy="457200"/>
          </a:xfrm>
          <a:prstGeom prst="rect">
            <a:avLst/>
          </a:prstGeom>
          <a:solidFill>
            <a:srgbClr val="E8E8E8"/>
          </a:solidFill>
          <a:ln w="12700">
            <a:solidFill>
              <a:srgbClr val="E8E8E8"/>
            </a:solidFill>
            <a:prstDash val="solid"/>
          </a:ln>
        </p:spPr>
      </p:sp>
      <p:sp>
        <p:nvSpPr>
          <p:cNvPr id="18" name="Text 16"/>
          <p:cNvSpPr/>
          <p:nvPr/>
        </p:nvSpPr>
        <p:spPr>
          <a:xfrm>
            <a:off x="4882896" y="1792224"/>
            <a:ext cx="2103120" cy="219456"/>
          </a:xfrm>
          <a:prstGeom prst="rect">
            <a:avLst/>
          </a:prstGeom>
          <a:noFill/>
          <a:ln/>
        </p:spPr>
        <p:txBody>
          <a:bodyPr wrap="square"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Unsampled</a:t>
            </a:r>
            <a:endParaRPr lang="en-US" sz="1050" dirty="0"/>
          </a:p>
        </p:txBody>
      </p:sp>
      <p:sp>
        <p:nvSpPr>
          <p:cNvPr id="19" name="Text 17"/>
          <p:cNvSpPr/>
          <p:nvPr/>
        </p:nvSpPr>
        <p:spPr>
          <a:xfrm>
            <a:off x="4882896" y="1993392"/>
            <a:ext cx="2103120" cy="201168"/>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0.10 &lt; dNBR ≤ 0.15</a:t>
            </a:r>
            <a:endParaRPr lang="en-US" sz="1000" dirty="0"/>
          </a:p>
        </p:txBody>
      </p:sp>
      <p:sp>
        <p:nvSpPr>
          <p:cNvPr id="20" name="Text 18"/>
          <p:cNvSpPr/>
          <p:nvPr/>
        </p:nvSpPr>
        <p:spPr>
          <a:xfrm>
            <a:off x="7040880" y="1837944"/>
            <a:ext cx="1645920" cy="292608"/>
          </a:xfrm>
          <a:prstGeom prst="rect">
            <a:avLst/>
          </a:prstGeom>
          <a:noFill/>
          <a:ln/>
        </p:spPr>
        <p:txBody>
          <a:bodyPr wrap="square" rtlCol="0" anchor="ctr"/>
          <a:lstStyle/>
          <a:p>
            <a:pPr algn="r" indent="0" marL="0">
              <a:buNone/>
            </a:pPr>
            <a:r>
              <a:rPr lang="en-US" sz="1300" b="1" dirty="0">
                <a:solidFill>
                  <a:srgbClr val="0D1B2A"/>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4663440" y="2249424"/>
            <a:ext cx="164592" cy="457200"/>
          </a:xfrm>
          <a:prstGeom prst="rect">
            <a:avLst/>
          </a:prstGeom>
          <a:solidFill>
            <a:srgbClr val="1A9850"/>
          </a:solidFill>
          <a:ln w="12700">
            <a:solidFill>
              <a:srgbClr val="1A9850"/>
            </a:solidFill>
            <a:prstDash val="solid"/>
          </a:ln>
        </p:spPr>
      </p:sp>
      <p:sp>
        <p:nvSpPr>
          <p:cNvPr id="22" name="Text 20"/>
          <p:cNvSpPr/>
          <p:nvPr/>
        </p:nvSpPr>
        <p:spPr>
          <a:xfrm>
            <a:off x="4882896" y="2286000"/>
            <a:ext cx="2103120" cy="219456"/>
          </a:xfrm>
          <a:prstGeom prst="rect">
            <a:avLst/>
          </a:prstGeom>
          <a:noFill/>
          <a:ln/>
        </p:spPr>
        <p:txBody>
          <a:bodyPr wrap="square"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Unburned (Label = 0)</a:t>
            </a:r>
            <a:endParaRPr lang="en-US" sz="1050" dirty="0"/>
          </a:p>
        </p:txBody>
      </p:sp>
      <p:sp>
        <p:nvSpPr>
          <p:cNvPr id="23" name="Text 21"/>
          <p:cNvSpPr/>
          <p:nvPr/>
        </p:nvSpPr>
        <p:spPr>
          <a:xfrm>
            <a:off x="4882896" y="2487168"/>
            <a:ext cx="2103120" cy="201168"/>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−0.10 &lt; dNBR ≤ 0.10</a:t>
            </a:r>
            <a:endParaRPr lang="en-US" sz="1000" dirty="0"/>
          </a:p>
        </p:txBody>
      </p:sp>
      <p:sp>
        <p:nvSpPr>
          <p:cNvPr id="24" name="Text 22"/>
          <p:cNvSpPr/>
          <p:nvPr/>
        </p:nvSpPr>
        <p:spPr>
          <a:xfrm>
            <a:off x="7040880" y="2331720"/>
            <a:ext cx="1645920" cy="292608"/>
          </a:xfrm>
          <a:prstGeom prst="rect">
            <a:avLst/>
          </a:prstGeom>
          <a:noFill/>
          <a:ln/>
        </p:spPr>
        <p:txBody>
          <a:bodyPr wrap="square" rtlCol="0" anchor="ctr"/>
          <a:lstStyle/>
          <a:p>
            <a:pPr algn="r" indent="0" marL="0">
              <a:buNone/>
            </a:pPr>
            <a:r>
              <a:rPr lang="en-US" sz="1300" b="1" dirty="0">
                <a:solidFill>
                  <a:srgbClr val="0D1B2A"/>
                </a:solidFill>
                <a:latin typeface="Calibri" pitchFamily="34" charset="0"/>
                <a:ea typeface="Calibri" pitchFamily="34" charset="-122"/>
                <a:cs typeface="Calibri" pitchFamily="34" charset="-120"/>
              </a:rPr>
              <a:t>441 points</a:t>
            </a:r>
            <a:endParaRPr lang="en-US" sz="1300" dirty="0"/>
          </a:p>
        </p:txBody>
      </p:sp>
      <p:sp>
        <p:nvSpPr>
          <p:cNvPr id="25" name="Shape 23"/>
          <p:cNvSpPr/>
          <p:nvPr/>
        </p:nvSpPr>
        <p:spPr>
          <a:xfrm>
            <a:off x="365760" y="2852928"/>
            <a:ext cx="8412480" cy="160020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65760" y="2852928"/>
            <a:ext cx="8412480" cy="347472"/>
          </a:xfrm>
          <a:prstGeom prst="rect">
            <a:avLst/>
          </a:prstGeom>
          <a:solidFill>
            <a:srgbClr val="0D1B2A"/>
          </a:solidFill>
          <a:ln w="12700">
            <a:solidFill>
              <a:srgbClr val="0D1B2A"/>
            </a:solidFill>
            <a:prstDash val="solid"/>
          </a:ln>
        </p:spPr>
      </p:sp>
      <p:sp>
        <p:nvSpPr>
          <p:cNvPr id="27" name="Text 25"/>
          <p:cNvSpPr/>
          <p:nvPr/>
        </p:nvSpPr>
        <p:spPr>
          <a:xfrm>
            <a:off x="365760" y="2852928"/>
            <a:ext cx="841248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Preparation Pipeline</a:t>
            </a:r>
            <a:endParaRPr lang="en-US" sz="1200" dirty="0"/>
          </a:p>
        </p:txBody>
      </p:sp>
      <p:sp>
        <p:nvSpPr>
          <p:cNvPr id="28" name="Shape 26"/>
          <p:cNvSpPr/>
          <p:nvPr/>
        </p:nvSpPr>
        <p:spPr>
          <a:xfrm>
            <a:off x="548640" y="3291840"/>
            <a:ext cx="1005840" cy="86868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29" name="Text 27"/>
          <p:cNvSpPr/>
          <p:nvPr/>
        </p:nvSpPr>
        <p:spPr>
          <a:xfrm>
            <a:off x="548640"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Sentinel-2</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Composites</a:t>
            </a:r>
            <a:endParaRPr lang="en-US" sz="900" dirty="0"/>
          </a:p>
        </p:txBody>
      </p:sp>
      <p:sp>
        <p:nvSpPr>
          <p:cNvPr id="30" name="Text 28"/>
          <p:cNvSpPr/>
          <p:nvPr/>
        </p:nvSpPr>
        <p:spPr>
          <a:xfrm>
            <a:off x="1554480"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31" name="Shape 29"/>
          <p:cNvSpPr/>
          <p:nvPr/>
        </p:nvSpPr>
        <p:spPr>
          <a:xfrm>
            <a:off x="1728216" y="3291840"/>
            <a:ext cx="1005840" cy="868680"/>
          </a:xfrm>
          <a:prstGeom prst="rect">
            <a:avLst/>
          </a:prstGeom>
          <a:solidFill>
            <a:srgbClr val="1B2A3B"/>
          </a:solidFill>
          <a:ln w="12700">
            <a:solidFill>
              <a:srgbClr val="1B2A3B"/>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1728216"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Compute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dNBR</a:t>
            </a:r>
            <a:endParaRPr lang="en-US" sz="900" dirty="0"/>
          </a:p>
        </p:txBody>
      </p:sp>
      <p:sp>
        <p:nvSpPr>
          <p:cNvPr id="33" name="Text 31"/>
          <p:cNvSpPr/>
          <p:nvPr/>
        </p:nvSpPr>
        <p:spPr>
          <a:xfrm>
            <a:off x="2734056"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34" name="Shape 32"/>
          <p:cNvSpPr/>
          <p:nvPr/>
        </p:nvSpPr>
        <p:spPr>
          <a:xfrm>
            <a:off x="2907792" y="3291840"/>
            <a:ext cx="1005840" cy="86868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35" name="Text 33"/>
          <p:cNvSpPr/>
          <p:nvPr/>
        </p:nvSpPr>
        <p:spPr>
          <a:xfrm>
            <a:off x="2907792"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Apply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Thresholds</a:t>
            </a:r>
            <a:endParaRPr lang="en-US" sz="900" dirty="0"/>
          </a:p>
        </p:txBody>
      </p:sp>
      <p:sp>
        <p:nvSpPr>
          <p:cNvPr id="36" name="Text 34"/>
          <p:cNvSpPr/>
          <p:nvPr/>
        </p:nvSpPr>
        <p:spPr>
          <a:xfrm>
            <a:off x="3913632"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37" name="Shape 35"/>
          <p:cNvSpPr/>
          <p:nvPr/>
        </p:nvSpPr>
        <p:spPr>
          <a:xfrm>
            <a:off x="4087368" y="3291840"/>
            <a:ext cx="1005840" cy="868680"/>
          </a:xfrm>
          <a:prstGeom prst="rect">
            <a:avLst/>
          </a:prstGeom>
          <a:solidFill>
            <a:srgbClr val="1B2A3B"/>
          </a:solidFill>
          <a:ln w="12700">
            <a:solidFill>
              <a:srgbClr val="1B2A3B"/>
            </a:solidFill>
            <a:prstDash val="solid"/>
          </a:ln>
          <a:effectLst>
            <a:outerShdw sx="100000" sy="100000" kx="0" ky="0" algn="bl" rotWithShape="0" blurRad="101600" dist="38100" dir="8100000">
              <a:srgbClr val="000000">
                <a:alpha val="18000"/>
              </a:srgbClr>
            </a:outerShdw>
          </a:effectLst>
        </p:spPr>
      </p:sp>
      <p:sp>
        <p:nvSpPr>
          <p:cNvPr id="38" name="Text 36"/>
          <p:cNvSpPr/>
          <p:nvPr/>
        </p:nvSpPr>
        <p:spPr>
          <a:xfrm>
            <a:off x="4087368"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Stratified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Sampling</a:t>
            </a:r>
            <a:endParaRPr lang="en-US" sz="900" dirty="0"/>
          </a:p>
        </p:txBody>
      </p:sp>
      <p:sp>
        <p:nvSpPr>
          <p:cNvPr id="39" name="Text 37"/>
          <p:cNvSpPr/>
          <p:nvPr/>
        </p:nvSpPr>
        <p:spPr>
          <a:xfrm>
            <a:off x="5093208"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40" name="Shape 38"/>
          <p:cNvSpPr/>
          <p:nvPr/>
        </p:nvSpPr>
        <p:spPr>
          <a:xfrm>
            <a:off x="5266944" y="3291840"/>
            <a:ext cx="1005840" cy="86868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41" name="Text 39"/>
          <p:cNvSpPr/>
          <p:nvPr/>
        </p:nvSpPr>
        <p:spPr>
          <a:xfrm>
            <a:off x="5266944"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502 Labeled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Points</a:t>
            </a:r>
            <a:endParaRPr lang="en-US" sz="900" dirty="0"/>
          </a:p>
        </p:txBody>
      </p:sp>
      <p:sp>
        <p:nvSpPr>
          <p:cNvPr id="42" name="Text 40"/>
          <p:cNvSpPr/>
          <p:nvPr/>
        </p:nvSpPr>
        <p:spPr>
          <a:xfrm>
            <a:off x="6272784"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43" name="Shape 41"/>
          <p:cNvSpPr/>
          <p:nvPr/>
        </p:nvSpPr>
        <p:spPr>
          <a:xfrm>
            <a:off x="6446520" y="3291840"/>
            <a:ext cx="1005840" cy="868680"/>
          </a:xfrm>
          <a:prstGeom prst="rect">
            <a:avLst/>
          </a:prstGeom>
          <a:solidFill>
            <a:srgbClr val="1B2A3B"/>
          </a:solidFill>
          <a:ln w="12700">
            <a:solidFill>
              <a:srgbClr val="1B2A3B"/>
            </a:solidFill>
            <a:prstDash val="solid"/>
          </a:ln>
          <a:effectLst>
            <a:outerShdw sx="100000" sy="100000" kx="0" ky="0" algn="bl" rotWithShape="0" blurRad="101600" dist="38100" dir="8100000">
              <a:srgbClr val="000000">
                <a:alpha val="18000"/>
              </a:srgbClr>
            </a:outerShdw>
          </a:effectLst>
        </p:spPr>
      </p:sp>
      <p:sp>
        <p:nvSpPr>
          <p:cNvPr id="44" name="Text 42"/>
          <p:cNvSpPr/>
          <p:nvPr/>
        </p:nvSpPr>
        <p:spPr>
          <a:xfrm>
            <a:off x="6446520"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Drop NaN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326 rows</a:t>
            </a:r>
            <a:endParaRPr lang="en-US" sz="900" dirty="0"/>
          </a:p>
        </p:txBody>
      </p:sp>
      <p:sp>
        <p:nvSpPr>
          <p:cNvPr id="45" name="Text 43"/>
          <p:cNvSpPr/>
          <p:nvPr/>
        </p:nvSpPr>
        <p:spPr>
          <a:xfrm>
            <a:off x="7452360" y="3291840"/>
            <a:ext cx="173736" cy="868680"/>
          </a:xfrm>
          <a:prstGeom prst="rect">
            <a:avLst/>
          </a:prstGeom>
          <a:noFill/>
          <a:ln/>
        </p:spPr>
        <p:txBody>
          <a:bodyPr wrap="square" rtlCol="0" anchor="ctr"/>
          <a:lstStyle/>
          <a:p>
            <a:pPr algn="ctr" indent="0" marL="0">
              <a:buNone/>
            </a:pPr>
            <a:r>
              <a:rPr lang="en-US" sz="1400" dirty="0">
                <a:solidFill>
                  <a:srgbClr val="7F8C8D"/>
                </a:solidFill>
              </a:rPr>
              <a:t>→</a:t>
            </a:r>
            <a:endParaRPr lang="en-US" sz="1400" dirty="0"/>
          </a:p>
        </p:txBody>
      </p:sp>
      <p:sp>
        <p:nvSpPr>
          <p:cNvPr id="46" name="Shape 44"/>
          <p:cNvSpPr/>
          <p:nvPr/>
        </p:nvSpPr>
        <p:spPr>
          <a:xfrm>
            <a:off x="7626096" y="3291840"/>
            <a:ext cx="1005840" cy="86868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47" name="Text 45"/>
          <p:cNvSpPr/>
          <p:nvPr/>
        </p:nvSpPr>
        <p:spPr>
          <a:xfrm>
            <a:off x="7626096" y="3291840"/>
            <a:ext cx="1005840" cy="8686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Inputs.txt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&amp; Label.txt</a:t>
            </a:r>
            <a:endParaRPr lang="en-US" sz="900" dirty="0"/>
          </a:p>
        </p:txBody>
      </p:sp>
      <p:sp>
        <p:nvSpPr>
          <p:cNvPr id="48" name="Shape 46"/>
          <p:cNvSpPr/>
          <p:nvPr/>
        </p:nvSpPr>
        <p:spPr>
          <a:xfrm>
            <a:off x="0" y="4892040"/>
            <a:ext cx="9144000" cy="251460"/>
          </a:xfrm>
          <a:prstGeom prst="rect">
            <a:avLst/>
          </a:prstGeom>
          <a:solidFill>
            <a:srgbClr val="0D1B2A"/>
          </a:solidFill>
          <a:ln w="12700">
            <a:solidFill>
              <a:srgbClr val="0D1B2A"/>
            </a:solidFill>
            <a:prstDash val="solid"/>
          </a:ln>
        </p:spPr>
      </p:sp>
      <p:sp>
        <p:nvSpPr>
          <p:cNvPr id="49" name="Text 47"/>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50" name="Text 48"/>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§5  Methodology — 15 Predictor Variables (GEE)</a:t>
            </a:r>
            <a:endParaRPr lang="en-US" sz="2800" dirty="0"/>
          </a:p>
        </p:txBody>
      </p:sp>
      <p:sp>
        <p:nvSpPr>
          <p:cNvPr id="4" name="Shape 2"/>
          <p:cNvSpPr/>
          <p:nvPr/>
        </p:nvSpPr>
        <p:spPr>
          <a:xfrm>
            <a:off x="347472" y="804672"/>
            <a:ext cx="2724912" cy="749808"/>
          </a:xfrm>
          <a:prstGeom prst="rect">
            <a:avLst/>
          </a:prstGeom>
          <a:solidFill>
            <a:srgbClr val="FFFFFF"/>
          </a:solidFill>
          <a:ln w="12700">
            <a:solidFill>
              <a:srgbClr val="0D1B2A"/>
            </a:solidFill>
            <a:prstDash val="solid"/>
          </a:ln>
        </p:spPr>
      </p:sp>
      <p:sp>
        <p:nvSpPr>
          <p:cNvPr id="5" name="Shape 3"/>
          <p:cNvSpPr/>
          <p:nvPr/>
        </p:nvSpPr>
        <p:spPr>
          <a:xfrm>
            <a:off x="347472" y="804672"/>
            <a:ext cx="384048" cy="749808"/>
          </a:xfrm>
          <a:prstGeom prst="rect">
            <a:avLst/>
          </a:prstGeom>
          <a:solidFill>
            <a:srgbClr val="0D1B2A"/>
          </a:solidFill>
          <a:ln w="12700">
            <a:solidFill>
              <a:srgbClr val="0D1B2A"/>
            </a:solidFill>
            <a:prstDash val="solid"/>
          </a:ln>
        </p:spPr>
      </p:sp>
      <p:sp>
        <p:nvSpPr>
          <p:cNvPr id="6" name="Text 4"/>
          <p:cNvSpPr/>
          <p:nvPr/>
        </p:nvSpPr>
        <p:spPr>
          <a:xfrm>
            <a:off x="347472" y="804672"/>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804672" y="877824"/>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Elevation</a:t>
            </a:r>
            <a:endParaRPr lang="en-US" sz="1100" dirty="0"/>
          </a:p>
        </p:txBody>
      </p:sp>
      <p:sp>
        <p:nvSpPr>
          <p:cNvPr id="8" name="Text 6"/>
          <p:cNvSpPr/>
          <p:nvPr/>
        </p:nvSpPr>
        <p:spPr>
          <a:xfrm>
            <a:off x="804672" y="1207008"/>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SRTM</a:t>
            </a:r>
            <a:endParaRPr lang="en-US" sz="900" dirty="0"/>
          </a:p>
        </p:txBody>
      </p:sp>
      <p:sp>
        <p:nvSpPr>
          <p:cNvPr id="9" name="Shape 7"/>
          <p:cNvSpPr/>
          <p:nvPr/>
        </p:nvSpPr>
        <p:spPr>
          <a:xfrm>
            <a:off x="2688336" y="877824"/>
            <a:ext cx="310896" cy="173736"/>
          </a:xfrm>
          <a:prstGeom prst="rect">
            <a:avLst/>
          </a:prstGeom>
          <a:solidFill>
            <a:srgbClr val="0D1B2A"/>
          </a:solidFill>
          <a:ln w="12700">
            <a:solidFill>
              <a:srgbClr val="0D1B2A"/>
            </a:solidFill>
            <a:prstDash val="solid"/>
          </a:ln>
        </p:spPr>
      </p:sp>
      <p:sp>
        <p:nvSpPr>
          <p:cNvPr id="10" name="Text 8"/>
          <p:cNvSpPr/>
          <p:nvPr/>
        </p:nvSpPr>
        <p:spPr>
          <a:xfrm>
            <a:off x="2688336" y="877824"/>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Topo</a:t>
            </a:r>
            <a:endParaRPr lang="en-US" sz="700" dirty="0"/>
          </a:p>
        </p:txBody>
      </p:sp>
      <p:sp>
        <p:nvSpPr>
          <p:cNvPr id="11" name="Shape 9"/>
          <p:cNvSpPr/>
          <p:nvPr/>
        </p:nvSpPr>
        <p:spPr>
          <a:xfrm>
            <a:off x="3182112" y="804672"/>
            <a:ext cx="2724912" cy="749808"/>
          </a:xfrm>
          <a:prstGeom prst="rect">
            <a:avLst/>
          </a:prstGeom>
          <a:solidFill>
            <a:srgbClr val="FFFFFF"/>
          </a:solidFill>
          <a:ln w="12700">
            <a:solidFill>
              <a:srgbClr val="0D1B2A"/>
            </a:solidFill>
            <a:prstDash val="solid"/>
          </a:ln>
        </p:spPr>
      </p:sp>
      <p:sp>
        <p:nvSpPr>
          <p:cNvPr id="12" name="Shape 10"/>
          <p:cNvSpPr/>
          <p:nvPr/>
        </p:nvSpPr>
        <p:spPr>
          <a:xfrm>
            <a:off x="3182112" y="804672"/>
            <a:ext cx="384048" cy="749808"/>
          </a:xfrm>
          <a:prstGeom prst="rect">
            <a:avLst/>
          </a:prstGeom>
          <a:solidFill>
            <a:srgbClr val="0D1B2A"/>
          </a:solidFill>
          <a:ln w="12700">
            <a:solidFill>
              <a:srgbClr val="0D1B2A"/>
            </a:solidFill>
            <a:prstDash val="solid"/>
          </a:ln>
        </p:spPr>
      </p:sp>
      <p:sp>
        <p:nvSpPr>
          <p:cNvPr id="13" name="Text 11"/>
          <p:cNvSpPr/>
          <p:nvPr/>
        </p:nvSpPr>
        <p:spPr>
          <a:xfrm>
            <a:off x="3182112" y="804672"/>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3639312" y="877824"/>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Slope</a:t>
            </a:r>
            <a:endParaRPr lang="en-US" sz="1100" dirty="0"/>
          </a:p>
        </p:txBody>
      </p:sp>
      <p:sp>
        <p:nvSpPr>
          <p:cNvPr id="15" name="Text 13"/>
          <p:cNvSpPr/>
          <p:nvPr/>
        </p:nvSpPr>
        <p:spPr>
          <a:xfrm>
            <a:off x="3639312" y="1207008"/>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SRTM</a:t>
            </a:r>
            <a:endParaRPr lang="en-US" sz="900" dirty="0"/>
          </a:p>
        </p:txBody>
      </p:sp>
      <p:sp>
        <p:nvSpPr>
          <p:cNvPr id="16" name="Shape 14"/>
          <p:cNvSpPr/>
          <p:nvPr/>
        </p:nvSpPr>
        <p:spPr>
          <a:xfrm>
            <a:off x="5522976" y="877824"/>
            <a:ext cx="310896" cy="173736"/>
          </a:xfrm>
          <a:prstGeom prst="rect">
            <a:avLst/>
          </a:prstGeom>
          <a:solidFill>
            <a:srgbClr val="0D1B2A"/>
          </a:solidFill>
          <a:ln w="12700">
            <a:solidFill>
              <a:srgbClr val="0D1B2A"/>
            </a:solidFill>
            <a:prstDash val="solid"/>
          </a:ln>
        </p:spPr>
      </p:sp>
      <p:sp>
        <p:nvSpPr>
          <p:cNvPr id="17" name="Text 15"/>
          <p:cNvSpPr/>
          <p:nvPr/>
        </p:nvSpPr>
        <p:spPr>
          <a:xfrm>
            <a:off x="5522976" y="877824"/>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Topo</a:t>
            </a:r>
            <a:endParaRPr lang="en-US" sz="700" dirty="0"/>
          </a:p>
        </p:txBody>
      </p:sp>
      <p:sp>
        <p:nvSpPr>
          <p:cNvPr id="18" name="Shape 16"/>
          <p:cNvSpPr/>
          <p:nvPr/>
        </p:nvSpPr>
        <p:spPr>
          <a:xfrm>
            <a:off x="6016752" y="804672"/>
            <a:ext cx="2724912" cy="749808"/>
          </a:xfrm>
          <a:prstGeom prst="rect">
            <a:avLst/>
          </a:prstGeom>
          <a:solidFill>
            <a:srgbClr val="FFFFFF"/>
          </a:solidFill>
          <a:ln w="12700">
            <a:solidFill>
              <a:srgbClr val="0D1B2A"/>
            </a:solidFill>
            <a:prstDash val="solid"/>
          </a:ln>
        </p:spPr>
      </p:sp>
      <p:sp>
        <p:nvSpPr>
          <p:cNvPr id="19" name="Shape 17"/>
          <p:cNvSpPr/>
          <p:nvPr/>
        </p:nvSpPr>
        <p:spPr>
          <a:xfrm>
            <a:off x="6016752" y="804672"/>
            <a:ext cx="384048" cy="749808"/>
          </a:xfrm>
          <a:prstGeom prst="rect">
            <a:avLst/>
          </a:prstGeom>
          <a:solidFill>
            <a:srgbClr val="0D1B2A"/>
          </a:solidFill>
          <a:ln w="12700">
            <a:solidFill>
              <a:srgbClr val="0D1B2A"/>
            </a:solidFill>
            <a:prstDash val="solid"/>
          </a:ln>
        </p:spPr>
      </p:sp>
      <p:sp>
        <p:nvSpPr>
          <p:cNvPr id="20" name="Text 18"/>
          <p:cNvSpPr/>
          <p:nvPr/>
        </p:nvSpPr>
        <p:spPr>
          <a:xfrm>
            <a:off x="6016752" y="804672"/>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1" name="Text 19"/>
          <p:cNvSpPr/>
          <p:nvPr/>
        </p:nvSpPr>
        <p:spPr>
          <a:xfrm>
            <a:off x="6473952" y="877824"/>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Aspect</a:t>
            </a:r>
            <a:endParaRPr lang="en-US" sz="1100" dirty="0"/>
          </a:p>
        </p:txBody>
      </p:sp>
      <p:sp>
        <p:nvSpPr>
          <p:cNvPr id="22" name="Text 20"/>
          <p:cNvSpPr/>
          <p:nvPr/>
        </p:nvSpPr>
        <p:spPr>
          <a:xfrm>
            <a:off x="6473952" y="1207008"/>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SRTM</a:t>
            </a:r>
            <a:endParaRPr lang="en-US" sz="900" dirty="0"/>
          </a:p>
        </p:txBody>
      </p:sp>
      <p:sp>
        <p:nvSpPr>
          <p:cNvPr id="23" name="Shape 21"/>
          <p:cNvSpPr/>
          <p:nvPr/>
        </p:nvSpPr>
        <p:spPr>
          <a:xfrm>
            <a:off x="8357616" y="877824"/>
            <a:ext cx="310896" cy="173736"/>
          </a:xfrm>
          <a:prstGeom prst="rect">
            <a:avLst/>
          </a:prstGeom>
          <a:solidFill>
            <a:srgbClr val="0D1B2A"/>
          </a:solidFill>
          <a:ln w="12700">
            <a:solidFill>
              <a:srgbClr val="0D1B2A"/>
            </a:solidFill>
            <a:prstDash val="solid"/>
          </a:ln>
        </p:spPr>
      </p:sp>
      <p:sp>
        <p:nvSpPr>
          <p:cNvPr id="24" name="Text 22"/>
          <p:cNvSpPr/>
          <p:nvPr/>
        </p:nvSpPr>
        <p:spPr>
          <a:xfrm>
            <a:off x="8357616" y="877824"/>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Topo</a:t>
            </a:r>
            <a:endParaRPr lang="en-US" sz="700" dirty="0"/>
          </a:p>
        </p:txBody>
      </p:sp>
      <p:sp>
        <p:nvSpPr>
          <p:cNvPr id="25" name="Shape 23"/>
          <p:cNvSpPr/>
          <p:nvPr/>
        </p:nvSpPr>
        <p:spPr>
          <a:xfrm>
            <a:off x="347472" y="1572768"/>
            <a:ext cx="2724912" cy="749808"/>
          </a:xfrm>
          <a:prstGeom prst="rect">
            <a:avLst/>
          </a:prstGeom>
          <a:solidFill>
            <a:srgbClr val="FFFFFF"/>
          </a:solidFill>
          <a:ln w="12700">
            <a:solidFill>
              <a:srgbClr val="0D1B2A"/>
            </a:solidFill>
            <a:prstDash val="solid"/>
          </a:ln>
        </p:spPr>
      </p:sp>
      <p:sp>
        <p:nvSpPr>
          <p:cNvPr id="26" name="Shape 24"/>
          <p:cNvSpPr/>
          <p:nvPr/>
        </p:nvSpPr>
        <p:spPr>
          <a:xfrm>
            <a:off x="347472" y="1572768"/>
            <a:ext cx="384048" cy="749808"/>
          </a:xfrm>
          <a:prstGeom prst="rect">
            <a:avLst/>
          </a:prstGeom>
          <a:solidFill>
            <a:srgbClr val="0D1B2A"/>
          </a:solidFill>
          <a:ln w="12700">
            <a:solidFill>
              <a:srgbClr val="0D1B2A"/>
            </a:solidFill>
            <a:prstDash val="solid"/>
          </a:ln>
        </p:spPr>
      </p:sp>
      <p:sp>
        <p:nvSpPr>
          <p:cNvPr id="27" name="Text 25"/>
          <p:cNvSpPr/>
          <p:nvPr/>
        </p:nvSpPr>
        <p:spPr>
          <a:xfrm>
            <a:off x="347472" y="1572768"/>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8" name="Text 26"/>
          <p:cNvSpPr/>
          <p:nvPr/>
        </p:nvSpPr>
        <p:spPr>
          <a:xfrm>
            <a:off x="804672" y="1645920"/>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Hillshade</a:t>
            </a:r>
            <a:endParaRPr lang="en-US" sz="1100" dirty="0"/>
          </a:p>
        </p:txBody>
      </p:sp>
      <p:sp>
        <p:nvSpPr>
          <p:cNvPr id="29" name="Text 27"/>
          <p:cNvSpPr/>
          <p:nvPr/>
        </p:nvSpPr>
        <p:spPr>
          <a:xfrm>
            <a:off x="804672" y="1975104"/>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SRTM</a:t>
            </a:r>
            <a:endParaRPr lang="en-US" sz="900" dirty="0"/>
          </a:p>
        </p:txBody>
      </p:sp>
      <p:sp>
        <p:nvSpPr>
          <p:cNvPr id="30" name="Shape 28"/>
          <p:cNvSpPr/>
          <p:nvPr/>
        </p:nvSpPr>
        <p:spPr>
          <a:xfrm>
            <a:off x="2688336" y="1645920"/>
            <a:ext cx="310896" cy="173736"/>
          </a:xfrm>
          <a:prstGeom prst="rect">
            <a:avLst/>
          </a:prstGeom>
          <a:solidFill>
            <a:srgbClr val="0D1B2A"/>
          </a:solidFill>
          <a:ln w="12700">
            <a:solidFill>
              <a:srgbClr val="0D1B2A"/>
            </a:solidFill>
            <a:prstDash val="solid"/>
          </a:ln>
        </p:spPr>
      </p:sp>
      <p:sp>
        <p:nvSpPr>
          <p:cNvPr id="31" name="Text 29"/>
          <p:cNvSpPr/>
          <p:nvPr/>
        </p:nvSpPr>
        <p:spPr>
          <a:xfrm>
            <a:off x="2688336" y="1645920"/>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Topo</a:t>
            </a:r>
            <a:endParaRPr lang="en-US" sz="700" dirty="0"/>
          </a:p>
        </p:txBody>
      </p:sp>
      <p:sp>
        <p:nvSpPr>
          <p:cNvPr id="32" name="Shape 30"/>
          <p:cNvSpPr/>
          <p:nvPr/>
        </p:nvSpPr>
        <p:spPr>
          <a:xfrm>
            <a:off x="3182112" y="1572768"/>
            <a:ext cx="2724912" cy="749808"/>
          </a:xfrm>
          <a:prstGeom prst="rect">
            <a:avLst/>
          </a:prstGeom>
          <a:solidFill>
            <a:srgbClr val="FFFFFF"/>
          </a:solidFill>
          <a:ln w="12700">
            <a:solidFill>
              <a:srgbClr val="0D1B2A"/>
            </a:solidFill>
            <a:prstDash val="solid"/>
          </a:ln>
        </p:spPr>
      </p:sp>
      <p:sp>
        <p:nvSpPr>
          <p:cNvPr id="33" name="Shape 31"/>
          <p:cNvSpPr/>
          <p:nvPr/>
        </p:nvSpPr>
        <p:spPr>
          <a:xfrm>
            <a:off x="3182112" y="1572768"/>
            <a:ext cx="384048" cy="749808"/>
          </a:xfrm>
          <a:prstGeom prst="rect">
            <a:avLst/>
          </a:prstGeom>
          <a:solidFill>
            <a:srgbClr val="0D1B2A"/>
          </a:solidFill>
          <a:ln w="12700">
            <a:solidFill>
              <a:srgbClr val="0D1B2A"/>
            </a:solidFill>
            <a:prstDash val="solid"/>
          </a:ln>
        </p:spPr>
      </p:sp>
      <p:sp>
        <p:nvSpPr>
          <p:cNvPr id="34" name="Text 32"/>
          <p:cNvSpPr/>
          <p:nvPr/>
        </p:nvSpPr>
        <p:spPr>
          <a:xfrm>
            <a:off x="3182112" y="1572768"/>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35" name="Text 33"/>
          <p:cNvSpPr/>
          <p:nvPr/>
        </p:nvSpPr>
        <p:spPr>
          <a:xfrm>
            <a:off x="3639312" y="1645920"/>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TPI</a:t>
            </a:r>
            <a:endParaRPr lang="en-US" sz="1100" dirty="0"/>
          </a:p>
        </p:txBody>
      </p:sp>
      <p:sp>
        <p:nvSpPr>
          <p:cNvPr id="36" name="Text 34"/>
          <p:cNvSpPr/>
          <p:nvPr/>
        </p:nvSpPr>
        <p:spPr>
          <a:xfrm>
            <a:off x="3639312" y="1975104"/>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SRTM</a:t>
            </a:r>
            <a:endParaRPr lang="en-US" sz="900" dirty="0"/>
          </a:p>
        </p:txBody>
      </p:sp>
      <p:sp>
        <p:nvSpPr>
          <p:cNvPr id="37" name="Shape 35"/>
          <p:cNvSpPr/>
          <p:nvPr/>
        </p:nvSpPr>
        <p:spPr>
          <a:xfrm>
            <a:off x="5522976" y="1645920"/>
            <a:ext cx="310896" cy="173736"/>
          </a:xfrm>
          <a:prstGeom prst="rect">
            <a:avLst/>
          </a:prstGeom>
          <a:solidFill>
            <a:srgbClr val="0D1B2A"/>
          </a:solidFill>
          <a:ln w="12700">
            <a:solidFill>
              <a:srgbClr val="0D1B2A"/>
            </a:solidFill>
            <a:prstDash val="solid"/>
          </a:ln>
        </p:spPr>
      </p:sp>
      <p:sp>
        <p:nvSpPr>
          <p:cNvPr id="38" name="Text 36"/>
          <p:cNvSpPr/>
          <p:nvPr/>
        </p:nvSpPr>
        <p:spPr>
          <a:xfrm>
            <a:off x="5522976" y="1645920"/>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Topo</a:t>
            </a:r>
            <a:endParaRPr lang="en-US" sz="700" dirty="0"/>
          </a:p>
        </p:txBody>
      </p:sp>
      <p:sp>
        <p:nvSpPr>
          <p:cNvPr id="39" name="Shape 37"/>
          <p:cNvSpPr/>
          <p:nvPr/>
        </p:nvSpPr>
        <p:spPr>
          <a:xfrm>
            <a:off x="6016752" y="1572768"/>
            <a:ext cx="2724912" cy="749808"/>
          </a:xfrm>
          <a:prstGeom prst="rect">
            <a:avLst/>
          </a:prstGeom>
          <a:solidFill>
            <a:srgbClr val="FFFFFF"/>
          </a:solidFill>
          <a:ln w="12700">
            <a:solidFill>
              <a:srgbClr val="27AE60"/>
            </a:solidFill>
            <a:prstDash val="solid"/>
          </a:ln>
        </p:spPr>
      </p:sp>
      <p:sp>
        <p:nvSpPr>
          <p:cNvPr id="40" name="Shape 38"/>
          <p:cNvSpPr/>
          <p:nvPr/>
        </p:nvSpPr>
        <p:spPr>
          <a:xfrm>
            <a:off x="6016752" y="1572768"/>
            <a:ext cx="384048" cy="749808"/>
          </a:xfrm>
          <a:prstGeom prst="rect">
            <a:avLst/>
          </a:prstGeom>
          <a:solidFill>
            <a:srgbClr val="27AE60"/>
          </a:solidFill>
          <a:ln w="12700">
            <a:solidFill>
              <a:srgbClr val="27AE60"/>
            </a:solidFill>
            <a:prstDash val="solid"/>
          </a:ln>
        </p:spPr>
      </p:sp>
      <p:sp>
        <p:nvSpPr>
          <p:cNvPr id="41" name="Text 39"/>
          <p:cNvSpPr/>
          <p:nvPr/>
        </p:nvSpPr>
        <p:spPr>
          <a:xfrm>
            <a:off x="6016752" y="1572768"/>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42" name="Text 40"/>
          <p:cNvSpPr/>
          <p:nvPr/>
        </p:nvSpPr>
        <p:spPr>
          <a:xfrm>
            <a:off x="6473952" y="1645920"/>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NDVI</a:t>
            </a:r>
            <a:endParaRPr lang="en-US" sz="1100" dirty="0"/>
          </a:p>
        </p:txBody>
      </p:sp>
      <p:sp>
        <p:nvSpPr>
          <p:cNvPr id="43" name="Text 41"/>
          <p:cNvSpPr/>
          <p:nvPr/>
        </p:nvSpPr>
        <p:spPr>
          <a:xfrm>
            <a:off x="6473952" y="1975104"/>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Sentinel-2</a:t>
            </a:r>
            <a:endParaRPr lang="en-US" sz="900" dirty="0"/>
          </a:p>
        </p:txBody>
      </p:sp>
      <p:sp>
        <p:nvSpPr>
          <p:cNvPr id="44" name="Shape 42"/>
          <p:cNvSpPr/>
          <p:nvPr/>
        </p:nvSpPr>
        <p:spPr>
          <a:xfrm>
            <a:off x="8357616" y="1645920"/>
            <a:ext cx="310896" cy="173736"/>
          </a:xfrm>
          <a:prstGeom prst="rect">
            <a:avLst/>
          </a:prstGeom>
          <a:solidFill>
            <a:srgbClr val="27AE60"/>
          </a:solidFill>
          <a:ln w="12700">
            <a:solidFill>
              <a:srgbClr val="27AE60"/>
            </a:solidFill>
            <a:prstDash val="solid"/>
          </a:ln>
        </p:spPr>
      </p:sp>
      <p:sp>
        <p:nvSpPr>
          <p:cNvPr id="45" name="Text 43"/>
          <p:cNvSpPr/>
          <p:nvPr/>
        </p:nvSpPr>
        <p:spPr>
          <a:xfrm>
            <a:off x="8357616" y="1645920"/>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Vege</a:t>
            </a:r>
            <a:endParaRPr lang="en-US" sz="700" dirty="0"/>
          </a:p>
        </p:txBody>
      </p:sp>
      <p:sp>
        <p:nvSpPr>
          <p:cNvPr id="46" name="Shape 44"/>
          <p:cNvSpPr/>
          <p:nvPr/>
        </p:nvSpPr>
        <p:spPr>
          <a:xfrm>
            <a:off x="347472" y="2340864"/>
            <a:ext cx="2724912" cy="749808"/>
          </a:xfrm>
          <a:prstGeom prst="rect">
            <a:avLst/>
          </a:prstGeom>
          <a:solidFill>
            <a:srgbClr val="FFFFFF"/>
          </a:solidFill>
          <a:ln w="12700">
            <a:solidFill>
              <a:srgbClr val="27AE60"/>
            </a:solidFill>
            <a:prstDash val="solid"/>
          </a:ln>
        </p:spPr>
      </p:sp>
      <p:sp>
        <p:nvSpPr>
          <p:cNvPr id="47" name="Shape 45"/>
          <p:cNvSpPr/>
          <p:nvPr/>
        </p:nvSpPr>
        <p:spPr>
          <a:xfrm>
            <a:off x="347472" y="2340864"/>
            <a:ext cx="384048" cy="749808"/>
          </a:xfrm>
          <a:prstGeom prst="rect">
            <a:avLst/>
          </a:prstGeom>
          <a:solidFill>
            <a:srgbClr val="27AE60"/>
          </a:solidFill>
          <a:ln w="12700">
            <a:solidFill>
              <a:srgbClr val="27AE60"/>
            </a:solidFill>
            <a:prstDash val="solid"/>
          </a:ln>
        </p:spPr>
      </p:sp>
      <p:sp>
        <p:nvSpPr>
          <p:cNvPr id="48" name="Text 46"/>
          <p:cNvSpPr/>
          <p:nvPr/>
        </p:nvSpPr>
        <p:spPr>
          <a:xfrm>
            <a:off x="347472" y="2340864"/>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49" name="Text 47"/>
          <p:cNvSpPr/>
          <p:nvPr/>
        </p:nvSpPr>
        <p:spPr>
          <a:xfrm>
            <a:off x="804672" y="2414016"/>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NDWI</a:t>
            </a:r>
            <a:endParaRPr lang="en-US" sz="1100" dirty="0"/>
          </a:p>
        </p:txBody>
      </p:sp>
      <p:sp>
        <p:nvSpPr>
          <p:cNvPr id="50" name="Text 48"/>
          <p:cNvSpPr/>
          <p:nvPr/>
        </p:nvSpPr>
        <p:spPr>
          <a:xfrm>
            <a:off x="804672" y="2743200"/>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Sentinel-2</a:t>
            </a:r>
            <a:endParaRPr lang="en-US" sz="900" dirty="0"/>
          </a:p>
        </p:txBody>
      </p:sp>
      <p:sp>
        <p:nvSpPr>
          <p:cNvPr id="51" name="Shape 49"/>
          <p:cNvSpPr/>
          <p:nvPr/>
        </p:nvSpPr>
        <p:spPr>
          <a:xfrm>
            <a:off x="2688336" y="2414016"/>
            <a:ext cx="310896" cy="173736"/>
          </a:xfrm>
          <a:prstGeom prst="rect">
            <a:avLst/>
          </a:prstGeom>
          <a:solidFill>
            <a:srgbClr val="27AE60"/>
          </a:solidFill>
          <a:ln w="12700">
            <a:solidFill>
              <a:srgbClr val="27AE60"/>
            </a:solidFill>
            <a:prstDash val="solid"/>
          </a:ln>
        </p:spPr>
      </p:sp>
      <p:sp>
        <p:nvSpPr>
          <p:cNvPr id="52" name="Text 50"/>
          <p:cNvSpPr/>
          <p:nvPr/>
        </p:nvSpPr>
        <p:spPr>
          <a:xfrm>
            <a:off x="2688336" y="2414016"/>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Vege</a:t>
            </a:r>
            <a:endParaRPr lang="en-US" sz="700" dirty="0"/>
          </a:p>
        </p:txBody>
      </p:sp>
      <p:sp>
        <p:nvSpPr>
          <p:cNvPr id="53" name="Shape 51"/>
          <p:cNvSpPr/>
          <p:nvPr/>
        </p:nvSpPr>
        <p:spPr>
          <a:xfrm>
            <a:off x="3182112" y="2340864"/>
            <a:ext cx="2724912" cy="749808"/>
          </a:xfrm>
          <a:prstGeom prst="rect">
            <a:avLst/>
          </a:prstGeom>
          <a:solidFill>
            <a:srgbClr val="FFFFFF"/>
          </a:solidFill>
          <a:ln w="12700">
            <a:solidFill>
              <a:srgbClr val="27AE60"/>
            </a:solidFill>
            <a:prstDash val="solid"/>
          </a:ln>
        </p:spPr>
      </p:sp>
      <p:sp>
        <p:nvSpPr>
          <p:cNvPr id="54" name="Shape 52"/>
          <p:cNvSpPr/>
          <p:nvPr/>
        </p:nvSpPr>
        <p:spPr>
          <a:xfrm>
            <a:off x="3182112" y="2340864"/>
            <a:ext cx="384048" cy="749808"/>
          </a:xfrm>
          <a:prstGeom prst="rect">
            <a:avLst/>
          </a:prstGeom>
          <a:solidFill>
            <a:srgbClr val="27AE60"/>
          </a:solidFill>
          <a:ln w="12700">
            <a:solidFill>
              <a:srgbClr val="27AE60"/>
            </a:solidFill>
            <a:prstDash val="solid"/>
          </a:ln>
        </p:spPr>
      </p:sp>
      <p:sp>
        <p:nvSpPr>
          <p:cNvPr id="55" name="Text 53"/>
          <p:cNvSpPr/>
          <p:nvPr/>
        </p:nvSpPr>
        <p:spPr>
          <a:xfrm>
            <a:off x="3182112" y="2340864"/>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56" name="Text 54"/>
          <p:cNvSpPr/>
          <p:nvPr/>
        </p:nvSpPr>
        <p:spPr>
          <a:xfrm>
            <a:off x="3639312" y="2414016"/>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EVI</a:t>
            </a:r>
            <a:endParaRPr lang="en-US" sz="1100" dirty="0"/>
          </a:p>
        </p:txBody>
      </p:sp>
      <p:sp>
        <p:nvSpPr>
          <p:cNvPr id="57" name="Text 55"/>
          <p:cNvSpPr/>
          <p:nvPr/>
        </p:nvSpPr>
        <p:spPr>
          <a:xfrm>
            <a:off x="3639312" y="2743200"/>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Sentinel-2</a:t>
            </a:r>
            <a:endParaRPr lang="en-US" sz="900" dirty="0"/>
          </a:p>
        </p:txBody>
      </p:sp>
      <p:sp>
        <p:nvSpPr>
          <p:cNvPr id="58" name="Shape 56"/>
          <p:cNvSpPr/>
          <p:nvPr/>
        </p:nvSpPr>
        <p:spPr>
          <a:xfrm>
            <a:off x="5522976" y="2414016"/>
            <a:ext cx="310896" cy="173736"/>
          </a:xfrm>
          <a:prstGeom prst="rect">
            <a:avLst/>
          </a:prstGeom>
          <a:solidFill>
            <a:srgbClr val="27AE60"/>
          </a:solidFill>
          <a:ln w="12700">
            <a:solidFill>
              <a:srgbClr val="27AE60"/>
            </a:solidFill>
            <a:prstDash val="solid"/>
          </a:ln>
        </p:spPr>
      </p:sp>
      <p:sp>
        <p:nvSpPr>
          <p:cNvPr id="59" name="Text 57"/>
          <p:cNvSpPr/>
          <p:nvPr/>
        </p:nvSpPr>
        <p:spPr>
          <a:xfrm>
            <a:off x="5522976" y="2414016"/>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Vege</a:t>
            </a:r>
            <a:endParaRPr lang="en-US" sz="700" dirty="0"/>
          </a:p>
        </p:txBody>
      </p:sp>
      <p:sp>
        <p:nvSpPr>
          <p:cNvPr id="60" name="Shape 58"/>
          <p:cNvSpPr/>
          <p:nvPr/>
        </p:nvSpPr>
        <p:spPr>
          <a:xfrm>
            <a:off x="6016752" y="2340864"/>
            <a:ext cx="2724912" cy="749808"/>
          </a:xfrm>
          <a:prstGeom prst="rect">
            <a:avLst/>
          </a:prstGeom>
          <a:solidFill>
            <a:srgbClr val="FFFFFF"/>
          </a:solidFill>
          <a:ln w="12700">
            <a:solidFill>
              <a:srgbClr val="27AE60"/>
            </a:solidFill>
            <a:prstDash val="solid"/>
          </a:ln>
        </p:spPr>
      </p:sp>
      <p:sp>
        <p:nvSpPr>
          <p:cNvPr id="61" name="Shape 59"/>
          <p:cNvSpPr/>
          <p:nvPr/>
        </p:nvSpPr>
        <p:spPr>
          <a:xfrm>
            <a:off x="6016752" y="2340864"/>
            <a:ext cx="384048" cy="749808"/>
          </a:xfrm>
          <a:prstGeom prst="rect">
            <a:avLst/>
          </a:prstGeom>
          <a:solidFill>
            <a:srgbClr val="27AE60"/>
          </a:solidFill>
          <a:ln w="12700">
            <a:solidFill>
              <a:srgbClr val="27AE60"/>
            </a:solidFill>
            <a:prstDash val="solid"/>
          </a:ln>
        </p:spPr>
      </p:sp>
      <p:sp>
        <p:nvSpPr>
          <p:cNvPr id="62" name="Text 60"/>
          <p:cNvSpPr/>
          <p:nvPr/>
        </p:nvSpPr>
        <p:spPr>
          <a:xfrm>
            <a:off x="6016752" y="2340864"/>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63" name="Text 61"/>
          <p:cNvSpPr/>
          <p:nvPr/>
        </p:nvSpPr>
        <p:spPr>
          <a:xfrm>
            <a:off x="6473952" y="2414016"/>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NBR</a:t>
            </a:r>
            <a:endParaRPr lang="en-US" sz="1100" dirty="0"/>
          </a:p>
        </p:txBody>
      </p:sp>
      <p:sp>
        <p:nvSpPr>
          <p:cNvPr id="64" name="Text 62"/>
          <p:cNvSpPr/>
          <p:nvPr/>
        </p:nvSpPr>
        <p:spPr>
          <a:xfrm>
            <a:off x="6473952" y="2743200"/>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Sentinel-2</a:t>
            </a:r>
            <a:endParaRPr lang="en-US" sz="900" dirty="0"/>
          </a:p>
        </p:txBody>
      </p:sp>
      <p:sp>
        <p:nvSpPr>
          <p:cNvPr id="65" name="Shape 63"/>
          <p:cNvSpPr/>
          <p:nvPr/>
        </p:nvSpPr>
        <p:spPr>
          <a:xfrm>
            <a:off x="8357616" y="2414016"/>
            <a:ext cx="310896" cy="173736"/>
          </a:xfrm>
          <a:prstGeom prst="rect">
            <a:avLst/>
          </a:prstGeom>
          <a:solidFill>
            <a:srgbClr val="27AE60"/>
          </a:solidFill>
          <a:ln w="12700">
            <a:solidFill>
              <a:srgbClr val="27AE60"/>
            </a:solidFill>
            <a:prstDash val="solid"/>
          </a:ln>
        </p:spPr>
      </p:sp>
      <p:sp>
        <p:nvSpPr>
          <p:cNvPr id="66" name="Text 64"/>
          <p:cNvSpPr/>
          <p:nvPr/>
        </p:nvSpPr>
        <p:spPr>
          <a:xfrm>
            <a:off x="8357616" y="2414016"/>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Vege</a:t>
            </a:r>
            <a:endParaRPr lang="en-US" sz="700" dirty="0"/>
          </a:p>
        </p:txBody>
      </p:sp>
      <p:sp>
        <p:nvSpPr>
          <p:cNvPr id="67" name="Shape 65"/>
          <p:cNvSpPr/>
          <p:nvPr/>
        </p:nvSpPr>
        <p:spPr>
          <a:xfrm>
            <a:off x="347472" y="3108960"/>
            <a:ext cx="2724912" cy="749808"/>
          </a:xfrm>
          <a:prstGeom prst="rect">
            <a:avLst/>
          </a:prstGeom>
          <a:solidFill>
            <a:srgbClr val="FFFFFF"/>
          </a:solidFill>
          <a:ln w="12700">
            <a:solidFill>
              <a:srgbClr val="F39C12"/>
            </a:solidFill>
            <a:prstDash val="solid"/>
          </a:ln>
        </p:spPr>
      </p:sp>
      <p:sp>
        <p:nvSpPr>
          <p:cNvPr id="68" name="Shape 66"/>
          <p:cNvSpPr/>
          <p:nvPr/>
        </p:nvSpPr>
        <p:spPr>
          <a:xfrm>
            <a:off x="347472" y="3108960"/>
            <a:ext cx="384048" cy="749808"/>
          </a:xfrm>
          <a:prstGeom prst="rect">
            <a:avLst/>
          </a:prstGeom>
          <a:solidFill>
            <a:srgbClr val="F39C12"/>
          </a:solidFill>
          <a:ln w="12700">
            <a:solidFill>
              <a:srgbClr val="F39C12"/>
            </a:solidFill>
            <a:prstDash val="solid"/>
          </a:ln>
        </p:spPr>
      </p:sp>
      <p:sp>
        <p:nvSpPr>
          <p:cNvPr id="69" name="Text 67"/>
          <p:cNvSpPr/>
          <p:nvPr/>
        </p:nvSpPr>
        <p:spPr>
          <a:xfrm>
            <a:off x="347472" y="3108960"/>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70" name="Text 68"/>
          <p:cNvSpPr/>
          <p:nvPr/>
        </p:nvSpPr>
        <p:spPr>
          <a:xfrm>
            <a:off x="804672" y="3182112"/>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Wind Speed</a:t>
            </a:r>
            <a:endParaRPr lang="en-US" sz="1100" dirty="0"/>
          </a:p>
        </p:txBody>
      </p:sp>
      <p:sp>
        <p:nvSpPr>
          <p:cNvPr id="71" name="Text 69"/>
          <p:cNvSpPr/>
          <p:nvPr/>
        </p:nvSpPr>
        <p:spPr>
          <a:xfrm>
            <a:off x="804672" y="3511296"/>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ERA5-Land</a:t>
            </a:r>
            <a:endParaRPr lang="en-US" sz="900" dirty="0"/>
          </a:p>
        </p:txBody>
      </p:sp>
      <p:sp>
        <p:nvSpPr>
          <p:cNvPr id="72" name="Shape 70"/>
          <p:cNvSpPr/>
          <p:nvPr/>
        </p:nvSpPr>
        <p:spPr>
          <a:xfrm>
            <a:off x="2688336" y="3182112"/>
            <a:ext cx="310896" cy="173736"/>
          </a:xfrm>
          <a:prstGeom prst="rect">
            <a:avLst/>
          </a:prstGeom>
          <a:solidFill>
            <a:srgbClr val="F39C12"/>
          </a:solidFill>
          <a:ln w="12700">
            <a:solidFill>
              <a:srgbClr val="F39C12"/>
            </a:solidFill>
            <a:prstDash val="solid"/>
          </a:ln>
        </p:spPr>
      </p:sp>
      <p:sp>
        <p:nvSpPr>
          <p:cNvPr id="73" name="Text 71"/>
          <p:cNvSpPr/>
          <p:nvPr/>
        </p:nvSpPr>
        <p:spPr>
          <a:xfrm>
            <a:off x="2688336" y="3182112"/>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Clim</a:t>
            </a:r>
            <a:endParaRPr lang="en-US" sz="700" dirty="0"/>
          </a:p>
        </p:txBody>
      </p:sp>
      <p:sp>
        <p:nvSpPr>
          <p:cNvPr id="74" name="Shape 72"/>
          <p:cNvSpPr/>
          <p:nvPr/>
        </p:nvSpPr>
        <p:spPr>
          <a:xfrm>
            <a:off x="3182112" y="3108960"/>
            <a:ext cx="2724912" cy="749808"/>
          </a:xfrm>
          <a:prstGeom prst="rect">
            <a:avLst/>
          </a:prstGeom>
          <a:solidFill>
            <a:srgbClr val="FFFFFF"/>
          </a:solidFill>
          <a:ln w="12700">
            <a:solidFill>
              <a:srgbClr val="F39C12"/>
            </a:solidFill>
            <a:prstDash val="solid"/>
          </a:ln>
        </p:spPr>
      </p:sp>
      <p:sp>
        <p:nvSpPr>
          <p:cNvPr id="75" name="Shape 73"/>
          <p:cNvSpPr/>
          <p:nvPr/>
        </p:nvSpPr>
        <p:spPr>
          <a:xfrm>
            <a:off x="3182112" y="3108960"/>
            <a:ext cx="384048" cy="749808"/>
          </a:xfrm>
          <a:prstGeom prst="rect">
            <a:avLst/>
          </a:prstGeom>
          <a:solidFill>
            <a:srgbClr val="F39C12"/>
          </a:solidFill>
          <a:ln w="12700">
            <a:solidFill>
              <a:srgbClr val="F39C12"/>
            </a:solidFill>
            <a:prstDash val="solid"/>
          </a:ln>
        </p:spPr>
      </p:sp>
      <p:sp>
        <p:nvSpPr>
          <p:cNvPr id="76" name="Text 74"/>
          <p:cNvSpPr/>
          <p:nvPr/>
        </p:nvSpPr>
        <p:spPr>
          <a:xfrm>
            <a:off x="3182112" y="3108960"/>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77" name="Text 75"/>
          <p:cNvSpPr/>
          <p:nvPr/>
        </p:nvSpPr>
        <p:spPr>
          <a:xfrm>
            <a:off x="3639312" y="3182112"/>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LST</a:t>
            </a:r>
            <a:endParaRPr lang="en-US" sz="1100" dirty="0"/>
          </a:p>
        </p:txBody>
      </p:sp>
      <p:sp>
        <p:nvSpPr>
          <p:cNvPr id="78" name="Text 76"/>
          <p:cNvSpPr/>
          <p:nvPr/>
        </p:nvSpPr>
        <p:spPr>
          <a:xfrm>
            <a:off x="3639312" y="3511296"/>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Landsat 8</a:t>
            </a:r>
            <a:endParaRPr lang="en-US" sz="900" dirty="0"/>
          </a:p>
        </p:txBody>
      </p:sp>
      <p:sp>
        <p:nvSpPr>
          <p:cNvPr id="79" name="Shape 77"/>
          <p:cNvSpPr/>
          <p:nvPr/>
        </p:nvSpPr>
        <p:spPr>
          <a:xfrm>
            <a:off x="5522976" y="3182112"/>
            <a:ext cx="310896" cy="173736"/>
          </a:xfrm>
          <a:prstGeom prst="rect">
            <a:avLst/>
          </a:prstGeom>
          <a:solidFill>
            <a:srgbClr val="F39C12"/>
          </a:solidFill>
          <a:ln w="12700">
            <a:solidFill>
              <a:srgbClr val="F39C12"/>
            </a:solidFill>
            <a:prstDash val="solid"/>
          </a:ln>
        </p:spPr>
      </p:sp>
      <p:sp>
        <p:nvSpPr>
          <p:cNvPr id="80" name="Text 78"/>
          <p:cNvSpPr/>
          <p:nvPr/>
        </p:nvSpPr>
        <p:spPr>
          <a:xfrm>
            <a:off x="5522976" y="3182112"/>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Clim</a:t>
            </a:r>
            <a:endParaRPr lang="en-US" sz="700" dirty="0"/>
          </a:p>
        </p:txBody>
      </p:sp>
      <p:sp>
        <p:nvSpPr>
          <p:cNvPr id="81" name="Shape 79"/>
          <p:cNvSpPr/>
          <p:nvPr/>
        </p:nvSpPr>
        <p:spPr>
          <a:xfrm>
            <a:off x="6016752" y="3108960"/>
            <a:ext cx="2724912" cy="749808"/>
          </a:xfrm>
          <a:prstGeom prst="rect">
            <a:avLst/>
          </a:prstGeom>
          <a:solidFill>
            <a:srgbClr val="FFFFFF"/>
          </a:solidFill>
          <a:ln w="12700">
            <a:solidFill>
              <a:srgbClr val="F39C12"/>
            </a:solidFill>
            <a:prstDash val="solid"/>
          </a:ln>
        </p:spPr>
      </p:sp>
      <p:sp>
        <p:nvSpPr>
          <p:cNvPr id="82" name="Shape 80"/>
          <p:cNvSpPr/>
          <p:nvPr/>
        </p:nvSpPr>
        <p:spPr>
          <a:xfrm>
            <a:off x="6016752" y="3108960"/>
            <a:ext cx="384048" cy="749808"/>
          </a:xfrm>
          <a:prstGeom prst="rect">
            <a:avLst/>
          </a:prstGeom>
          <a:solidFill>
            <a:srgbClr val="F39C12"/>
          </a:solidFill>
          <a:ln w="12700">
            <a:solidFill>
              <a:srgbClr val="F39C12"/>
            </a:solidFill>
            <a:prstDash val="solid"/>
          </a:ln>
        </p:spPr>
      </p:sp>
      <p:sp>
        <p:nvSpPr>
          <p:cNvPr id="83" name="Text 81"/>
          <p:cNvSpPr/>
          <p:nvPr/>
        </p:nvSpPr>
        <p:spPr>
          <a:xfrm>
            <a:off x="6016752" y="3108960"/>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84" name="Text 82"/>
          <p:cNvSpPr/>
          <p:nvPr/>
        </p:nvSpPr>
        <p:spPr>
          <a:xfrm>
            <a:off x="6473952" y="3182112"/>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Soil Moisture</a:t>
            </a:r>
            <a:endParaRPr lang="en-US" sz="1100" dirty="0"/>
          </a:p>
        </p:txBody>
      </p:sp>
      <p:sp>
        <p:nvSpPr>
          <p:cNvPr id="85" name="Text 83"/>
          <p:cNvSpPr/>
          <p:nvPr/>
        </p:nvSpPr>
        <p:spPr>
          <a:xfrm>
            <a:off x="6473952" y="3511296"/>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NASA SMAP</a:t>
            </a:r>
            <a:endParaRPr lang="en-US" sz="900" dirty="0"/>
          </a:p>
        </p:txBody>
      </p:sp>
      <p:sp>
        <p:nvSpPr>
          <p:cNvPr id="86" name="Shape 84"/>
          <p:cNvSpPr/>
          <p:nvPr/>
        </p:nvSpPr>
        <p:spPr>
          <a:xfrm>
            <a:off x="8357616" y="3182112"/>
            <a:ext cx="310896" cy="173736"/>
          </a:xfrm>
          <a:prstGeom prst="rect">
            <a:avLst/>
          </a:prstGeom>
          <a:solidFill>
            <a:srgbClr val="F39C12"/>
          </a:solidFill>
          <a:ln w="12700">
            <a:solidFill>
              <a:srgbClr val="F39C12"/>
            </a:solidFill>
            <a:prstDash val="solid"/>
          </a:ln>
        </p:spPr>
      </p:sp>
      <p:sp>
        <p:nvSpPr>
          <p:cNvPr id="87" name="Text 85"/>
          <p:cNvSpPr/>
          <p:nvPr/>
        </p:nvSpPr>
        <p:spPr>
          <a:xfrm>
            <a:off x="8357616" y="3182112"/>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Clim</a:t>
            </a:r>
            <a:endParaRPr lang="en-US" sz="700" dirty="0"/>
          </a:p>
        </p:txBody>
      </p:sp>
      <p:sp>
        <p:nvSpPr>
          <p:cNvPr id="88" name="Shape 86"/>
          <p:cNvSpPr/>
          <p:nvPr/>
        </p:nvSpPr>
        <p:spPr>
          <a:xfrm>
            <a:off x="347472" y="3877056"/>
            <a:ext cx="2724912" cy="749808"/>
          </a:xfrm>
          <a:prstGeom prst="rect">
            <a:avLst/>
          </a:prstGeom>
          <a:solidFill>
            <a:srgbClr val="FFFFFF"/>
          </a:solidFill>
          <a:ln w="12700">
            <a:solidFill>
              <a:srgbClr val="C0392B"/>
            </a:solidFill>
            <a:prstDash val="solid"/>
          </a:ln>
        </p:spPr>
      </p:sp>
      <p:sp>
        <p:nvSpPr>
          <p:cNvPr id="89" name="Shape 87"/>
          <p:cNvSpPr/>
          <p:nvPr/>
        </p:nvSpPr>
        <p:spPr>
          <a:xfrm>
            <a:off x="347472" y="3877056"/>
            <a:ext cx="384048" cy="749808"/>
          </a:xfrm>
          <a:prstGeom prst="rect">
            <a:avLst/>
          </a:prstGeom>
          <a:solidFill>
            <a:srgbClr val="C0392B"/>
          </a:solidFill>
          <a:ln w="12700">
            <a:solidFill>
              <a:srgbClr val="C0392B"/>
            </a:solidFill>
            <a:prstDash val="solid"/>
          </a:ln>
        </p:spPr>
      </p:sp>
      <p:sp>
        <p:nvSpPr>
          <p:cNvPr id="90" name="Text 88"/>
          <p:cNvSpPr/>
          <p:nvPr/>
        </p:nvSpPr>
        <p:spPr>
          <a:xfrm>
            <a:off x="347472" y="3877056"/>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91" name="Text 89"/>
          <p:cNvSpPr/>
          <p:nvPr/>
        </p:nvSpPr>
        <p:spPr>
          <a:xfrm>
            <a:off x="804672" y="3950208"/>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Distance to Roads</a:t>
            </a:r>
            <a:endParaRPr lang="en-US" sz="1100" dirty="0"/>
          </a:p>
        </p:txBody>
      </p:sp>
      <p:sp>
        <p:nvSpPr>
          <p:cNvPr id="92" name="Text 90"/>
          <p:cNvSpPr/>
          <p:nvPr/>
        </p:nvSpPr>
        <p:spPr>
          <a:xfrm>
            <a:off x="804672" y="4279392"/>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FAO proxy</a:t>
            </a:r>
            <a:endParaRPr lang="en-US" sz="900" dirty="0"/>
          </a:p>
        </p:txBody>
      </p:sp>
      <p:sp>
        <p:nvSpPr>
          <p:cNvPr id="93" name="Shape 91"/>
          <p:cNvSpPr/>
          <p:nvPr/>
        </p:nvSpPr>
        <p:spPr>
          <a:xfrm>
            <a:off x="2688336" y="3950208"/>
            <a:ext cx="310896" cy="173736"/>
          </a:xfrm>
          <a:prstGeom prst="rect">
            <a:avLst/>
          </a:prstGeom>
          <a:solidFill>
            <a:srgbClr val="C0392B"/>
          </a:solidFill>
          <a:ln w="12700">
            <a:solidFill>
              <a:srgbClr val="C0392B"/>
            </a:solidFill>
            <a:prstDash val="solid"/>
          </a:ln>
        </p:spPr>
      </p:sp>
      <p:sp>
        <p:nvSpPr>
          <p:cNvPr id="94" name="Text 92"/>
          <p:cNvSpPr/>
          <p:nvPr/>
        </p:nvSpPr>
        <p:spPr>
          <a:xfrm>
            <a:off x="2688336" y="3950208"/>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Huma</a:t>
            </a:r>
            <a:endParaRPr lang="en-US" sz="700" dirty="0"/>
          </a:p>
        </p:txBody>
      </p:sp>
      <p:sp>
        <p:nvSpPr>
          <p:cNvPr id="95" name="Shape 93"/>
          <p:cNvSpPr/>
          <p:nvPr/>
        </p:nvSpPr>
        <p:spPr>
          <a:xfrm>
            <a:off x="3182112" y="3877056"/>
            <a:ext cx="2724912" cy="749808"/>
          </a:xfrm>
          <a:prstGeom prst="rect">
            <a:avLst/>
          </a:prstGeom>
          <a:solidFill>
            <a:srgbClr val="FFFFFF"/>
          </a:solidFill>
          <a:ln w="12700">
            <a:solidFill>
              <a:srgbClr val="C0392B"/>
            </a:solidFill>
            <a:prstDash val="solid"/>
          </a:ln>
        </p:spPr>
      </p:sp>
      <p:sp>
        <p:nvSpPr>
          <p:cNvPr id="96" name="Shape 94"/>
          <p:cNvSpPr/>
          <p:nvPr/>
        </p:nvSpPr>
        <p:spPr>
          <a:xfrm>
            <a:off x="3182112" y="3877056"/>
            <a:ext cx="384048" cy="749808"/>
          </a:xfrm>
          <a:prstGeom prst="rect">
            <a:avLst/>
          </a:prstGeom>
          <a:solidFill>
            <a:srgbClr val="C0392B"/>
          </a:solidFill>
          <a:ln w="12700">
            <a:solidFill>
              <a:srgbClr val="C0392B"/>
            </a:solidFill>
            <a:prstDash val="solid"/>
          </a:ln>
        </p:spPr>
      </p:sp>
      <p:sp>
        <p:nvSpPr>
          <p:cNvPr id="97" name="Text 95"/>
          <p:cNvSpPr/>
          <p:nvPr/>
        </p:nvSpPr>
        <p:spPr>
          <a:xfrm>
            <a:off x="3182112" y="3877056"/>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98" name="Text 96"/>
          <p:cNvSpPr/>
          <p:nvPr/>
        </p:nvSpPr>
        <p:spPr>
          <a:xfrm>
            <a:off x="3639312" y="3950208"/>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Distance to Urban</a:t>
            </a:r>
            <a:endParaRPr lang="en-US" sz="1100" dirty="0"/>
          </a:p>
        </p:txBody>
      </p:sp>
      <p:sp>
        <p:nvSpPr>
          <p:cNvPr id="99" name="Text 97"/>
          <p:cNvSpPr/>
          <p:nvPr/>
        </p:nvSpPr>
        <p:spPr>
          <a:xfrm>
            <a:off x="3639312" y="4279392"/>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MODIS LC</a:t>
            </a:r>
            <a:endParaRPr lang="en-US" sz="900" dirty="0"/>
          </a:p>
        </p:txBody>
      </p:sp>
      <p:sp>
        <p:nvSpPr>
          <p:cNvPr id="100" name="Shape 98"/>
          <p:cNvSpPr/>
          <p:nvPr/>
        </p:nvSpPr>
        <p:spPr>
          <a:xfrm>
            <a:off x="5522976" y="3950208"/>
            <a:ext cx="310896" cy="173736"/>
          </a:xfrm>
          <a:prstGeom prst="rect">
            <a:avLst/>
          </a:prstGeom>
          <a:solidFill>
            <a:srgbClr val="C0392B"/>
          </a:solidFill>
          <a:ln w="12700">
            <a:solidFill>
              <a:srgbClr val="C0392B"/>
            </a:solidFill>
            <a:prstDash val="solid"/>
          </a:ln>
        </p:spPr>
      </p:sp>
      <p:sp>
        <p:nvSpPr>
          <p:cNvPr id="101" name="Text 99"/>
          <p:cNvSpPr/>
          <p:nvPr/>
        </p:nvSpPr>
        <p:spPr>
          <a:xfrm>
            <a:off x="5522976" y="3950208"/>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Huma</a:t>
            </a:r>
            <a:endParaRPr lang="en-US" sz="700" dirty="0"/>
          </a:p>
        </p:txBody>
      </p:sp>
      <p:sp>
        <p:nvSpPr>
          <p:cNvPr id="102" name="Shape 100"/>
          <p:cNvSpPr/>
          <p:nvPr/>
        </p:nvSpPr>
        <p:spPr>
          <a:xfrm>
            <a:off x="6016752" y="3877056"/>
            <a:ext cx="2724912" cy="749808"/>
          </a:xfrm>
          <a:prstGeom prst="rect">
            <a:avLst/>
          </a:prstGeom>
          <a:solidFill>
            <a:srgbClr val="FFFFFF"/>
          </a:solidFill>
          <a:ln w="12700">
            <a:solidFill>
              <a:srgbClr val="F39C12"/>
            </a:solidFill>
            <a:prstDash val="solid"/>
          </a:ln>
        </p:spPr>
      </p:sp>
      <p:sp>
        <p:nvSpPr>
          <p:cNvPr id="103" name="Shape 101"/>
          <p:cNvSpPr/>
          <p:nvPr/>
        </p:nvSpPr>
        <p:spPr>
          <a:xfrm>
            <a:off x="6016752" y="3877056"/>
            <a:ext cx="384048" cy="749808"/>
          </a:xfrm>
          <a:prstGeom prst="rect">
            <a:avLst/>
          </a:prstGeom>
          <a:solidFill>
            <a:srgbClr val="F39C12"/>
          </a:solidFill>
          <a:ln w="12700">
            <a:solidFill>
              <a:srgbClr val="F39C12"/>
            </a:solidFill>
            <a:prstDash val="solid"/>
          </a:ln>
        </p:spPr>
      </p:sp>
      <p:sp>
        <p:nvSpPr>
          <p:cNvPr id="104" name="Text 102"/>
          <p:cNvSpPr/>
          <p:nvPr/>
        </p:nvSpPr>
        <p:spPr>
          <a:xfrm>
            <a:off x="6016752" y="3877056"/>
            <a:ext cx="384048" cy="7498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105" name="Text 103"/>
          <p:cNvSpPr/>
          <p:nvPr/>
        </p:nvSpPr>
        <p:spPr>
          <a:xfrm>
            <a:off x="6473952" y="3950208"/>
            <a:ext cx="2029968"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Annual Rainfall</a:t>
            </a:r>
            <a:endParaRPr lang="en-US" sz="1100" dirty="0"/>
          </a:p>
        </p:txBody>
      </p:sp>
      <p:sp>
        <p:nvSpPr>
          <p:cNvPr id="106" name="Text 104"/>
          <p:cNvSpPr/>
          <p:nvPr/>
        </p:nvSpPr>
        <p:spPr>
          <a:xfrm>
            <a:off x="6473952" y="4279392"/>
            <a:ext cx="182880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CHIRPS</a:t>
            </a:r>
            <a:endParaRPr lang="en-US" sz="900" dirty="0"/>
          </a:p>
        </p:txBody>
      </p:sp>
      <p:sp>
        <p:nvSpPr>
          <p:cNvPr id="107" name="Shape 105"/>
          <p:cNvSpPr/>
          <p:nvPr/>
        </p:nvSpPr>
        <p:spPr>
          <a:xfrm>
            <a:off x="8357616" y="3950208"/>
            <a:ext cx="310896" cy="173736"/>
          </a:xfrm>
          <a:prstGeom prst="rect">
            <a:avLst/>
          </a:prstGeom>
          <a:solidFill>
            <a:srgbClr val="F39C12"/>
          </a:solidFill>
          <a:ln w="12700">
            <a:solidFill>
              <a:srgbClr val="F39C12"/>
            </a:solidFill>
            <a:prstDash val="solid"/>
          </a:ln>
        </p:spPr>
      </p:sp>
      <p:sp>
        <p:nvSpPr>
          <p:cNvPr id="108" name="Text 106"/>
          <p:cNvSpPr/>
          <p:nvPr/>
        </p:nvSpPr>
        <p:spPr>
          <a:xfrm>
            <a:off x="8357616" y="3950208"/>
            <a:ext cx="310896" cy="17373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Clim</a:t>
            </a:r>
            <a:endParaRPr lang="en-US" sz="700" dirty="0"/>
          </a:p>
        </p:txBody>
      </p:sp>
      <p:sp>
        <p:nvSpPr>
          <p:cNvPr id="109" name="Shape 107"/>
          <p:cNvSpPr/>
          <p:nvPr/>
        </p:nvSpPr>
        <p:spPr>
          <a:xfrm>
            <a:off x="0" y="4892040"/>
            <a:ext cx="9144000" cy="251460"/>
          </a:xfrm>
          <a:prstGeom prst="rect">
            <a:avLst/>
          </a:prstGeom>
          <a:solidFill>
            <a:srgbClr val="0D1B2A"/>
          </a:solidFill>
          <a:ln w="12700">
            <a:solidFill>
              <a:srgbClr val="0D1B2A"/>
            </a:solidFill>
            <a:prstDash val="solid"/>
          </a:ln>
        </p:spPr>
      </p:sp>
      <p:sp>
        <p:nvSpPr>
          <p:cNvPr id="110" name="Text 108"/>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111" name="Text 109"/>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§5  Methodology — Machine Learning Pipeline</a:t>
            </a:r>
            <a:endParaRPr lang="en-US" sz="2800" dirty="0"/>
          </a:p>
        </p:txBody>
      </p:sp>
      <p:sp>
        <p:nvSpPr>
          <p:cNvPr id="4" name="Shape 2"/>
          <p:cNvSpPr/>
          <p:nvPr/>
        </p:nvSpPr>
        <p:spPr>
          <a:xfrm>
            <a:off x="365760" y="822960"/>
            <a:ext cx="8412480" cy="658368"/>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48640" y="822960"/>
            <a:ext cx="8046720" cy="658368"/>
          </a:xfrm>
          <a:prstGeom prst="rect">
            <a:avLst/>
          </a:prstGeom>
          <a:noFill/>
          <a:ln/>
        </p:spPr>
        <p:txBody>
          <a:bodyPr wrap="square"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Train / Test Split: 80 / 20  |  Train: 260 samples  |  Test: 66 samples  |  Stratified  |  random_state=42</a:t>
            </a:r>
            <a:endParaRPr lang="en-US" sz="1300" dirty="0"/>
          </a:p>
        </p:txBody>
      </p:sp>
      <p:sp>
        <p:nvSpPr>
          <p:cNvPr id="6" name="Shape 4"/>
          <p:cNvSpPr/>
          <p:nvPr/>
        </p:nvSpPr>
        <p:spPr>
          <a:xfrm>
            <a:off x="365760" y="1572768"/>
            <a:ext cx="2715768" cy="2999232"/>
          </a:xfrm>
          <a:prstGeom prst="rect">
            <a:avLst/>
          </a:prstGeom>
          <a:solidFill>
            <a:srgbClr val="FFFFFF"/>
          </a:solidFill>
          <a:ln w="25400">
            <a:solidFill>
              <a:srgbClr val="27AE60"/>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572768"/>
            <a:ext cx="2715768" cy="457200"/>
          </a:xfrm>
          <a:prstGeom prst="rect">
            <a:avLst/>
          </a:prstGeom>
          <a:solidFill>
            <a:srgbClr val="27AE60"/>
          </a:solidFill>
          <a:ln w="12700">
            <a:solidFill>
              <a:srgbClr val="27AE60"/>
            </a:solidFill>
            <a:prstDash val="solid"/>
          </a:ln>
        </p:spPr>
      </p:sp>
      <p:sp>
        <p:nvSpPr>
          <p:cNvPr id="8" name="Text 6"/>
          <p:cNvSpPr/>
          <p:nvPr/>
        </p:nvSpPr>
        <p:spPr>
          <a:xfrm>
            <a:off x="365760" y="1572768"/>
            <a:ext cx="271576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p:txBody>
      </p:sp>
      <p:sp>
        <p:nvSpPr>
          <p:cNvPr id="9" name="Shape 7"/>
          <p:cNvSpPr/>
          <p:nvPr/>
        </p:nvSpPr>
        <p:spPr>
          <a:xfrm>
            <a:off x="402336" y="2084832"/>
            <a:ext cx="2642616" cy="365760"/>
          </a:xfrm>
          <a:prstGeom prst="rect">
            <a:avLst/>
          </a:prstGeom>
          <a:solidFill>
            <a:srgbClr val="F7F9FC"/>
          </a:solidFill>
          <a:ln w="3810">
            <a:solidFill>
              <a:srgbClr val="E8EEF4"/>
            </a:solidFill>
            <a:prstDash val="solid"/>
          </a:ln>
        </p:spPr>
      </p:sp>
      <p:sp>
        <p:nvSpPr>
          <p:cNvPr id="10" name="Text 8"/>
          <p:cNvSpPr/>
          <p:nvPr/>
        </p:nvSpPr>
        <p:spPr>
          <a:xfrm>
            <a:off x="457200" y="208483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n_estimators = 200</a:t>
            </a:r>
            <a:endParaRPr lang="en-US" sz="1000" dirty="0"/>
          </a:p>
        </p:txBody>
      </p:sp>
      <p:sp>
        <p:nvSpPr>
          <p:cNvPr id="11" name="Shape 9"/>
          <p:cNvSpPr/>
          <p:nvPr/>
        </p:nvSpPr>
        <p:spPr>
          <a:xfrm>
            <a:off x="402336" y="2459736"/>
            <a:ext cx="2642616" cy="365760"/>
          </a:xfrm>
          <a:prstGeom prst="rect">
            <a:avLst/>
          </a:prstGeom>
          <a:solidFill>
            <a:srgbClr val="FFFFFF"/>
          </a:solidFill>
          <a:ln w="3810">
            <a:solidFill>
              <a:srgbClr val="E8EEF4"/>
            </a:solidFill>
            <a:prstDash val="solid"/>
          </a:ln>
        </p:spPr>
      </p:sp>
      <p:sp>
        <p:nvSpPr>
          <p:cNvPr id="12" name="Text 10"/>
          <p:cNvSpPr/>
          <p:nvPr/>
        </p:nvSpPr>
        <p:spPr>
          <a:xfrm>
            <a:off x="457200" y="2459736"/>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max_depth = 15</a:t>
            </a:r>
            <a:endParaRPr lang="en-US" sz="1000" dirty="0"/>
          </a:p>
        </p:txBody>
      </p:sp>
      <p:sp>
        <p:nvSpPr>
          <p:cNvPr id="13" name="Shape 11"/>
          <p:cNvSpPr/>
          <p:nvPr/>
        </p:nvSpPr>
        <p:spPr>
          <a:xfrm>
            <a:off x="402336" y="2834640"/>
            <a:ext cx="2642616" cy="365760"/>
          </a:xfrm>
          <a:prstGeom prst="rect">
            <a:avLst/>
          </a:prstGeom>
          <a:solidFill>
            <a:srgbClr val="F7F9FC"/>
          </a:solidFill>
          <a:ln w="3810">
            <a:solidFill>
              <a:srgbClr val="E8EEF4"/>
            </a:solidFill>
            <a:prstDash val="solid"/>
          </a:ln>
        </p:spPr>
      </p:sp>
      <p:sp>
        <p:nvSpPr>
          <p:cNvPr id="14" name="Text 12"/>
          <p:cNvSpPr/>
          <p:nvPr/>
        </p:nvSpPr>
        <p:spPr>
          <a:xfrm>
            <a:off x="457200" y="2834640"/>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min_samples_split = 4</a:t>
            </a:r>
            <a:endParaRPr lang="en-US" sz="1000" dirty="0"/>
          </a:p>
        </p:txBody>
      </p:sp>
      <p:sp>
        <p:nvSpPr>
          <p:cNvPr id="15" name="Shape 13"/>
          <p:cNvSpPr/>
          <p:nvPr/>
        </p:nvSpPr>
        <p:spPr>
          <a:xfrm>
            <a:off x="402336" y="3209544"/>
            <a:ext cx="2642616" cy="365760"/>
          </a:xfrm>
          <a:prstGeom prst="rect">
            <a:avLst/>
          </a:prstGeom>
          <a:solidFill>
            <a:srgbClr val="FFFFFF"/>
          </a:solidFill>
          <a:ln w="3810">
            <a:solidFill>
              <a:srgbClr val="E8EEF4"/>
            </a:solidFill>
            <a:prstDash val="solid"/>
          </a:ln>
        </p:spPr>
      </p:sp>
      <p:sp>
        <p:nvSpPr>
          <p:cNvPr id="16" name="Text 14"/>
          <p:cNvSpPr/>
          <p:nvPr/>
        </p:nvSpPr>
        <p:spPr>
          <a:xfrm>
            <a:off x="457200" y="3209544"/>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max_features = 'sqrt'</a:t>
            </a:r>
            <a:endParaRPr lang="en-US" sz="1000" dirty="0"/>
          </a:p>
        </p:txBody>
      </p:sp>
      <p:sp>
        <p:nvSpPr>
          <p:cNvPr id="17" name="Shape 15"/>
          <p:cNvSpPr/>
          <p:nvPr/>
        </p:nvSpPr>
        <p:spPr>
          <a:xfrm>
            <a:off x="402336" y="3584448"/>
            <a:ext cx="2642616" cy="365760"/>
          </a:xfrm>
          <a:prstGeom prst="rect">
            <a:avLst/>
          </a:prstGeom>
          <a:solidFill>
            <a:srgbClr val="F7F9FC"/>
          </a:solidFill>
          <a:ln w="3810">
            <a:solidFill>
              <a:srgbClr val="E8EEF4"/>
            </a:solidFill>
            <a:prstDash val="solid"/>
          </a:ln>
        </p:spPr>
      </p:sp>
      <p:sp>
        <p:nvSpPr>
          <p:cNvPr id="18" name="Text 16"/>
          <p:cNvSpPr/>
          <p:nvPr/>
        </p:nvSpPr>
        <p:spPr>
          <a:xfrm>
            <a:off x="457200" y="3584448"/>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No scaling required</a:t>
            </a:r>
            <a:endParaRPr lang="en-US" sz="1000" dirty="0"/>
          </a:p>
        </p:txBody>
      </p:sp>
      <p:sp>
        <p:nvSpPr>
          <p:cNvPr id="19" name="Shape 17"/>
          <p:cNvSpPr/>
          <p:nvPr/>
        </p:nvSpPr>
        <p:spPr>
          <a:xfrm>
            <a:off x="402336" y="3959352"/>
            <a:ext cx="2642616" cy="365760"/>
          </a:xfrm>
          <a:prstGeom prst="rect">
            <a:avLst/>
          </a:prstGeom>
          <a:solidFill>
            <a:srgbClr val="FFFFFF"/>
          </a:solidFill>
          <a:ln w="3810">
            <a:solidFill>
              <a:srgbClr val="E8EEF4"/>
            </a:solidFill>
            <a:prstDash val="solid"/>
          </a:ln>
        </p:spPr>
      </p:sp>
      <p:sp>
        <p:nvSpPr>
          <p:cNvPr id="20" name="Text 18"/>
          <p:cNvSpPr/>
          <p:nvPr/>
        </p:nvSpPr>
        <p:spPr>
          <a:xfrm>
            <a:off x="457200" y="395935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n_jobs = -1</a:t>
            </a:r>
            <a:endParaRPr lang="en-US" sz="1000" dirty="0"/>
          </a:p>
        </p:txBody>
      </p:sp>
      <p:sp>
        <p:nvSpPr>
          <p:cNvPr id="21" name="Shape 19"/>
          <p:cNvSpPr/>
          <p:nvPr/>
        </p:nvSpPr>
        <p:spPr>
          <a:xfrm>
            <a:off x="3218688" y="1572768"/>
            <a:ext cx="2715768" cy="2999232"/>
          </a:xfrm>
          <a:prstGeom prst="rect">
            <a:avLst/>
          </a:prstGeom>
          <a:solidFill>
            <a:srgbClr val="FFFFFF"/>
          </a:solidFill>
          <a:ln w="25400">
            <a:solidFill>
              <a:srgbClr val="F39C12"/>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3218688" y="1572768"/>
            <a:ext cx="2715768" cy="457200"/>
          </a:xfrm>
          <a:prstGeom prst="rect">
            <a:avLst/>
          </a:prstGeom>
          <a:solidFill>
            <a:srgbClr val="F39C12"/>
          </a:solidFill>
          <a:ln w="12700">
            <a:solidFill>
              <a:srgbClr val="F39C12"/>
            </a:solidFill>
            <a:prstDash val="solid"/>
          </a:ln>
        </p:spPr>
      </p:sp>
      <p:sp>
        <p:nvSpPr>
          <p:cNvPr id="23" name="Text 21"/>
          <p:cNvSpPr/>
          <p:nvPr/>
        </p:nvSpPr>
        <p:spPr>
          <a:xfrm>
            <a:off x="3218688" y="1572768"/>
            <a:ext cx="271576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XGBoost ★ BEST</a:t>
            </a:r>
            <a:endParaRPr lang="en-US" sz="1300" dirty="0"/>
          </a:p>
        </p:txBody>
      </p:sp>
      <p:sp>
        <p:nvSpPr>
          <p:cNvPr id="24" name="Shape 22"/>
          <p:cNvSpPr/>
          <p:nvPr/>
        </p:nvSpPr>
        <p:spPr>
          <a:xfrm>
            <a:off x="3255264" y="2084832"/>
            <a:ext cx="2642616" cy="365760"/>
          </a:xfrm>
          <a:prstGeom prst="rect">
            <a:avLst/>
          </a:prstGeom>
          <a:solidFill>
            <a:srgbClr val="F7F9FC"/>
          </a:solidFill>
          <a:ln w="3810">
            <a:solidFill>
              <a:srgbClr val="E8EEF4"/>
            </a:solidFill>
            <a:prstDash val="solid"/>
          </a:ln>
        </p:spPr>
      </p:sp>
      <p:sp>
        <p:nvSpPr>
          <p:cNvPr id="25" name="Text 23"/>
          <p:cNvSpPr/>
          <p:nvPr/>
        </p:nvSpPr>
        <p:spPr>
          <a:xfrm>
            <a:off x="3310128" y="208483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n_estimators = 200</a:t>
            </a:r>
            <a:endParaRPr lang="en-US" sz="1000" dirty="0"/>
          </a:p>
        </p:txBody>
      </p:sp>
      <p:sp>
        <p:nvSpPr>
          <p:cNvPr id="26" name="Shape 24"/>
          <p:cNvSpPr/>
          <p:nvPr/>
        </p:nvSpPr>
        <p:spPr>
          <a:xfrm>
            <a:off x="3255264" y="2459736"/>
            <a:ext cx="2642616" cy="365760"/>
          </a:xfrm>
          <a:prstGeom prst="rect">
            <a:avLst/>
          </a:prstGeom>
          <a:solidFill>
            <a:srgbClr val="FFFFFF"/>
          </a:solidFill>
          <a:ln w="3810">
            <a:solidFill>
              <a:srgbClr val="E8EEF4"/>
            </a:solidFill>
            <a:prstDash val="solid"/>
          </a:ln>
        </p:spPr>
      </p:sp>
      <p:sp>
        <p:nvSpPr>
          <p:cNvPr id="27" name="Text 25"/>
          <p:cNvSpPr/>
          <p:nvPr/>
        </p:nvSpPr>
        <p:spPr>
          <a:xfrm>
            <a:off x="3310128" y="2459736"/>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learning_rate = 0.05</a:t>
            </a:r>
            <a:endParaRPr lang="en-US" sz="1000" dirty="0"/>
          </a:p>
        </p:txBody>
      </p:sp>
      <p:sp>
        <p:nvSpPr>
          <p:cNvPr id="28" name="Shape 26"/>
          <p:cNvSpPr/>
          <p:nvPr/>
        </p:nvSpPr>
        <p:spPr>
          <a:xfrm>
            <a:off x="3255264" y="2834640"/>
            <a:ext cx="2642616" cy="365760"/>
          </a:xfrm>
          <a:prstGeom prst="rect">
            <a:avLst/>
          </a:prstGeom>
          <a:solidFill>
            <a:srgbClr val="F7F9FC"/>
          </a:solidFill>
          <a:ln w="3810">
            <a:solidFill>
              <a:srgbClr val="E8EEF4"/>
            </a:solidFill>
            <a:prstDash val="solid"/>
          </a:ln>
        </p:spPr>
      </p:sp>
      <p:sp>
        <p:nvSpPr>
          <p:cNvPr id="29" name="Text 27"/>
          <p:cNvSpPr/>
          <p:nvPr/>
        </p:nvSpPr>
        <p:spPr>
          <a:xfrm>
            <a:off x="3310128" y="2834640"/>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max_depth = 7</a:t>
            </a:r>
            <a:endParaRPr lang="en-US" sz="1000" dirty="0"/>
          </a:p>
        </p:txBody>
      </p:sp>
      <p:sp>
        <p:nvSpPr>
          <p:cNvPr id="30" name="Shape 28"/>
          <p:cNvSpPr/>
          <p:nvPr/>
        </p:nvSpPr>
        <p:spPr>
          <a:xfrm>
            <a:off x="3255264" y="3209544"/>
            <a:ext cx="2642616" cy="365760"/>
          </a:xfrm>
          <a:prstGeom prst="rect">
            <a:avLst/>
          </a:prstGeom>
          <a:solidFill>
            <a:srgbClr val="FFFFFF"/>
          </a:solidFill>
          <a:ln w="3810">
            <a:solidFill>
              <a:srgbClr val="E8EEF4"/>
            </a:solidFill>
            <a:prstDash val="solid"/>
          </a:ln>
        </p:spPr>
      </p:sp>
      <p:sp>
        <p:nvSpPr>
          <p:cNvPr id="31" name="Text 29"/>
          <p:cNvSpPr/>
          <p:nvPr/>
        </p:nvSpPr>
        <p:spPr>
          <a:xfrm>
            <a:off x="3310128" y="3209544"/>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colsample_bytree = 0.8</a:t>
            </a:r>
            <a:endParaRPr lang="en-US" sz="1000" dirty="0"/>
          </a:p>
        </p:txBody>
      </p:sp>
      <p:sp>
        <p:nvSpPr>
          <p:cNvPr id="32" name="Shape 30"/>
          <p:cNvSpPr/>
          <p:nvPr/>
        </p:nvSpPr>
        <p:spPr>
          <a:xfrm>
            <a:off x="3255264" y="3584448"/>
            <a:ext cx="2642616" cy="365760"/>
          </a:xfrm>
          <a:prstGeom prst="rect">
            <a:avLst/>
          </a:prstGeom>
          <a:solidFill>
            <a:srgbClr val="F7F9FC"/>
          </a:solidFill>
          <a:ln w="3810">
            <a:solidFill>
              <a:srgbClr val="E8EEF4"/>
            </a:solidFill>
            <a:prstDash val="solid"/>
          </a:ln>
        </p:spPr>
      </p:sp>
      <p:sp>
        <p:nvSpPr>
          <p:cNvPr id="33" name="Text 31"/>
          <p:cNvSpPr/>
          <p:nvPr/>
        </p:nvSpPr>
        <p:spPr>
          <a:xfrm>
            <a:off x="3310128" y="3584448"/>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subsample = 0.8</a:t>
            </a:r>
            <a:endParaRPr lang="en-US" sz="1000" dirty="0"/>
          </a:p>
        </p:txBody>
      </p:sp>
      <p:sp>
        <p:nvSpPr>
          <p:cNvPr id="34" name="Shape 32"/>
          <p:cNvSpPr/>
          <p:nvPr/>
        </p:nvSpPr>
        <p:spPr>
          <a:xfrm>
            <a:off x="3255264" y="3959352"/>
            <a:ext cx="2642616" cy="365760"/>
          </a:xfrm>
          <a:prstGeom prst="rect">
            <a:avLst/>
          </a:prstGeom>
          <a:solidFill>
            <a:srgbClr val="FFFFFF"/>
          </a:solidFill>
          <a:ln w="3810">
            <a:solidFill>
              <a:srgbClr val="E8EEF4"/>
            </a:solidFill>
            <a:prstDash val="solid"/>
          </a:ln>
        </p:spPr>
      </p:sp>
      <p:sp>
        <p:nvSpPr>
          <p:cNvPr id="35" name="Text 33"/>
          <p:cNvSpPr/>
          <p:nvPr/>
        </p:nvSpPr>
        <p:spPr>
          <a:xfrm>
            <a:off x="3310128" y="395935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scale_pos_weight = 6</a:t>
            </a:r>
            <a:endParaRPr lang="en-US" sz="1000" dirty="0"/>
          </a:p>
        </p:txBody>
      </p:sp>
      <p:sp>
        <p:nvSpPr>
          <p:cNvPr id="36" name="Shape 34"/>
          <p:cNvSpPr/>
          <p:nvPr/>
        </p:nvSpPr>
        <p:spPr>
          <a:xfrm>
            <a:off x="6071616" y="1572768"/>
            <a:ext cx="2715768" cy="2999232"/>
          </a:xfrm>
          <a:prstGeom prst="rect">
            <a:avLst/>
          </a:prstGeom>
          <a:solidFill>
            <a:srgbClr val="FFFFFF"/>
          </a:solidFill>
          <a:ln w="25400">
            <a:solidFill>
              <a:srgbClr val="C0392B"/>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6071616" y="1572768"/>
            <a:ext cx="2715768" cy="457200"/>
          </a:xfrm>
          <a:prstGeom prst="rect">
            <a:avLst/>
          </a:prstGeom>
          <a:solidFill>
            <a:srgbClr val="C0392B"/>
          </a:solidFill>
          <a:ln w="12700">
            <a:solidFill>
              <a:srgbClr val="C0392B"/>
            </a:solidFill>
            <a:prstDash val="solid"/>
          </a:ln>
        </p:spPr>
      </p:sp>
      <p:sp>
        <p:nvSpPr>
          <p:cNvPr id="38" name="Text 36"/>
          <p:cNvSpPr/>
          <p:nvPr/>
        </p:nvSpPr>
        <p:spPr>
          <a:xfrm>
            <a:off x="6071616" y="1572768"/>
            <a:ext cx="271576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 (RBF)</a:t>
            </a:r>
            <a:endParaRPr lang="en-US" sz="1300" dirty="0"/>
          </a:p>
        </p:txBody>
      </p:sp>
      <p:sp>
        <p:nvSpPr>
          <p:cNvPr id="39" name="Shape 37"/>
          <p:cNvSpPr/>
          <p:nvPr/>
        </p:nvSpPr>
        <p:spPr>
          <a:xfrm>
            <a:off x="6108192" y="2084832"/>
            <a:ext cx="2642616" cy="365760"/>
          </a:xfrm>
          <a:prstGeom prst="rect">
            <a:avLst/>
          </a:prstGeom>
          <a:solidFill>
            <a:srgbClr val="F7F9FC"/>
          </a:solidFill>
          <a:ln w="3810">
            <a:solidFill>
              <a:srgbClr val="E8EEF4"/>
            </a:solidFill>
            <a:prstDash val="solid"/>
          </a:ln>
        </p:spPr>
      </p:sp>
      <p:sp>
        <p:nvSpPr>
          <p:cNvPr id="40" name="Text 38"/>
          <p:cNvSpPr/>
          <p:nvPr/>
        </p:nvSpPr>
        <p:spPr>
          <a:xfrm>
            <a:off x="6163056" y="208483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kernel = 'rbf'</a:t>
            </a:r>
            <a:endParaRPr lang="en-US" sz="1000" dirty="0"/>
          </a:p>
        </p:txBody>
      </p:sp>
      <p:sp>
        <p:nvSpPr>
          <p:cNvPr id="41" name="Shape 39"/>
          <p:cNvSpPr/>
          <p:nvPr/>
        </p:nvSpPr>
        <p:spPr>
          <a:xfrm>
            <a:off x="6108192" y="2459736"/>
            <a:ext cx="2642616" cy="365760"/>
          </a:xfrm>
          <a:prstGeom prst="rect">
            <a:avLst/>
          </a:prstGeom>
          <a:solidFill>
            <a:srgbClr val="FFFFFF"/>
          </a:solidFill>
          <a:ln w="3810">
            <a:solidFill>
              <a:srgbClr val="E8EEF4"/>
            </a:solidFill>
            <a:prstDash val="solid"/>
          </a:ln>
        </p:spPr>
      </p:sp>
      <p:sp>
        <p:nvSpPr>
          <p:cNvPr id="42" name="Text 40"/>
          <p:cNvSpPr/>
          <p:nvPr/>
        </p:nvSpPr>
        <p:spPr>
          <a:xfrm>
            <a:off x="6163056" y="2459736"/>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C = 10.0</a:t>
            </a:r>
            <a:endParaRPr lang="en-US" sz="1000" dirty="0"/>
          </a:p>
        </p:txBody>
      </p:sp>
      <p:sp>
        <p:nvSpPr>
          <p:cNvPr id="43" name="Shape 41"/>
          <p:cNvSpPr/>
          <p:nvPr/>
        </p:nvSpPr>
        <p:spPr>
          <a:xfrm>
            <a:off x="6108192" y="2834640"/>
            <a:ext cx="2642616" cy="365760"/>
          </a:xfrm>
          <a:prstGeom prst="rect">
            <a:avLst/>
          </a:prstGeom>
          <a:solidFill>
            <a:srgbClr val="F7F9FC"/>
          </a:solidFill>
          <a:ln w="3810">
            <a:solidFill>
              <a:srgbClr val="E8EEF4"/>
            </a:solidFill>
            <a:prstDash val="solid"/>
          </a:ln>
        </p:spPr>
      </p:sp>
      <p:sp>
        <p:nvSpPr>
          <p:cNvPr id="44" name="Text 42"/>
          <p:cNvSpPr/>
          <p:nvPr/>
        </p:nvSpPr>
        <p:spPr>
          <a:xfrm>
            <a:off x="6163056" y="2834640"/>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gamma = 0.01</a:t>
            </a:r>
            <a:endParaRPr lang="en-US" sz="1000" dirty="0"/>
          </a:p>
        </p:txBody>
      </p:sp>
      <p:sp>
        <p:nvSpPr>
          <p:cNvPr id="45" name="Shape 43"/>
          <p:cNvSpPr/>
          <p:nvPr/>
        </p:nvSpPr>
        <p:spPr>
          <a:xfrm>
            <a:off x="6108192" y="3209544"/>
            <a:ext cx="2642616" cy="365760"/>
          </a:xfrm>
          <a:prstGeom prst="rect">
            <a:avLst/>
          </a:prstGeom>
          <a:solidFill>
            <a:srgbClr val="FFFFFF"/>
          </a:solidFill>
          <a:ln w="3810">
            <a:solidFill>
              <a:srgbClr val="E8EEF4"/>
            </a:solidFill>
            <a:prstDash val="solid"/>
          </a:ln>
        </p:spPr>
      </p:sp>
      <p:sp>
        <p:nvSpPr>
          <p:cNvPr id="46" name="Text 44"/>
          <p:cNvSpPr/>
          <p:nvPr/>
        </p:nvSpPr>
        <p:spPr>
          <a:xfrm>
            <a:off x="6163056" y="3209544"/>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StandardScaler applied</a:t>
            </a:r>
            <a:endParaRPr lang="en-US" sz="1000" dirty="0"/>
          </a:p>
        </p:txBody>
      </p:sp>
      <p:sp>
        <p:nvSpPr>
          <p:cNvPr id="47" name="Shape 45"/>
          <p:cNvSpPr/>
          <p:nvPr/>
        </p:nvSpPr>
        <p:spPr>
          <a:xfrm>
            <a:off x="6108192" y="3584448"/>
            <a:ext cx="2642616" cy="365760"/>
          </a:xfrm>
          <a:prstGeom prst="rect">
            <a:avLst/>
          </a:prstGeom>
          <a:solidFill>
            <a:srgbClr val="F7F9FC"/>
          </a:solidFill>
          <a:ln w="3810">
            <a:solidFill>
              <a:srgbClr val="E8EEF4"/>
            </a:solidFill>
            <a:prstDash val="solid"/>
          </a:ln>
        </p:spPr>
      </p:sp>
      <p:sp>
        <p:nvSpPr>
          <p:cNvPr id="48" name="Text 46"/>
          <p:cNvSpPr/>
          <p:nvPr/>
        </p:nvSpPr>
        <p:spPr>
          <a:xfrm>
            <a:off x="6163056" y="3584448"/>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probability = True</a:t>
            </a:r>
            <a:endParaRPr lang="en-US" sz="1000" dirty="0"/>
          </a:p>
        </p:txBody>
      </p:sp>
      <p:sp>
        <p:nvSpPr>
          <p:cNvPr id="49" name="Shape 47"/>
          <p:cNvSpPr/>
          <p:nvPr/>
        </p:nvSpPr>
        <p:spPr>
          <a:xfrm>
            <a:off x="6108192" y="3959352"/>
            <a:ext cx="2642616" cy="365760"/>
          </a:xfrm>
          <a:prstGeom prst="rect">
            <a:avLst/>
          </a:prstGeom>
          <a:solidFill>
            <a:srgbClr val="FFFFFF"/>
          </a:solidFill>
          <a:ln w="3810">
            <a:solidFill>
              <a:srgbClr val="E8EEF4"/>
            </a:solidFill>
            <a:prstDash val="solid"/>
          </a:ln>
        </p:spPr>
      </p:sp>
      <p:sp>
        <p:nvSpPr>
          <p:cNvPr id="50" name="Text 48"/>
          <p:cNvSpPr/>
          <p:nvPr/>
        </p:nvSpPr>
        <p:spPr>
          <a:xfrm>
            <a:off x="6163056" y="3959352"/>
            <a:ext cx="2532888" cy="36576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random_state = 42</a:t>
            </a:r>
            <a:endParaRPr lang="en-US" sz="1000" dirty="0"/>
          </a:p>
        </p:txBody>
      </p:sp>
      <p:sp>
        <p:nvSpPr>
          <p:cNvPr id="51" name="Shape 49"/>
          <p:cNvSpPr/>
          <p:nvPr/>
        </p:nvSpPr>
        <p:spPr>
          <a:xfrm>
            <a:off x="0" y="4892040"/>
            <a:ext cx="9144000" cy="251460"/>
          </a:xfrm>
          <a:prstGeom prst="rect">
            <a:avLst/>
          </a:prstGeom>
          <a:solidFill>
            <a:srgbClr val="0D1B2A"/>
          </a:solidFill>
          <a:ln w="12700">
            <a:solidFill>
              <a:srgbClr val="0D1B2A"/>
            </a:solidFill>
            <a:prstDash val="solid"/>
          </a:ln>
        </p:spPr>
      </p:sp>
      <p:sp>
        <p:nvSpPr>
          <p:cNvPr id="52" name="Text 50"/>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53" name="Text 51"/>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§6  Results — Model Performance</a:t>
            </a:r>
            <a:endParaRPr lang="en-US" sz="2800" dirty="0"/>
          </a:p>
        </p:txBody>
      </p:sp>
      <p:sp>
        <p:nvSpPr>
          <p:cNvPr id="4" name="Shape 2"/>
          <p:cNvSpPr/>
          <p:nvPr/>
        </p:nvSpPr>
        <p:spPr>
          <a:xfrm>
            <a:off x="365760" y="822960"/>
            <a:ext cx="1920240" cy="1005840"/>
          </a:xfrm>
          <a:prstGeom prst="rect">
            <a:avLst/>
          </a:prstGeom>
          <a:solidFill>
            <a:srgbClr val="FFFFFF"/>
          </a:solidFill>
          <a:ln w="2540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1920240" cy="54864"/>
          </a:xfrm>
          <a:prstGeom prst="rect">
            <a:avLst/>
          </a:prstGeom>
          <a:solidFill>
            <a:srgbClr val="C0392B"/>
          </a:solidFill>
          <a:ln w="12700">
            <a:solidFill>
              <a:srgbClr val="C0392B"/>
            </a:solidFill>
            <a:prstDash val="solid"/>
          </a:ln>
        </p:spPr>
      </p:sp>
      <p:sp>
        <p:nvSpPr>
          <p:cNvPr id="6" name="Text 4"/>
          <p:cNvSpPr/>
          <p:nvPr/>
        </p:nvSpPr>
        <p:spPr>
          <a:xfrm>
            <a:off x="365760" y="914400"/>
            <a:ext cx="1920240" cy="594360"/>
          </a:xfrm>
          <a:prstGeom prst="rect">
            <a:avLst/>
          </a:prstGeom>
          <a:noFill/>
          <a:ln/>
        </p:spPr>
        <p:txBody>
          <a:bodyPr wrap="square" rtlCol="0" anchor="ctr"/>
          <a:lstStyle/>
          <a:p>
            <a:pPr algn="ctr" indent="0" marL="0">
              <a:buNone/>
            </a:pPr>
            <a:r>
              <a:rPr lang="en-US" sz="3400" b="1" dirty="0">
                <a:solidFill>
                  <a:srgbClr val="C0392B"/>
                </a:solidFill>
                <a:latin typeface="Calibri" pitchFamily="34" charset="0"/>
                <a:ea typeface="Calibri" pitchFamily="34" charset="-122"/>
                <a:cs typeface="Calibri" pitchFamily="34" charset="-120"/>
              </a:rPr>
              <a:t>89.4%</a:t>
            </a:r>
            <a:endParaRPr lang="en-US" sz="3400" dirty="0"/>
          </a:p>
        </p:txBody>
      </p:sp>
      <p:sp>
        <p:nvSpPr>
          <p:cNvPr id="7" name="Text 5"/>
          <p:cNvSpPr/>
          <p:nvPr/>
        </p:nvSpPr>
        <p:spPr>
          <a:xfrm>
            <a:off x="365760" y="1481328"/>
            <a:ext cx="1920240" cy="329184"/>
          </a:xfrm>
          <a:prstGeom prst="rect">
            <a:avLst/>
          </a:prstGeom>
          <a:noFill/>
          <a:ln/>
        </p:spPr>
        <p:txBody>
          <a:bodyPr wrap="square" rtlCol="0" anchor="ctr"/>
          <a:lstStyle/>
          <a:p>
            <a:pPr algn="ctr" indent="0" marL="0">
              <a:buNone/>
            </a:pPr>
            <a:r>
              <a:rPr lang="en-US" sz="1100" dirty="0">
                <a:solidFill>
                  <a:srgbClr val="7F8C8D"/>
                </a:solidFill>
                <a:latin typeface="Calibri" pitchFamily="34" charset="0"/>
                <a:ea typeface="Calibri" pitchFamily="34" charset="-122"/>
                <a:cs typeface="Calibri" pitchFamily="34" charset="-120"/>
              </a:rPr>
              <a:t>XGBoost Accuracy</a:t>
            </a:r>
            <a:endParaRPr lang="en-US" sz="1100" dirty="0"/>
          </a:p>
        </p:txBody>
      </p:sp>
      <p:sp>
        <p:nvSpPr>
          <p:cNvPr id="8" name="Shape 6"/>
          <p:cNvSpPr/>
          <p:nvPr/>
        </p:nvSpPr>
        <p:spPr>
          <a:xfrm>
            <a:off x="2423160" y="822960"/>
            <a:ext cx="1920240" cy="1005840"/>
          </a:xfrm>
          <a:prstGeom prst="rect">
            <a:avLst/>
          </a:prstGeom>
          <a:solidFill>
            <a:srgbClr val="FFFFFF"/>
          </a:solidFill>
          <a:ln w="25400">
            <a:solidFill>
              <a:srgbClr val="F39C12"/>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2423160" y="822960"/>
            <a:ext cx="1920240" cy="54864"/>
          </a:xfrm>
          <a:prstGeom prst="rect">
            <a:avLst/>
          </a:prstGeom>
          <a:solidFill>
            <a:srgbClr val="F39C12"/>
          </a:solidFill>
          <a:ln w="12700">
            <a:solidFill>
              <a:srgbClr val="F39C12"/>
            </a:solidFill>
            <a:prstDash val="solid"/>
          </a:ln>
        </p:spPr>
      </p:sp>
      <p:sp>
        <p:nvSpPr>
          <p:cNvPr id="10" name="Text 8"/>
          <p:cNvSpPr/>
          <p:nvPr/>
        </p:nvSpPr>
        <p:spPr>
          <a:xfrm>
            <a:off x="2423160" y="914400"/>
            <a:ext cx="1920240" cy="594360"/>
          </a:xfrm>
          <a:prstGeom prst="rect">
            <a:avLst/>
          </a:prstGeom>
          <a:noFill/>
          <a:ln/>
        </p:spPr>
        <p:txBody>
          <a:bodyPr wrap="square" rtlCol="0" anchor="ctr"/>
          <a:lstStyle/>
          <a:p>
            <a:pPr algn="ctr" indent="0" marL="0">
              <a:buNone/>
            </a:pPr>
            <a:r>
              <a:rPr lang="en-US" sz="3400" b="1" dirty="0">
                <a:solidFill>
                  <a:srgbClr val="F39C12"/>
                </a:solidFill>
                <a:latin typeface="Calibri" pitchFamily="34" charset="0"/>
                <a:ea typeface="Calibri" pitchFamily="34" charset="-122"/>
                <a:cs typeface="Calibri" pitchFamily="34" charset="-120"/>
              </a:rPr>
              <a:t>0.901</a:t>
            </a:r>
            <a:endParaRPr lang="en-US" sz="3400" dirty="0"/>
          </a:p>
        </p:txBody>
      </p:sp>
      <p:sp>
        <p:nvSpPr>
          <p:cNvPr id="11" name="Text 9"/>
          <p:cNvSpPr/>
          <p:nvPr/>
        </p:nvSpPr>
        <p:spPr>
          <a:xfrm>
            <a:off x="2423160" y="1481328"/>
            <a:ext cx="1920240" cy="329184"/>
          </a:xfrm>
          <a:prstGeom prst="rect">
            <a:avLst/>
          </a:prstGeom>
          <a:noFill/>
          <a:ln/>
        </p:spPr>
        <p:txBody>
          <a:bodyPr wrap="square" rtlCol="0" anchor="ctr"/>
          <a:lstStyle/>
          <a:p>
            <a:pPr algn="ctr" indent="0" marL="0">
              <a:buNone/>
            </a:pPr>
            <a:r>
              <a:rPr lang="en-US" sz="1100" dirty="0">
                <a:solidFill>
                  <a:srgbClr val="7F8C8D"/>
                </a:solidFill>
                <a:latin typeface="Calibri" pitchFamily="34" charset="0"/>
                <a:ea typeface="Calibri" pitchFamily="34" charset="-122"/>
                <a:cs typeface="Calibri" pitchFamily="34" charset="-120"/>
              </a:rPr>
              <a:t>XGBoost AUC-ROC</a:t>
            </a:r>
            <a:endParaRPr lang="en-US" sz="1100" dirty="0"/>
          </a:p>
        </p:txBody>
      </p:sp>
      <p:sp>
        <p:nvSpPr>
          <p:cNvPr id="12" name="Shape 10"/>
          <p:cNvSpPr/>
          <p:nvPr/>
        </p:nvSpPr>
        <p:spPr>
          <a:xfrm>
            <a:off x="4480560" y="822960"/>
            <a:ext cx="1920240" cy="1005840"/>
          </a:xfrm>
          <a:prstGeom prst="rect">
            <a:avLst/>
          </a:prstGeom>
          <a:solidFill>
            <a:srgbClr val="FFFFFF"/>
          </a:solidFill>
          <a:ln w="25400">
            <a:solidFill>
              <a:srgbClr val="27AE6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480560" y="822960"/>
            <a:ext cx="1920240" cy="54864"/>
          </a:xfrm>
          <a:prstGeom prst="rect">
            <a:avLst/>
          </a:prstGeom>
          <a:solidFill>
            <a:srgbClr val="27AE60"/>
          </a:solidFill>
          <a:ln w="12700">
            <a:solidFill>
              <a:srgbClr val="27AE60"/>
            </a:solidFill>
            <a:prstDash val="solid"/>
          </a:ln>
        </p:spPr>
      </p:sp>
      <p:sp>
        <p:nvSpPr>
          <p:cNvPr id="14" name="Text 12"/>
          <p:cNvSpPr/>
          <p:nvPr/>
        </p:nvSpPr>
        <p:spPr>
          <a:xfrm>
            <a:off x="4480560" y="914400"/>
            <a:ext cx="1920240" cy="594360"/>
          </a:xfrm>
          <a:prstGeom prst="rect">
            <a:avLst/>
          </a:prstGeom>
          <a:noFill/>
          <a:ln/>
        </p:spPr>
        <p:txBody>
          <a:bodyPr wrap="square" rtlCol="0" anchor="ctr"/>
          <a:lstStyle/>
          <a:p>
            <a:pPr algn="ctr" indent="0" marL="0">
              <a:buNone/>
            </a:pPr>
            <a:r>
              <a:rPr lang="en-US" sz="3400" b="1" dirty="0">
                <a:solidFill>
                  <a:srgbClr val="27AE60"/>
                </a:solidFill>
                <a:latin typeface="Calibri" pitchFamily="34" charset="0"/>
                <a:ea typeface="Calibri" pitchFamily="34" charset="-122"/>
                <a:cs typeface="Calibri" pitchFamily="34" charset="-120"/>
              </a:rPr>
              <a:t>0.533</a:t>
            </a:r>
            <a:endParaRPr lang="en-US" sz="3400" dirty="0"/>
          </a:p>
        </p:txBody>
      </p:sp>
      <p:sp>
        <p:nvSpPr>
          <p:cNvPr id="15" name="Text 13"/>
          <p:cNvSpPr/>
          <p:nvPr/>
        </p:nvSpPr>
        <p:spPr>
          <a:xfrm>
            <a:off x="4480560" y="1481328"/>
            <a:ext cx="1920240" cy="329184"/>
          </a:xfrm>
          <a:prstGeom prst="rect">
            <a:avLst/>
          </a:prstGeom>
          <a:noFill/>
          <a:ln/>
        </p:spPr>
        <p:txBody>
          <a:bodyPr wrap="square" rtlCol="0" anchor="ctr"/>
          <a:lstStyle/>
          <a:p>
            <a:pPr algn="ctr" indent="0" marL="0">
              <a:buNone/>
            </a:pPr>
            <a:r>
              <a:rPr lang="en-US" sz="1100" dirty="0">
                <a:solidFill>
                  <a:srgbClr val="7F8C8D"/>
                </a:solidFill>
                <a:latin typeface="Calibri" pitchFamily="34" charset="0"/>
                <a:ea typeface="Calibri" pitchFamily="34" charset="-122"/>
                <a:cs typeface="Calibri" pitchFamily="34" charset="-120"/>
              </a:rPr>
              <a:t>XGBoost F1-Score</a:t>
            </a:r>
            <a:endParaRPr lang="en-US" sz="1100" dirty="0"/>
          </a:p>
        </p:txBody>
      </p:sp>
      <p:sp>
        <p:nvSpPr>
          <p:cNvPr id="16" name="Shape 14"/>
          <p:cNvSpPr/>
          <p:nvPr/>
        </p:nvSpPr>
        <p:spPr>
          <a:xfrm>
            <a:off x="6537960" y="822960"/>
            <a:ext cx="1920240" cy="1005840"/>
          </a:xfrm>
          <a:prstGeom prst="rect">
            <a:avLst/>
          </a:prstGeom>
          <a:solidFill>
            <a:srgbClr val="FFFFFF"/>
          </a:solidFill>
          <a:ln w="25400">
            <a:solidFill>
              <a:srgbClr val="0D1B2A"/>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6537960" y="822960"/>
            <a:ext cx="1920240" cy="54864"/>
          </a:xfrm>
          <a:prstGeom prst="rect">
            <a:avLst/>
          </a:prstGeom>
          <a:solidFill>
            <a:srgbClr val="0D1B2A"/>
          </a:solidFill>
          <a:ln w="12700">
            <a:solidFill>
              <a:srgbClr val="0D1B2A"/>
            </a:solidFill>
            <a:prstDash val="solid"/>
          </a:ln>
        </p:spPr>
      </p:sp>
      <p:sp>
        <p:nvSpPr>
          <p:cNvPr id="18" name="Text 16"/>
          <p:cNvSpPr/>
          <p:nvPr/>
        </p:nvSpPr>
        <p:spPr>
          <a:xfrm>
            <a:off x="6537960" y="914400"/>
            <a:ext cx="1920240" cy="594360"/>
          </a:xfrm>
          <a:prstGeom prst="rect">
            <a:avLst/>
          </a:prstGeom>
          <a:noFill/>
          <a:ln/>
        </p:spPr>
        <p:txBody>
          <a:bodyPr wrap="square" rtlCol="0" anchor="ctr"/>
          <a:lstStyle/>
          <a:p>
            <a:pPr algn="ctr" indent="0" marL="0">
              <a:buNone/>
            </a:pPr>
            <a:r>
              <a:rPr lang="en-US" sz="3400" b="1" dirty="0">
                <a:solidFill>
                  <a:srgbClr val="0D1B2A"/>
                </a:solidFill>
                <a:latin typeface="Calibri" pitchFamily="34" charset="0"/>
                <a:ea typeface="Calibri" pitchFamily="34" charset="-122"/>
                <a:cs typeface="Calibri" pitchFamily="34" charset="-120"/>
              </a:rPr>
              <a:t>0.667</a:t>
            </a:r>
            <a:endParaRPr lang="en-US" sz="3400" dirty="0"/>
          </a:p>
        </p:txBody>
      </p:sp>
      <p:sp>
        <p:nvSpPr>
          <p:cNvPr id="19" name="Text 17"/>
          <p:cNvSpPr/>
          <p:nvPr/>
        </p:nvSpPr>
        <p:spPr>
          <a:xfrm>
            <a:off x="6537960" y="1481328"/>
            <a:ext cx="1920240" cy="329184"/>
          </a:xfrm>
          <a:prstGeom prst="rect">
            <a:avLst/>
          </a:prstGeom>
          <a:noFill/>
          <a:ln/>
        </p:spPr>
        <p:txBody>
          <a:bodyPr wrap="square" rtlCol="0" anchor="ctr"/>
          <a:lstStyle/>
          <a:p>
            <a:pPr algn="ctr" indent="0" marL="0">
              <a:buNone/>
            </a:pPr>
            <a:r>
              <a:rPr lang="en-US" sz="1100" dirty="0">
                <a:solidFill>
                  <a:srgbClr val="7F8C8D"/>
                </a:solidFill>
                <a:latin typeface="Calibri" pitchFamily="34" charset="0"/>
                <a:ea typeface="Calibri" pitchFamily="34" charset="-122"/>
                <a:cs typeface="Calibri" pitchFamily="34" charset="-120"/>
              </a:rPr>
              <a:t>XGBoost Precision</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938528"/>
          <a:ext cx="8412480" cy="914400"/>
        </p:xfrm>
        <a:graphic>
          <a:graphicData uri="http://schemas.openxmlformats.org/drawingml/2006/table">
            <a:tbl>
              <a:tblPr/>
              <a:tblGrid>
                <a:gridCol w="2286000"/>
                <a:gridCol w="1280160"/>
                <a:gridCol w="1280160"/>
                <a:gridCol w="1280160"/>
                <a:gridCol w="1280160"/>
                <a:gridCol w="14630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AUC-ROC</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0D1B2A"/>
                    </a:solidFill>
                  </a:tcPr>
                </a:tc>
              </a:tr>
              <a:tr h="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RF (baseline)</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83.3%</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0.170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0.253</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0.801</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RF (tuned)</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83.3%</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0.170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0.267</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0.812</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XGB (baseline)</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0.600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0.360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0.450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0.876</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XGB (tuned) ★</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89.4%</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0.667</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0.444</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0.533</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c>
                  <a:txBody>
                    <a:bodyPr/>
                    <a:lstStyle/>
                    <a:p>
                      <a:pPr indent="0" marL="0">
                        <a:buNone/>
                      </a:pPr>
                      <a:r>
                        <a:rPr lang="en-US" sz="1100" b="1" dirty="0">
                          <a:solidFill>
                            <a:srgbClr val="F39C12"/>
                          </a:solidFill>
                          <a:latin typeface="Calibri" pitchFamily="34" charset="0"/>
                          <a:ea typeface="Calibri" pitchFamily="34" charset="-122"/>
                          <a:cs typeface="Calibri" pitchFamily="34" charset="-120"/>
                        </a:rPr>
                        <a:t>0.901</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9E6"/>
                    </a:solidFill>
                  </a:tcPr>
                </a:tc>
              </a:tr>
              <a:tr h="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SVM (baseline)</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0.793</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SVM (tuned)</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89.4%</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0.148</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0.222</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0.847</a:t>
                      </a:r>
                      <a:endParaRPr lang="en-US" sz="1100" dirty="0">
                        <a:latin typeface="Calibri" charset="0"/>
                        <a:ea typeface="Calibri" charset="0"/>
                        <a:cs typeface="Calibri" charset="0"/>
                      </a:endParaRPr>
                    </a:p>
                  </a:txBody>
                  <a:tcPr marL="91440" marR="91440" marT="45720" marB="45720">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FFFFFF"/>
                    </a:solidFill>
                  </a:tcPr>
                </a:tc>
              </a:tr>
            </a:tbl>
          </a:graphicData>
        </a:graphic>
      </p:graphicFrame>
      <p:sp>
        <p:nvSpPr>
          <p:cNvPr id="21" name="Text 18"/>
          <p:cNvSpPr/>
          <p:nvPr/>
        </p:nvSpPr>
        <p:spPr>
          <a:xfrm>
            <a:off x="365760" y="4553712"/>
            <a:ext cx="8412480" cy="292608"/>
          </a:xfrm>
          <a:prstGeom prst="rect">
            <a:avLst/>
          </a:prstGeom>
          <a:noFill/>
          <a:ln/>
        </p:spPr>
        <p:txBody>
          <a:bodyPr wrap="square" rtlCol="0" anchor="ctr"/>
          <a:lstStyle/>
          <a:p>
            <a:pPr algn="ctr" indent="0" marL="0">
              <a:buNone/>
            </a:pPr>
            <a:r>
              <a:rPr lang="en-US" sz="1050" i="1" dirty="0">
                <a:solidFill>
                  <a:srgbClr val="C0392B"/>
                </a:solidFill>
                <a:latin typeface="Calibri" pitchFamily="34" charset="0"/>
                <a:ea typeface="Calibri" pitchFamily="34" charset="-122"/>
                <a:cs typeface="Calibri" pitchFamily="34" charset="-120"/>
              </a:rPr>
              <a:t>★ XGBoost (tuned) selected as the final model — highest F1, Precision, Recall, and AUC-ROC across all 6 runs</a:t>
            </a:r>
            <a:endParaRPr lang="en-US" sz="1050" dirty="0"/>
          </a:p>
        </p:txBody>
      </p:sp>
      <p:sp>
        <p:nvSpPr>
          <p:cNvPr id="22" name="Shape 19"/>
          <p:cNvSpPr/>
          <p:nvPr/>
        </p:nvSpPr>
        <p:spPr>
          <a:xfrm>
            <a:off x="0" y="4892040"/>
            <a:ext cx="9144000" cy="251460"/>
          </a:xfrm>
          <a:prstGeom prst="rect">
            <a:avLst/>
          </a:prstGeom>
          <a:solidFill>
            <a:srgbClr val="0D1B2A"/>
          </a:solidFill>
          <a:ln w="12700">
            <a:solidFill>
              <a:srgbClr val="0D1B2A"/>
            </a:solidFill>
            <a:prstDash val="solid"/>
          </a:ln>
        </p:spPr>
      </p:sp>
      <p:sp>
        <p:nvSpPr>
          <p:cNvPr id="23" name="Text 20"/>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24" name="Text 21"/>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§6  Results — Confusion Matrices</a:t>
            </a:r>
            <a:endParaRPr lang="en-US" sz="2800" dirty="0"/>
          </a:p>
        </p:txBody>
      </p:sp>
      <p:sp>
        <p:nvSpPr>
          <p:cNvPr id="4" name="Shape 2"/>
          <p:cNvSpPr/>
          <p:nvPr/>
        </p:nvSpPr>
        <p:spPr>
          <a:xfrm>
            <a:off x="365760" y="804672"/>
            <a:ext cx="8412480" cy="347472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pic>
        <p:nvPicPr>
          <p:cNvPr id="5" name="Image 0" descr="preencoded.png">    </p:cNvPr>
          <p:cNvPicPr>
            <a:picLocks noChangeAspect="1"/>
          </p:cNvPicPr>
          <p:nvPr/>
        </p:nvPicPr>
        <p:blipFill>
          <a:blip r:embed="rId1"/>
          <a:srcRect l="0" r="0" t="0" b="0"/>
          <a:stretch/>
        </p:blipFill>
        <p:spPr>
          <a:xfrm>
            <a:off x="457200" y="850392"/>
            <a:ext cx="8229600" cy="3337560"/>
          </a:xfrm>
          <a:prstGeom prst="rect">
            <a:avLst/>
          </a:prstGeom>
        </p:spPr>
      </p:pic>
      <p:sp>
        <p:nvSpPr>
          <p:cNvPr id="6" name="Shape 3"/>
          <p:cNvSpPr/>
          <p:nvPr/>
        </p:nvSpPr>
        <p:spPr>
          <a:xfrm>
            <a:off x="365760" y="4370832"/>
            <a:ext cx="2715768" cy="530352"/>
          </a:xfrm>
          <a:prstGeom prst="rect">
            <a:avLst/>
          </a:prstGeom>
          <a:solidFill>
            <a:srgbClr val="27AE60"/>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7" name="Text 4"/>
          <p:cNvSpPr/>
          <p:nvPr/>
        </p:nvSpPr>
        <p:spPr>
          <a:xfrm>
            <a:off x="365760" y="4370832"/>
            <a:ext cx="2715768" cy="53035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Random Forest  |  TN=53 FP=5 FN=6 TP=2  |  Acc 83.3%</a:t>
            </a:r>
            <a:endParaRPr lang="en-US" sz="900" dirty="0"/>
          </a:p>
        </p:txBody>
      </p:sp>
      <p:sp>
        <p:nvSpPr>
          <p:cNvPr id="8" name="Shape 5"/>
          <p:cNvSpPr/>
          <p:nvPr/>
        </p:nvSpPr>
        <p:spPr>
          <a:xfrm>
            <a:off x="3218688" y="4370832"/>
            <a:ext cx="2715768" cy="530352"/>
          </a:xfrm>
          <a:prstGeom prst="rect">
            <a:avLst/>
          </a:prstGeom>
          <a:solidFill>
            <a:srgbClr val="F39C12"/>
          </a:solidFill>
          <a:ln w="12700">
            <a:solidFill>
              <a:srgbClr val="F39C12"/>
            </a:solidFill>
            <a:prstDash val="solid"/>
          </a:ln>
          <a:effectLst>
            <a:outerShdw sx="100000" sy="100000" kx="0" ky="0" algn="bl" rotWithShape="0" blurRad="101600" dist="38100" dir="8100000">
              <a:srgbClr val="000000">
                <a:alpha val="18000"/>
              </a:srgbClr>
            </a:outerShdw>
          </a:effectLst>
        </p:spPr>
      </p:sp>
      <p:sp>
        <p:nvSpPr>
          <p:cNvPr id="9" name="Text 6"/>
          <p:cNvSpPr/>
          <p:nvPr/>
        </p:nvSpPr>
        <p:spPr>
          <a:xfrm>
            <a:off x="3218688" y="4370832"/>
            <a:ext cx="2715768" cy="53035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XGBoost ★  |  TN=55 FP=3 FN=4 TP=4  |  Acc 89.4%</a:t>
            </a:r>
            <a:endParaRPr lang="en-US" sz="900" dirty="0"/>
          </a:p>
        </p:txBody>
      </p:sp>
      <p:sp>
        <p:nvSpPr>
          <p:cNvPr id="10" name="Shape 7"/>
          <p:cNvSpPr/>
          <p:nvPr/>
        </p:nvSpPr>
        <p:spPr>
          <a:xfrm>
            <a:off x="6071616" y="4370832"/>
            <a:ext cx="2715768" cy="530352"/>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11" name="Text 8"/>
          <p:cNvSpPr/>
          <p:nvPr/>
        </p:nvSpPr>
        <p:spPr>
          <a:xfrm>
            <a:off x="6071616" y="4370832"/>
            <a:ext cx="2715768" cy="53035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SVM (tuned)  |  TN=58 FP=0 FN=7 TP=1  |  Acc 89.4%</a:t>
            </a:r>
            <a:endParaRPr lang="en-US" sz="900" dirty="0"/>
          </a:p>
        </p:txBody>
      </p:sp>
      <p:sp>
        <p:nvSpPr>
          <p:cNvPr id="12" name="Shape 9"/>
          <p:cNvSpPr/>
          <p:nvPr/>
        </p:nvSpPr>
        <p:spPr>
          <a:xfrm>
            <a:off x="0" y="4892040"/>
            <a:ext cx="9144000" cy="251460"/>
          </a:xfrm>
          <a:prstGeom prst="rect">
            <a:avLst/>
          </a:prstGeom>
          <a:solidFill>
            <a:srgbClr val="0D1B2A"/>
          </a:solidFill>
          <a:ln w="12700">
            <a:solidFill>
              <a:srgbClr val="0D1B2A"/>
            </a:solidFill>
            <a:prstDash val="solid"/>
          </a:ln>
        </p:spPr>
      </p:sp>
      <p:sp>
        <p:nvSpPr>
          <p:cNvPr id="13" name="Text 10"/>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14" name="Text 11"/>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§6  Results — Feature Importance (Random Forest)</a:t>
            </a:r>
            <a:endParaRPr lang="en-US" sz="2800" dirty="0"/>
          </a:p>
        </p:txBody>
      </p:sp>
      <p:sp>
        <p:nvSpPr>
          <p:cNvPr id="4" name="Shape 2"/>
          <p:cNvSpPr/>
          <p:nvPr/>
        </p:nvSpPr>
        <p:spPr>
          <a:xfrm>
            <a:off x="365760" y="804672"/>
            <a:ext cx="5394960" cy="3858768"/>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pic>
        <p:nvPicPr>
          <p:cNvPr id="5" name="Image 0" descr="preencoded.png">    </p:cNvPr>
          <p:cNvPicPr>
            <a:picLocks noChangeAspect="1"/>
          </p:cNvPicPr>
          <p:nvPr/>
        </p:nvPicPr>
        <p:blipFill>
          <a:blip r:embed="rId1"/>
          <a:srcRect l="0" r="0" t="0" b="0"/>
          <a:stretch/>
        </p:blipFill>
        <p:spPr>
          <a:xfrm>
            <a:off x="411480" y="822960"/>
            <a:ext cx="5303520" cy="3767328"/>
          </a:xfrm>
          <a:prstGeom prst="rect">
            <a:avLst/>
          </a:prstGeom>
        </p:spPr>
      </p:pic>
      <p:sp>
        <p:nvSpPr>
          <p:cNvPr id="6" name="Shape 3"/>
          <p:cNvSpPr/>
          <p:nvPr/>
        </p:nvSpPr>
        <p:spPr>
          <a:xfrm>
            <a:off x="5925312" y="804672"/>
            <a:ext cx="2852928" cy="347472"/>
          </a:xfrm>
          <a:prstGeom prst="rect">
            <a:avLst/>
          </a:prstGeom>
          <a:solidFill>
            <a:srgbClr val="0D1B2A"/>
          </a:solidFill>
          <a:ln w="12700">
            <a:solidFill>
              <a:srgbClr val="0D1B2A"/>
            </a:solidFill>
            <a:prstDash val="solid"/>
          </a:ln>
        </p:spPr>
      </p:sp>
      <p:sp>
        <p:nvSpPr>
          <p:cNvPr id="7" name="Text 4"/>
          <p:cNvSpPr/>
          <p:nvPr/>
        </p:nvSpPr>
        <p:spPr>
          <a:xfrm>
            <a:off x="5925312" y="804672"/>
            <a:ext cx="285292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 5 Predictors</a:t>
            </a:r>
            <a:endParaRPr lang="en-US" sz="1200" dirty="0"/>
          </a:p>
        </p:txBody>
      </p:sp>
      <p:sp>
        <p:nvSpPr>
          <p:cNvPr id="8" name="Shape 5"/>
          <p:cNvSpPr/>
          <p:nvPr/>
        </p:nvSpPr>
        <p:spPr>
          <a:xfrm>
            <a:off x="5925312" y="1207008"/>
            <a:ext cx="2852928" cy="603504"/>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5925312" y="1207008"/>
            <a:ext cx="457200" cy="603504"/>
          </a:xfrm>
          <a:prstGeom prst="rect">
            <a:avLst/>
          </a:prstGeom>
          <a:solidFill>
            <a:srgbClr val="0D1B2A"/>
          </a:solidFill>
          <a:ln w="12700">
            <a:solidFill>
              <a:srgbClr val="0D1B2A"/>
            </a:solidFill>
            <a:prstDash val="solid"/>
          </a:ln>
        </p:spPr>
      </p:sp>
      <p:sp>
        <p:nvSpPr>
          <p:cNvPr id="10" name="Text 7"/>
          <p:cNvSpPr/>
          <p:nvPr/>
        </p:nvSpPr>
        <p:spPr>
          <a:xfrm>
            <a:off x="5925312" y="1207008"/>
            <a:ext cx="457200" cy="603504"/>
          </a:xfrm>
          <a:prstGeom prst="rect">
            <a:avLst/>
          </a:prstGeom>
          <a:noFill/>
          <a:ln/>
        </p:spPr>
        <p:txBody>
          <a:bodyPr wrap="square"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6419088" y="1243584"/>
            <a:ext cx="2048256"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EVI</a:t>
            </a:r>
            <a:endParaRPr lang="en-US" sz="1150" dirty="0"/>
          </a:p>
        </p:txBody>
      </p:sp>
      <p:sp>
        <p:nvSpPr>
          <p:cNvPr id="12" name="Text 9"/>
          <p:cNvSpPr/>
          <p:nvPr/>
        </p:nvSpPr>
        <p:spPr>
          <a:xfrm>
            <a:off x="6419088" y="1499616"/>
            <a:ext cx="2048256"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Vegetation stress &amp; fuel load indicator</a:t>
            </a:r>
            <a:endParaRPr lang="en-US" sz="900" dirty="0"/>
          </a:p>
        </p:txBody>
      </p:sp>
      <p:sp>
        <p:nvSpPr>
          <p:cNvPr id="13" name="Text 10"/>
          <p:cNvSpPr/>
          <p:nvPr/>
        </p:nvSpPr>
        <p:spPr>
          <a:xfrm>
            <a:off x="8119872" y="1243584"/>
            <a:ext cx="594360" cy="237744"/>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0.119</a:t>
            </a:r>
            <a:endParaRPr lang="en-US" sz="1100" dirty="0"/>
          </a:p>
        </p:txBody>
      </p:sp>
      <p:sp>
        <p:nvSpPr>
          <p:cNvPr id="14" name="Shape 11"/>
          <p:cNvSpPr/>
          <p:nvPr/>
        </p:nvSpPr>
        <p:spPr>
          <a:xfrm>
            <a:off x="5925312" y="1865376"/>
            <a:ext cx="2852928" cy="603504"/>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925312" y="1865376"/>
            <a:ext cx="457200" cy="603504"/>
          </a:xfrm>
          <a:prstGeom prst="rect">
            <a:avLst/>
          </a:prstGeom>
          <a:solidFill>
            <a:srgbClr val="0D1B2A"/>
          </a:solidFill>
          <a:ln w="12700">
            <a:solidFill>
              <a:srgbClr val="0D1B2A"/>
            </a:solidFill>
            <a:prstDash val="solid"/>
          </a:ln>
        </p:spPr>
      </p:sp>
      <p:sp>
        <p:nvSpPr>
          <p:cNvPr id="16" name="Text 13"/>
          <p:cNvSpPr/>
          <p:nvPr/>
        </p:nvSpPr>
        <p:spPr>
          <a:xfrm>
            <a:off x="5925312" y="1865376"/>
            <a:ext cx="457200" cy="603504"/>
          </a:xfrm>
          <a:prstGeom prst="rect">
            <a:avLst/>
          </a:prstGeom>
          <a:noFill/>
          <a:ln/>
        </p:spPr>
        <p:txBody>
          <a:bodyPr wrap="square"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#2</a:t>
            </a:r>
            <a:endParaRPr lang="en-US" sz="1300" dirty="0"/>
          </a:p>
        </p:txBody>
      </p:sp>
      <p:sp>
        <p:nvSpPr>
          <p:cNvPr id="17" name="Text 14"/>
          <p:cNvSpPr/>
          <p:nvPr/>
        </p:nvSpPr>
        <p:spPr>
          <a:xfrm>
            <a:off x="6419088" y="1901952"/>
            <a:ext cx="2048256"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Slope</a:t>
            </a:r>
            <a:endParaRPr lang="en-US" sz="1150" dirty="0"/>
          </a:p>
        </p:txBody>
      </p:sp>
      <p:sp>
        <p:nvSpPr>
          <p:cNvPr id="18" name="Text 15"/>
          <p:cNvSpPr/>
          <p:nvPr/>
        </p:nvSpPr>
        <p:spPr>
          <a:xfrm>
            <a:off x="6419088" y="2157984"/>
            <a:ext cx="2048256"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Terrain steepness drives fire spread rate</a:t>
            </a:r>
            <a:endParaRPr lang="en-US" sz="900" dirty="0"/>
          </a:p>
        </p:txBody>
      </p:sp>
      <p:sp>
        <p:nvSpPr>
          <p:cNvPr id="19" name="Text 16"/>
          <p:cNvSpPr/>
          <p:nvPr/>
        </p:nvSpPr>
        <p:spPr>
          <a:xfrm>
            <a:off x="8119872" y="1901952"/>
            <a:ext cx="594360" cy="237744"/>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0.113</a:t>
            </a:r>
            <a:endParaRPr lang="en-US" sz="1100" dirty="0"/>
          </a:p>
        </p:txBody>
      </p:sp>
      <p:sp>
        <p:nvSpPr>
          <p:cNvPr id="20" name="Shape 17"/>
          <p:cNvSpPr/>
          <p:nvPr/>
        </p:nvSpPr>
        <p:spPr>
          <a:xfrm>
            <a:off x="5925312" y="2523744"/>
            <a:ext cx="2852928" cy="603504"/>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21" name="Shape 18"/>
          <p:cNvSpPr/>
          <p:nvPr/>
        </p:nvSpPr>
        <p:spPr>
          <a:xfrm>
            <a:off x="5925312" y="2523744"/>
            <a:ext cx="457200" cy="603504"/>
          </a:xfrm>
          <a:prstGeom prst="rect">
            <a:avLst/>
          </a:prstGeom>
          <a:solidFill>
            <a:srgbClr val="0D1B2A"/>
          </a:solidFill>
          <a:ln w="12700">
            <a:solidFill>
              <a:srgbClr val="0D1B2A"/>
            </a:solidFill>
            <a:prstDash val="solid"/>
          </a:ln>
        </p:spPr>
      </p:sp>
      <p:sp>
        <p:nvSpPr>
          <p:cNvPr id="22" name="Text 19"/>
          <p:cNvSpPr/>
          <p:nvPr/>
        </p:nvSpPr>
        <p:spPr>
          <a:xfrm>
            <a:off x="5925312" y="2523744"/>
            <a:ext cx="457200" cy="603504"/>
          </a:xfrm>
          <a:prstGeom prst="rect">
            <a:avLst/>
          </a:prstGeom>
          <a:noFill/>
          <a:ln/>
        </p:spPr>
        <p:txBody>
          <a:bodyPr wrap="square"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#3</a:t>
            </a:r>
            <a:endParaRPr lang="en-US" sz="1300" dirty="0"/>
          </a:p>
        </p:txBody>
      </p:sp>
      <p:sp>
        <p:nvSpPr>
          <p:cNvPr id="23" name="Text 20"/>
          <p:cNvSpPr/>
          <p:nvPr/>
        </p:nvSpPr>
        <p:spPr>
          <a:xfrm>
            <a:off x="6419088" y="2560320"/>
            <a:ext cx="2048256"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Elevation</a:t>
            </a:r>
            <a:endParaRPr lang="en-US" sz="1150" dirty="0"/>
          </a:p>
        </p:txBody>
      </p:sp>
      <p:sp>
        <p:nvSpPr>
          <p:cNvPr id="24" name="Text 21"/>
          <p:cNvSpPr/>
          <p:nvPr/>
        </p:nvSpPr>
        <p:spPr>
          <a:xfrm>
            <a:off x="6419088" y="2816352"/>
            <a:ext cx="2048256"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Temperature &amp; moisture gradients with altitude</a:t>
            </a:r>
            <a:endParaRPr lang="en-US" sz="900" dirty="0"/>
          </a:p>
        </p:txBody>
      </p:sp>
      <p:sp>
        <p:nvSpPr>
          <p:cNvPr id="25" name="Text 22"/>
          <p:cNvSpPr/>
          <p:nvPr/>
        </p:nvSpPr>
        <p:spPr>
          <a:xfrm>
            <a:off x="8119872" y="2560320"/>
            <a:ext cx="594360" cy="237744"/>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0.107</a:t>
            </a:r>
            <a:endParaRPr lang="en-US" sz="1100" dirty="0"/>
          </a:p>
        </p:txBody>
      </p:sp>
      <p:sp>
        <p:nvSpPr>
          <p:cNvPr id="26" name="Shape 23"/>
          <p:cNvSpPr/>
          <p:nvPr/>
        </p:nvSpPr>
        <p:spPr>
          <a:xfrm>
            <a:off x="5925312" y="3182112"/>
            <a:ext cx="2852928" cy="603504"/>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27" name="Shape 24"/>
          <p:cNvSpPr/>
          <p:nvPr/>
        </p:nvSpPr>
        <p:spPr>
          <a:xfrm>
            <a:off x="5925312" y="3182112"/>
            <a:ext cx="457200" cy="603504"/>
          </a:xfrm>
          <a:prstGeom prst="rect">
            <a:avLst/>
          </a:prstGeom>
          <a:solidFill>
            <a:srgbClr val="0D1B2A"/>
          </a:solidFill>
          <a:ln w="12700">
            <a:solidFill>
              <a:srgbClr val="0D1B2A"/>
            </a:solidFill>
            <a:prstDash val="solid"/>
          </a:ln>
        </p:spPr>
      </p:sp>
      <p:sp>
        <p:nvSpPr>
          <p:cNvPr id="28" name="Text 25"/>
          <p:cNvSpPr/>
          <p:nvPr/>
        </p:nvSpPr>
        <p:spPr>
          <a:xfrm>
            <a:off x="5925312" y="3182112"/>
            <a:ext cx="457200" cy="603504"/>
          </a:xfrm>
          <a:prstGeom prst="rect">
            <a:avLst/>
          </a:prstGeom>
          <a:noFill/>
          <a:ln/>
        </p:spPr>
        <p:txBody>
          <a:bodyPr wrap="square"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#4</a:t>
            </a:r>
            <a:endParaRPr lang="en-US" sz="1300" dirty="0"/>
          </a:p>
        </p:txBody>
      </p:sp>
      <p:sp>
        <p:nvSpPr>
          <p:cNvPr id="29" name="Text 26"/>
          <p:cNvSpPr/>
          <p:nvPr/>
        </p:nvSpPr>
        <p:spPr>
          <a:xfrm>
            <a:off x="6419088" y="3218688"/>
            <a:ext cx="2048256"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NDVI</a:t>
            </a:r>
            <a:endParaRPr lang="en-US" sz="1150" dirty="0"/>
          </a:p>
        </p:txBody>
      </p:sp>
      <p:sp>
        <p:nvSpPr>
          <p:cNvPr id="30" name="Text 27"/>
          <p:cNvSpPr/>
          <p:nvPr/>
        </p:nvSpPr>
        <p:spPr>
          <a:xfrm>
            <a:off x="6419088" y="3474720"/>
            <a:ext cx="2048256"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Green vegetation density &amp; dryness proxy</a:t>
            </a:r>
            <a:endParaRPr lang="en-US" sz="900" dirty="0"/>
          </a:p>
        </p:txBody>
      </p:sp>
      <p:sp>
        <p:nvSpPr>
          <p:cNvPr id="31" name="Text 28"/>
          <p:cNvSpPr/>
          <p:nvPr/>
        </p:nvSpPr>
        <p:spPr>
          <a:xfrm>
            <a:off x="8119872" y="3218688"/>
            <a:ext cx="594360" cy="237744"/>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0.095</a:t>
            </a:r>
            <a:endParaRPr lang="en-US" sz="1100" dirty="0"/>
          </a:p>
        </p:txBody>
      </p:sp>
      <p:sp>
        <p:nvSpPr>
          <p:cNvPr id="32" name="Shape 29"/>
          <p:cNvSpPr/>
          <p:nvPr/>
        </p:nvSpPr>
        <p:spPr>
          <a:xfrm>
            <a:off x="5925312" y="3840480"/>
            <a:ext cx="2852928" cy="603504"/>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33" name="Shape 30"/>
          <p:cNvSpPr/>
          <p:nvPr/>
        </p:nvSpPr>
        <p:spPr>
          <a:xfrm>
            <a:off x="5925312" y="3840480"/>
            <a:ext cx="457200" cy="603504"/>
          </a:xfrm>
          <a:prstGeom prst="rect">
            <a:avLst/>
          </a:prstGeom>
          <a:solidFill>
            <a:srgbClr val="0D1B2A"/>
          </a:solidFill>
          <a:ln w="12700">
            <a:solidFill>
              <a:srgbClr val="0D1B2A"/>
            </a:solidFill>
            <a:prstDash val="solid"/>
          </a:ln>
        </p:spPr>
      </p:sp>
      <p:sp>
        <p:nvSpPr>
          <p:cNvPr id="34" name="Text 31"/>
          <p:cNvSpPr/>
          <p:nvPr/>
        </p:nvSpPr>
        <p:spPr>
          <a:xfrm>
            <a:off x="5925312" y="3840480"/>
            <a:ext cx="457200" cy="603504"/>
          </a:xfrm>
          <a:prstGeom prst="rect">
            <a:avLst/>
          </a:prstGeom>
          <a:noFill/>
          <a:ln/>
        </p:spPr>
        <p:txBody>
          <a:bodyPr wrap="square" rtlCol="0" anchor="ctr"/>
          <a:lstStyle/>
          <a:p>
            <a:pPr algn="ctr" indent="0" marL="0">
              <a:buNone/>
            </a:pPr>
            <a:r>
              <a:rPr lang="en-US" sz="1300" b="1" dirty="0">
                <a:solidFill>
                  <a:srgbClr val="F5A623"/>
                </a:solidFill>
                <a:latin typeface="Calibri" pitchFamily="34" charset="0"/>
                <a:ea typeface="Calibri" pitchFamily="34" charset="-122"/>
                <a:cs typeface="Calibri" pitchFamily="34" charset="-120"/>
              </a:rPr>
              <a:t>#5</a:t>
            </a:r>
            <a:endParaRPr lang="en-US" sz="1300" dirty="0"/>
          </a:p>
        </p:txBody>
      </p:sp>
      <p:sp>
        <p:nvSpPr>
          <p:cNvPr id="35" name="Text 32"/>
          <p:cNvSpPr/>
          <p:nvPr/>
        </p:nvSpPr>
        <p:spPr>
          <a:xfrm>
            <a:off x="6419088" y="3877056"/>
            <a:ext cx="2048256"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Soil Moisture</a:t>
            </a:r>
            <a:endParaRPr lang="en-US" sz="1150" dirty="0"/>
          </a:p>
        </p:txBody>
      </p:sp>
      <p:sp>
        <p:nvSpPr>
          <p:cNvPr id="36" name="Text 33"/>
          <p:cNvSpPr/>
          <p:nvPr/>
        </p:nvSpPr>
        <p:spPr>
          <a:xfrm>
            <a:off x="6419088" y="4133088"/>
            <a:ext cx="2048256"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Dry soils increase ignition probability</a:t>
            </a:r>
            <a:endParaRPr lang="en-US" sz="900" dirty="0"/>
          </a:p>
        </p:txBody>
      </p:sp>
      <p:sp>
        <p:nvSpPr>
          <p:cNvPr id="37" name="Text 34"/>
          <p:cNvSpPr/>
          <p:nvPr/>
        </p:nvSpPr>
        <p:spPr>
          <a:xfrm>
            <a:off x="8119872" y="3877056"/>
            <a:ext cx="594360" cy="237744"/>
          </a:xfrm>
          <a:prstGeom prst="rect">
            <a:avLst/>
          </a:prstGeom>
          <a:noFill/>
          <a:ln/>
        </p:spPr>
        <p:txBody>
          <a:bodyPr wrap="square"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0.085</a:t>
            </a:r>
            <a:endParaRPr lang="en-US" sz="1100" dirty="0"/>
          </a:p>
        </p:txBody>
      </p:sp>
      <p:sp>
        <p:nvSpPr>
          <p:cNvPr id="38" name="Shape 35"/>
          <p:cNvSpPr/>
          <p:nvPr/>
        </p:nvSpPr>
        <p:spPr>
          <a:xfrm>
            <a:off x="5925312" y="4517136"/>
            <a:ext cx="2852928" cy="347472"/>
          </a:xfrm>
          <a:prstGeom prst="rect">
            <a:avLst/>
          </a:prstGeom>
          <a:solidFill>
            <a:srgbClr val="FFF3F3"/>
          </a:solidFill>
          <a:ln w="6350">
            <a:solidFill>
              <a:srgbClr val="C0392B"/>
            </a:solidFill>
            <a:prstDash val="solid"/>
          </a:ln>
        </p:spPr>
      </p:sp>
      <p:sp>
        <p:nvSpPr>
          <p:cNvPr id="39" name="Text 36"/>
          <p:cNvSpPr/>
          <p:nvPr/>
        </p:nvSpPr>
        <p:spPr>
          <a:xfrm>
            <a:off x="5943600" y="4517136"/>
            <a:ext cx="2816352" cy="347472"/>
          </a:xfrm>
          <a:prstGeom prst="rect">
            <a:avLst/>
          </a:prstGeom>
          <a:noFill/>
          <a:ln/>
        </p:spPr>
        <p:txBody>
          <a:bodyPr wrap="square" rtlCol="0" anchor="ctr"/>
          <a:lstStyle/>
          <a:p>
            <a:pPr algn="ctr" indent="0" marL="0">
              <a:buNone/>
            </a:pPr>
            <a:r>
              <a:rPr lang="en-US" sz="850" i="1" dirty="0">
                <a:solidFill>
                  <a:srgbClr val="C0392B"/>
                </a:solidFill>
                <a:latin typeface="Calibri" pitchFamily="34" charset="0"/>
                <a:ea typeface="Calibri" pitchFamily="34" charset="-122"/>
                <a:cs typeface="Calibri" pitchFamily="34" charset="-120"/>
              </a:rPr>
              <a:t>⚠  dist_roads = 0.000  — fires were predominantly lightning-ignited, not road-proximate</a:t>
            </a:r>
            <a:endParaRPr lang="en-US" sz="850" dirty="0"/>
          </a:p>
        </p:txBody>
      </p:sp>
      <p:sp>
        <p:nvSpPr>
          <p:cNvPr id="40" name="Shape 37"/>
          <p:cNvSpPr/>
          <p:nvPr/>
        </p:nvSpPr>
        <p:spPr>
          <a:xfrm>
            <a:off x="0" y="4892040"/>
            <a:ext cx="9144000" cy="251460"/>
          </a:xfrm>
          <a:prstGeom prst="rect">
            <a:avLst/>
          </a:prstGeom>
          <a:solidFill>
            <a:srgbClr val="0D1B2A"/>
          </a:solidFill>
          <a:ln w="12700">
            <a:solidFill>
              <a:srgbClr val="0D1B2A"/>
            </a:solidFill>
            <a:prstDash val="solid"/>
          </a:ln>
        </p:spPr>
      </p:sp>
      <p:sp>
        <p:nvSpPr>
          <p:cNvPr id="41" name="Text 38"/>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42" name="Text 39"/>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§6  Results — Wildfire Susceptibility Map</a:t>
            </a:r>
            <a:endParaRPr lang="en-US" sz="2800" dirty="0"/>
          </a:p>
        </p:txBody>
      </p:sp>
      <p:sp>
        <p:nvSpPr>
          <p:cNvPr id="4" name="Shape 2"/>
          <p:cNvSpPr/>
          <p:nvPr/>
        </p:nvSpPr>
        <p:spPr>
          <a:xfrm>
            <a:off x="365760" y="804672"/>
            <a:ext cx="6400800" cy="416052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pic>
        <p:nvPicPr>
          <p:cNvPr id="5" name="Image 0" descr="preencoded.png">    </p:cNvPr>
          <p:cNvPicPr>
            <a:picLocks noChangeAspect="1"/>
          </p:cNvPicPr>
          <p:nvPr/>
        </p:nvPicPr>
        <p:blipFill>
          <a:blip r:embed="rId1"/>
          <a:srcRect l="0" r="0" t="0" b="0"/>
          <a:stretch/>
        </p:blipFill>
        <p:spPr>
          <a:xfrm>
            <a:off x="411480" y="822960"/>
            <a:ext cx="6309360" cy="4069080"/>
          </a:xfrm>
          <a:prstGeom prst="rect">
            <a:avLst/>
          </a:prstGeom>
        </p:spPr>
      </p:pic>
      <p:sp>
        <p:nvSpPr>
          <p:cNvPr id="6" name="Shape 3"/>
          <p:cNvSpPr/>
          <p:nvPr/>
        </p:nvSpPr>
        <p:spPr>
          <a:xfrm>
            <a:off x="6903720" y="804672"/>
            <a:ext cx="1920240" cy="384048"/>
          </a:xfrm>
          <a:prstGeom prst="rect">
            <a:avLst/>
          </a:prstGeom>
          <a:solidFill>
            <a:srgbClr val="0D1B2A"/>
          </a:solidFill>
          <a:ln w="12700">
            <a:solidFill>
              <a:srgbClr val="0D1B2A"/>
            </a:solidFill>
            <a:prstDash val="solid"/>
          </a:ln>
        </p:spPr>
      </p:sp>
      <p:sp>
        <p:nvSpPr>
          <p:cNvPr id="7" name="Text 4"/>
          <p:cNvSpPr/>
          <p:nvPr/>
        </p:nvSpPr>
        <p:spPr>
          <a:xfrm>
            <a:off x="6903720" y="804672"/>
            <a:ext cx="192024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Risk Classes</a:t>
            </a:r>
            <a:endParaRPr lang="en-US" sz="1200" dirty="0"/>
          </a:p>
        </p:txBody>
      </p:sp>
      <p:sp>
        <p:nvSpPr>
          <p:cNvPr id="8" name="Shape 5"/>
          <p:cNvSpPr/>
          <p:nvPr/>
        </p:nvSpPr>
        <p:spPr>
          <a:xfrm>
            <a:off x="6903720" y="1243584"/>
            <a:ext cx="1920240" cy="621792"/>
          </a:xfrm>
          <a:prstGeom prst="rect">
            <a:avLst/>
          </a:prstGeom>
          <a:solidFill>
            <a:srgbClr val="FFFFFF"/>
          </a:solidFill>
          <a:ln w="6350">
            <a:solidFill>
              <a:srgbClr val="E0E6EC"/>
            </a:solidFill>
            <a:prstDash val="solid"/>
          </a:ln>
        </p:spPr>
      </p:sp>
      <p:sp>
        <p:nvSpPr>
          <p:cNvPr id="9" name="Shape 6"/>
          <p:cNvSpPr/>
          <p:nvPr/>
        </p:nvSpPr>
        <p:spPr>
          <a:xfrm>
            <a:off x="6903720" y="1243584"/>
            <a:ext cx="201168" cy="621792"/>
          </a:xfrm>
          <a:prstGeom prst="rect">
            <a:avLst/>
          </a:prstGeom>
          <a:solidFill>
            <a:srgbClr val="1A9850"/>
          </a:solidFill>
          <a:ln w="12700">
            <a:solidFill>
              <a:srgbClr val="1A9850"/>
            </a:solidFill>
            <a:prstDash val="solid"/>
          </a:ln>
        </p:spPr>
      </p:sp>
      <p:sp>
        <p:nvSpPr>
          <p:cNvPr id="10" name="Text 7"/>
          <p:cNvSpPr/>
          <p:nvPr/>
        </p:nvSpPr>
        <p:spPr>
          <a:xfrm>
            <a:off x="7150608" y="1280160"/>
            <a:ext cx="1627632"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Very Low</a:t>
            </a:r>
            <a:endParaRPr lang="en-US" sz="1100" dirty="0"/>
          </a:p>
        </p:txBody>
      </p:sp>
      <p:sp>
        <p:nvSpPr>
          <p:cNvPr id="11" name="Text 8"/>
          <p:cNvSpPr/>
          <p:nvPr/>
        </p:nvSpPr>
        <p:spPr>
          <a:xfrm>
            <a:off x="7150608" y="1536192"/>
            <a:ext cx="82296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3,468 km²</a:t>
            </a:r>
            <a:endParaRPr lang="en-US" sz="900" dirty="0"/>
          </a:p>
        </p:txBody>
      </p:sp>
      <p:sp>
        <p:nvSpPr>
          <p:cNvPr id="12" name="Text 9"/>
          <p:cNvSpPr/>
          <p:nvPr/>
        </p:nvSpPr>
        <p:spPr>
          <a:xfrm>
            <a:off x="7863840" y="1536192"/>
            <a:ext cx="868680" cy="256032"/>
          </a:xfrm>
          <a:prstGeom prst="rect">
            <a:avLst/>
          </a:prstGeom>
          <a:noFill/>
          <a:ln/>
        </p:spPr>
        <p:txBody>
          <a:bodyPr wrap="square" rtlCol="0" anchor="ctr"/>
          <a:lstStyle/>
          <a:p>
            <a:pPr algn="r" indent="0" marL="0">
              <a:buNone/>
            </a:pPr>
            <a:r>
              <a:rPr lang="en-US" sz="1100" b="1" dirty="0">
                <a:solidFill>
                  <a:srgbClr val="1A9850"/>
                </a:solidFill>
                <a:latin typeface="Calibri" pitchFamily="34" charset="0"/>
                <a:ea typeface="Calibri" pitchFamily="34" charset="-122"/>
                <a:cs typeface="Calibri" pitchFamily="34" charset="-120"/>
              </a:rPr>
              <a:t>26.0%</a:t>
            </a:r>
            <a:endParaRPr lang="en-US" sz="1100" dirty="0"/>
          </a:p>
        </p:txBody>
      </p:sp>
      <p:sp>
        <p:nvSpPr>
          <p:cNvPr id="13" name="Shape 10"/>
          <p:cNvSpPr/>
          <p:nvPr/>
        </p:nvSpPr>
        <p:spPr>
          <a:xfrm>
            <a:off x="6903720" y="1920240"/>
            <a:ext cx="1920240" cy="621792"/>
          </a:xfrm>
          <a:prstGeom prst="rect">
            <a:avLst/>
          </a:prstGeom>
          <a:solidFill>
            <a:srgbClr val="FFFFFF"/>
          </a:solidFill>
          <a:ln w="6350">
            <a:solidFill>
              <a:srgbClr val="E0E6EC"/>
            </a:solidFill>
            <a:prstDash val="solid"/>
          </a:ln>
        </p:spPr>
      </p:sp>
      <p:sp>
        <p:nvSpPr>
          <p:cNvPr id="14" name="Shape 11"/>
          <p:cNvSpPr/>
          <p:nvPr/>
        </p:nvSpPr>
        <p:spPr>
          <a:xfrm>
            <a:off x="6903720" y="1920240"/>
            <a:ext cx="201168" cy="621792"/>
          </a:xfrm>
          <a:prstGeom prst="rect">
            <a:avLst/>
          </a:prstGeom>
          <a:solidFill>
            <a:srgbClr val="91CF60"/>
          </a:solidFill>
          <a:ln w="12700">
            <a:solidFill>
              <a:srgbClr val="91CF60"/>
            </a:solidFill>
            <a:prstDash val="solid"/>
          </a:ln>
        </p:spPr>
      </p:sp>
      <p:sp>
        <p:nvSpPr>
          <p:cNvPr id="15" name="Text 12"/>
          <p:cNvSpPr/>
          <p:nvPr/>
        </p:nvSpPr>
        <p:spPr>
          <a:xfrm>
            <a:off x="7150608" y="1956816"/>
            <a:ext cx="1627632"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Low</a:t>
            </a:r>
            <a:endParaRPr lang="en-US" sz="1100" dirty="0"/>
          </a:p>
        </p:txBody>
      </p:sp>
      <p:sp>
        <p:nvSpPr>
          <p:cNvPr id="16" name="Text 13"/>
          <p:cNvSpPr/>
          <p:nvPr/>
        </p:nvSpPr>
        <p:spPr>
          <a:xfrm>
            <a:off x="7150608" y="2212848"/>
            <a:ext cx="82296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3,067 km²</a:t>
            </a:r>
            <a:endParaRPr lang="en-US" sz="900" dirty="0"/>
          </a:p>
        </p:txBody>
      </p:sp>
      <p:sp>
        <p:nvSpPr>
          <p:cNvPr id="17" name="Text 14"/>
          <p:cNvSpPr/>
          <p:nvPr/>
        </p:nvSpPr>
        <p:spPr>
          <a:xfrm>
            <a:off x="7863840" y="2212848"/>
            <a:ext cx="868680" cy="256032"/>
          </a:xfrm>
          <a:prstGeom prst="rect">
            <a:avLst/>
          </a:prstGeom>
          <a:noFill/>
          <a:ln/>
        </p:spPr>
        <p:txBody>
          <a:bodyPr wrap="square" rtlCol="0" anchor="ctr"/>
          <a:lstStyle/>
          <a:p>
            <a:pPr algn="r" indent="0" marL="0">
              <a:buNone/>
            </a:pPr>
            <a:r>
              <a:rPr lang="en-US" sz="1100" b="1" dirty="0">
                <a:solidFill>
                  <a:srgbClr val="91CF60"/>
                </a:solidFill>
                <a:latin typeface="Calibri" pitchFamily="34" charset="0"/>
                <a:ea typeface="Calibri" pitchFamily="34" charset="-122"/>
                <a:cs typeface="Calibri" pitchFamily="34" charset="-120"/>
              </a:rPr>
              <a:t>23.0%</a:t>
            </a:r>
            <a:endParaRPr lang="en-US" sz="1100" dirty="0"/>
          </a:p>
        </p:txBody>
      </p:sp>
      <p:sp>
        <p:nvSpPr>
          <p:cNvPr id="18" name="Shape 15"/>
          <p:cNvSpPr/>
          <p:nvPr/>
        </p:nvSpPr>
        <p:spPr>
          <a:xfrm>
            <a:off x="6903720" y="2596896"/>
            <a:ext cx="1920240" cy="621792"/>
          </a:xfrm>
          <a:prstGeom prst="rect">
            <a:avLst/>
          </a:prstGeom>
          <a:solidFill>
            <a:srgbClr val="FFFFFF"/>
          </a:solidFill>
          <a:ln w="6350">
            <a:solidFill>
              <a:srgbClr val="E0E6EC"/>
            </a:solidFill>
            <a:prstDash val="solid"/>
          </a:ln>
        </p:spPr>
      </p:sp>
      <p:sp>
        <p:nvSpPr>
          <p:cNvPr id="19" name="Shape 16"/>
          <p:cNvSpPr/>
          <p:nvPr/>
        </p:nvSpPr>
        <p:spPr>
          <a:xfrm>
            <a:off x="6903720" y="2596896"/>
            <a:ext cx="201168" cy="621792"/>
          </a:xfrm>
          <a:prstGeom prst="rect">
            <a:avLst/>
          </a:prstGeom>
          <a:solidFill>
            <a:srgbClr val="FEE08B"/>
          </a:solidFill>
          <a:ln w="12700">
            <a:solidFill>
              <a:srgbClr val="FEE08B"/>
            </a:solidFill>
            <a:prstDash val="solid"/>
          </a:ln>
        </p:spPr>
      </p:sp>
      <p:sp>
        <p:nvSpPr>
          <p:cNvPr id="20" name="Text 17"/>
          <p:cNvSpPr/>
          <p:nvPr/>
        </p:nvSpPr>
        <p:spPr>
          <a:xfrm>
            <a:off x="7150608" y="2633472"/>
            <a:ext cx="1627632"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Medium</a:t>
            </a:r>
            <a:endParaRPr lang="en-US" sz="1100" dirty="0"/>
          </a:p>
        </p:txBody>
      </p:sp>
      <p:sp>
        <p:nvSpPr>
          <p:cNvPr id="21" name="Text 18"/>
          <p:cNvSpPr/>
          <p:nvPr/>
        </p:nvSpPr>
        <p:spPr>
          <a:xfrm>
            <a:off x="7150608" y="2889504"/>
            <a:ext cx="82296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3,200 km²</a:t>
            </a:r>
            <a:endParaRPr lang="en-US" sz="900" dirty="0"/>
          </a:p>
        </p:txBody>
      </p:sp>
      <p:sp>
        <p:nvSpPr>
          <p:cNvPr id="22" name="Text 19"/>
          <p:cNvSpPr/>
          <p:nvPr/>
        </p:nvSpPr>
        <p:spPr>
          <a:xfrm>
            <a:off x="7863840" y="2889504"/>
            <a:ext cx="868680" cy="256032"/>
          </a:xfrm>
          <a:prstGeom prst="rect">
            <a:avLst/>
          </a:prstGeom>
          <a:noFill/>
          <a:ln/>
        </p:spPr>
        <p:txBody>
          <a:bodyPr wrap="square" rtlCol="0" anchor="ctr"/>
          <a:lstStyle/>
          <a:p>
            <a:pPr algn="r" indent="0" marL="0">
              <a:buNone/>
            </a:pPr>
            <a:r>
              <a:rPr lang="en-US" sz="1100" b="1" dirty="0">
                <a:solidFill>
                  <a:srgbClr val="0D1B2A"/>
                </a:solidFill>
                <a:latin typeface="Calibri" pitchFamily="34" charset="0"/>
                <a:ea typeface="Calibri" pitchFamily="34" charset="-122"/>
                <a:cs typeface="Calibri" pitchFamily="34" charset="-120"/>
              </a:rPr>
              <a:t>24.0%</a:t>
            </a:r>
            <a:endParaRPr lang="en-US" sz="1100" dirty="0"/>
          </a:p>
        </p:txBody>
      </p:sp>
      <p:sp>
        <p:nvSpPr>
          <p:cNvPr id="23" name="Shape 20"/>
          <p:cNvSpPr/>
          <p:nvPr/>
        </p:nvSpPr>
        <p:spPr>
          <a:xfrm>
            <a:off x="6903720" y="3273552"/>
            <a:ext cx="1920240" cy="621792"/>
          </a:xfrm>
          <a:prstGeom prst="rect">
            <a:avLst/>
          </a:prstGeom>
          <a:solidFill>
            <a:srgbClr val="FFFFFF"/>
          </a:solidFill>
          <a:ln w="6350">
            <a:solidFill>
              <a:srgbClr val="E0E6EC"/>
            </a:solidFill>
            <a:prstDash val="solid"/>
          </a:ln>
        </p:spPr>
      </p:sp>
      <p:sp>
        <p:nvSpPr>
          <p:cNvPr id="24" name="Shape 21"/>
          <p:cNvSpPr/>
          <p:nvPr/>
        </p:nvSpPr>
        <p:spPr>
          <a:xfrm>
            <a:off x="6903720" y="3273552"/>
            <a:ext cx="201168" cy="621792"/>
          </a:xfrm>
          <a:prstGeom prst="rect">
            <a:avLst/>
          </a:prstGeom>
          <a:solidFill>
            <a:srgbClr val="FC8D59"/>
          </a:solidFill>
          <a:ln w="12700">
            <a:solidFill>
              <a:srgbClr val="FC8D59"/>
            </a:solidFill>
            <a:prstDash val="solid"/>
          </a:ln>
        </p:spPr>
      </p:sp>
      <p:sp>
        <p:nvSpPr>
          <p:cNvPr id="25" name="Text 22"/>
          <p:cNvSpPr/>
          <p:nvPr/>
        </p:nvSpPr>
        <p:spPr>
          <a:xfrm>
            <a:off x="7150608" y="3310128"/>
            <a:ext cx="1627632"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High</a:t>
            </a:r>
            <a:endParaRPr lang="en-US" sz="1100" dirty="0"/>
          </a:p>
        </p:txBody>
      </p:sp>
      <p:sp>
        <p:nvSpPr>
          <p:cNvPr id="26" name="Text 23"/>
          <p:cNvSpPr/>
          <p:nvPr/>
        </p:nvSpPr>
        <p:spPr>
          <a:xfrm>
            <a:off x="7150608" y="3566160"/>
            <a:ext cx="82296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2,268 km²</a:t>
            </a:r>
            <a:endParaRPr lang="en-US" sz="900" dirty="0"/>
          </a:p>
        </p:txBody>
      </p:sp>
      <p:sp>
        <p:nvSpPr>
          <p:cNvPr id="27" name="Text 24"/>
          <p:cNvSpPr/>
          <p:nvPr/>
        </p:nvSpPr>
        <p:spPr>
          <a:xfrm>
            <a:off x="7863840" y="3566160"/>
            <a:ext cx="868680" cy="256032"/>
          </a:xfrm>
          <a:prstGeom prst="rect">
            <a:avLst/>
          </a:prstGeom>
          <a:noFill/>
          <a:ln/>
        </p:spPr>
        <p:txBody>
          <a:bodyPr wrap="square" rtlCol="0" anchor="ctr"/>
          <a:lstStyle/>
          <a:p>
            <a:pPr algn="r" indent="0" marL="0">
              <a:buNone/>
            </a:pPr>
            <a:r>
              <a:rPr lang="en-US" sz="1100" b="1" dirty="0">
                <a:solidFill>
                  <a:srgbClr val="FC8D59"/>
                </a:solidFill>
                <a:latin typeface="Calibri" pitchFamily="34" charset="0"/>
                <a:ea typeface="Calibri" pitchFamily="34" charset="-122"/>
                <a:cs typeface="Calibri" pitchFamily="34" charset="-120"/>
              </a:rPr>
              <a:t>17.0%</a:t>
            </a:r>
            <a:endParaRPr lang="en-US" sz="1100" dirty="0"/>
          </a:p>
        </p:txBody>
      </p:sp>
      <p:sp>
        <p:nvSpPr>
          <p:cNvPr id="28" name="Shape 25"/>
          <p:cNvSpPr/>
          <p:nvPr/>
        </p:nvSpPr>
        <p:spPr>
          <a:xfrm>
            <a:off x="6903720" y="3950208"/>
            <a:ext cx="1920240" cy="621792"/>
          </a:xfrm>
          <a:prstGeom prst="rect">
            <a:avLst/>
          </a:prstGeom>
          <a:solidFill>
            <a:srgbClr val="FFFFFF"/>
          </a:solidFill>
          <a:ln w="6350">
            <a:solidFill>
              <a:srgbClr val="E0E6EC"/>
            </a:solidFill>
            <a:prstDash val="solid"/>
          </a:ln>
        </p:spPr>
      </p:sp>
      <p:sp>
        <p:nvSpPr>
          <p:cNvPr id="29" name="Shape 26"/>
          <p:cNvSpPr/>
          <p:nvPr/>
        </p:nvSpPr>
        <p:spPr>
          <a:xfrm>
            <a:off x="6903720" y="3950208"/>
            <a:ext cx="201168" cy="621792"/>
          </a:xfrm>
          <a:prstGeom prst="rect">
            <a:avLst/>
          </a:prstGeom>
          <a:solidFill>
            <a:srgbClr val="D73027"/>
          </a:solidFill>
          <a:ln w="12700">
            <a:solidFill>
              <a:srgbClr val="D73027"/>
            </a:solidFill>
            <a:prstDash val="solid"/>
          </a:ln>
        </p:spPr>
      </p:sp>
      <p:sp>
        <p:nvSpPr>
          <p:cNvPr id="30" name="Text 27"/>
          <p:cNvSpPr/>
          <p:nvPr/>
        </p:nvSpPr>
        <p:spPr>
          <a:xfrm>
            <a:off x="7150608" y="3986784"/>
            <a:ext cx="1627632"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V. High</a:t>
            </a:r>
            <a:endParaRPr lang="en-US" sz="1100" dirty="0"/>
          </a:p>
        </p:txBody>
      </p:sp>
      <p:sp>
        <p:nvSpPr>
          <p:cNvPr id="31" name="Text 28"/>
          <p:cNvSpPr/>
          <p:nvPr/>
        </p:nvSpPr>
        <p:spPr>
          <a:xfrm>
            <a:off x="7150608" y="4242816"/>
            <a:ext cx="822960" cy="256032"/>
          </a:xfrm>
          <a:prstGeom prst="rect">
            <a:avLst/>
          </a:prstGeom>
          <a:noFill/>
          <a:ln/>
        </p:spPr>
        <p:txBody>
          <a:bodyPr wrap="square" rtlCol="0" anchor="ctr"/>
          <a:lstStyle/>
          <a:p>
            <a:pPr indent="0" marL="0">
              <a:buNone/>
            </a:pPr>
            <a:r>
              <a:rPr lang="en-US" sz="900" dirty="0">
                <a:solidFill>
                  <a:srgbClr val="7F8C8D"/>
                </a:solidFill>
                <a:latin typeface="Calibri" pitchFamily="34" charset="0"/>
                <a:ea typeface="Calibri" pitchFamily="34" charset="-122"/>
                <a:cs typeface="Calibri" pitchFamily="34" charset="-120"/>
              </a:rPr>
              <a:t>1,334 km²</a:t>
            </a:r>
            <a:endParaRPr lang="en-US" sz="900" dirty="0"/>
          </a:p>
        </p:txBody>
      </p:sp>
      <p:sp>
        <p:nvSpPr>
          <p:cNvPr id="32" name="Text 29"/>
          <p:cNvSpPr/>
          <p:nvPr/>
        </p:nvSpPr>
        <p:spPr>
          <a:xfrm>
            <a:off x="7863840" y="4242816"/>
            <a:ext cx="868680" cy="256032"/>
          </a:xfrm>
          <a:prstGeom prst="rect">
            <a:avLst/>
          </a:prstGeom>
          <a:noFill/>
          <a:ln/>
        </p:spPr>
        <p:txBody>
          <a:bodyPr wrap="square" rtlCol="0" anchor="ctr"/>
          <a:lstStyle/>
          <a:p>
            <a:pPr algn="r" indent="0" marL="0">
              <a:buNone/>
            </a:pPr>
            <a:r>
              <a:rPr lang="en-US" sz="1100" b="1" dirty="0">
                <a:solidFill>
                  <a:srgbClr val="D73027"/>
                </a:solidFill>
                <a:latin typeface="Calibri" pitchFamily="34" charset="0"/>
                <a:ea typeface="Calibri" pitchFamily="34" charset="-122"/>
                <a:cs typeface="Calibri" pitchFamily="34" charset="-120"/>
              </a:rPr>
              <a:t>10.0%</a:t>
            </a:r>
            <a:endParaRPr lang="en-US" sz="1100" dirty="0"/>
          </a:p>
        </p:txBody>
      </p:sp>
      <p:sp>
        <p:nvSpPr>
          <p:cNvPr id="33" name="Shape 30"/>
          <p:cNvSpPr/>
          <p:nvPr/>
        </p:nvSpPr>
        <p:spPr>
          <a:xfrm>
            <a:off x="6903720" y="4663440"/>
            <a:ext cx="1920240" cy="182880"/>
          </a:xfrm>
          <a:prstGeom prst="rect">
            <a:avLst/>
          </a:prstGeom>
          <a:solidFill>
            <a:srgbClr val="C0392B">
              <a:alpha val="15000"/>
            </a:srgbClr>
          </a:solidFill>
          <a:ln w="6350">
            <a:solidFill>
              <a:srgbClr val="C0392B"/>
            </a:solidFill>
            <a:prstDash val="solid"/>
          </a:ln>
        </p:spPr>
      </p:sp>
      <p:sp>
        <p:nvSpPr>
          <p:cNvPr id="34" name="Text 31"/>
          <p:cNvSpPr/>
          <p:nvPr/>
        </p:nvSpPr>
        <p:spPr>
          <a:xfrm>
            <a:off x="6903720" y="4663440"/>
            <a:ext cx="1920240" cy="182880"/>
          </a:xfrm>
          <a:prstGeom prst="rect">
            <a:avLst/>
          </a:prstGeom>
          <a:noFill/>
          <a:ln/>
        </p:spPr>
        <p:txBody>
          <a:bodyPr wrap="square"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27% in High + Very High risk</a:t>
            </a:r>
            <a:endParaRPr lang="en-US" sz="800" dirty="0"/>
          </a:p>
        </p:txBody>
      </p:sp>
      <p:sp>
        <p:nvSpPr>
          <p:cNvPr id="35" name="Shape 32"/>
          <p:cNvSpPr/>
          <p:nvPr/>
        </p:nvSpPr>
        <p:spPr>
          <a:xfrm>
            <a:off x="0" y="4892040"/>
            <a:ext cx="9144000" cy="251460"/>
          </a:xfrm>
          <a:prstGeom prst="rect">
            <a:avLst/>
          </a:prstGeom>
          <a:solidFill>
            <a:srgbClr val="0D1B2A"/>
          </a:solidFill>
          <a:ln w="12700">
            <a:solidFill>
              <a:srgbClr val="0D1B2A"/>
            </a:solidFill>
            <a:prstDash val="solid"/>
          </a:ln>
        </p:spPr>
      </p:sp>
      <p:sp>
        <p:nvSpPr>
          <p:cNvPr id="36" name="Text 33"/>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37" name="Text 34"/>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§7  Web GIS Decision-Support System</a:t>
            </a:r>
            <a:endParaRPr lang="en-US" sz="2800" dirty="0"/>
          </a:p>
        </p:txBody>
      </p:sp>
      <p:sp>
        <p:nvSpPr>
          <p:cNvPr id="4" name="Shape 2"/>
          <p:cNvSpPr/>
          <p:nvPr/>
        </p:nvSpPr>
        <p:spPr>
          <a:xfrm>
            <a:off x="365760" y="82296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4206240" cy="54864"/>
          </a:xfrm>
          <a:prstGeom prst="rect">
            <a:avLst/>
          </a:prstGeom>
          <a:solidFill>
            <a:srgbClr val="C0392B"/>
          </a:solidFill>
          <a:ln w="12700">
            <a:solidFill>
              <a:srgbClr val="C0392B"/>
            </a:solidFill>
            <a:prstDash val="solid"/>
          </a:ln>
        </p:spPr>
      </p:sp>
      <p:sp>
        <p:nvSpPr>
          <p:cNvPr id="6" name="Text 4"/>
          <p:cNvSpPr/>
          <p:nvPr/>
        </p:nvSpPr>
        <p:spPr>
          <a:xfrm>
            <a:off x="457200" y="93268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1005840" y="89611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Multi-Layer Map</a:t>
            </a:r>
            <a:endParaRPr lang="en-US" sz="1250" dirty="0"/>
          </a:p>
        </p:txBody>
      </p:sp>
      <p:sp>
        <p:nvSpPr>
          <p:cNvPr id="8" name="Text 6"/>
          <p:cNvSpPr/>
          <p:nvPr/>
        </p:nvSpPr>
        <p:spPr>
          <a:xfrm>
            <a:off x="1005840" y="124358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OpenStreetMap base tiles with 6 toggle-able layers: burned points, unburned points, fire heatmap, province boundary, before/after Sentinel-2 overlays</a:t>
            </a:r>
            <a:endParaRPr lang="en-US" sz="950" dirty="0"/>
          </a:p>
        </p:txBody>
      </p:sp>
      <p:sp>
        <p:nvSpPr>
          <p:cNvPr id="9" name="Shape 7"/>
          <p:cNvSpPr/>
          <p:nvPr/>
        </p:nvSpPr>
        <p:spPr>
          <a:xfrm>
            <a:off x="4800600" y="82296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800600" y="822960"/>
            <a:ext cx="4206240" cy="54864"/>
          </a:xfrm>
          <a:prstGeom prst="rect">
            <a:avLst/>
          </a:prstGeom>
          <a:solidFill>
            <a:srgbClr val="C0392B"/>
          </a:solidFill>
          <a:ln w="12700">
            <a:solidFill>
              <a:srgbClr val="C0392B"/>
            </a:solidFill>
            <a:prstDash val="solid"/>
          </a:ln>
        </p:spPr>
      </p:sp>
      <p:sp>
        <p:nvSpPr>
          <p:cNvPr id="11" name="Text 9"/>
          <p:cNvSpPr/>
          <p:nvPr/>
        </p:nvSpPr>
        <p:spPr>
          <a:xfrm>
            <a:off x="4892040" y="93268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5440680" y="89611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Susceptibility Heatmap</a:t>
            </a:r>
            <a:endParaRPr lang="en-US" sz="1250" dirty="0"/>
          </a:p>
        </p:txBody>
      </p:sp>
      <p:sp>
        <p:nvSpPr>
          <p:cNvPr id="13" name="Text 11"/>
          <p:cNvSpPr/>
          <p:nvPr/>
        </p:nvSpPr>
        <p:spPr>
          <a:xfrm>
            <a:off x="5440680" y="124358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Leaflet.heat layer built from 61 burned-area markers with Gaussian spread (σ≈0.10°), clipped to province coastline via point-in-polygon ray-casting</a:t>
            </a:r>
            <a:endParaRPr lang="en-US" sz="950" dirty="0"/>
          </a:p>
        </p:txBody>
      </p:sp>
      <p:sp>
        <p:nvSpPr>
          <p:cNvPr id="14" name="Shape 12"/>
          <p:cNvSpPr/>
          <p:nvPr/>
        </p:nvSpPr>
        <p:spPr>
          <a:xfrm>
            <a:off x="365760" y="210312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65760" y="2103120"/>
            <a:ext cx="4206240" cy="54864"/>
          </a:xfrm>
          <a:prstGeom prst="rect">
            <a:avLst/>
          </a:prstGeom>
          <a:solidFill>
            <a:srgbClr val="C0392B"/>
          </a:solidFill>
          <a:ln w="12700">
            <a:solidFill>
              <a:srgbClr val="C0392B"/>
            </a:solidFill>
            <a:prstDash val="solid"/>
          </a:ln>
        </p:spPr>
      </p:sp>
      <p:sp>
        <p:nvSpPr>
          <p:cNvPr id="16" name="Text 14"/>
          <p:cNvSpPr/>
          <p:nvPr/>
        </p:nvSpPr>
        <p:spPr>
          <a:xfrm>
            <a:off x="457200" y="221284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1005840" y="217627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Scenario Simulator</a:t>
            </a:r>
            <a:endParaRPr lang="en-US" sz="1250" dirty="0"/>
          </a:p>
        </p:txBody>
      </p:sp>
      <p:sp>
        <p:nvSpPr>
          <p:cNvPr id="18" name="Text 16"/>
          <p:cNvSpPr/>
          <p:nvPr/>
        </p:nvSpPr>
        <p:spPr>
          <a:xfrm>
            <a:off x="1005840" y="252374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Sliders for wind speed, drought index, and slope. XGBoost-calibrated formula gives instant probabilistic feedback without a live API server</a:t>
            </a:r>
            <a:endParaRPr lang="en-US" sz="950" dirty="0"/>
          </a:p>
        </p:txBody>
      </p:sp>
      <p:sp>
        <p:nvSpPr>
          <p:cNvPr id="19" name="Shape 17"/>
          <p:cNvSpPr/>
          <p:nvPr/>
        </p:nvSpPr>
        <p:spPr>
          <a:xfrm>
            <a:off x="4800600" y="210312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800600" y="2103120"/>
            <a:ext cx="4206240" cy="54864"/>
          </a:xfrm>
          <a:prstGeom prst="rect">
            <a:avLst/>
          </a:prstGeom>
          <a:solidFill>
            <a:srgbClr val="C0392B"/>
          </a:solidFill>
          <a:ln w="12700">
            <a:solidFill>
              <a:srgbClr val="C0392B"/>
            </a:solidFill>
            <a:prstDash val="solid"/>
          </a:ln>
        </p:spPr>
      </p:sp>
      <p:sp>
        <p:nvSpPr>
          <p:cNvPr id="21" name="Text 19"/>
          <p:cNvSpPr/>
          <p:nvPr/>
        </p:nvSpPr>
        <p:spPr>
          <a:xfrm>
            <a:off x="4892040" y="221284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5440680" y="217627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Results Dashboard</a:t>
            </a:r>
            <a:endParaRPr lang="en-US" sz="1250" dirty="0"/>
          </a:p>
        </p:txBody>
      </p:sp>
      <p:sp>
        <p:nvSpPr>
          <p:cNvPr id="23" name="Text 21"/>
          <p:cNvSpPr/>
          <p:nvPr/>
        </p:nvSpPr>
        <p:spPr>
          <a:xfrm>
            <a:off x="5440680" y="252374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Model comparison table, training data summary (326 samples, 61 burned, 441 unburned), confusion matrix, and feature importance embedded inline</a:t>
            </a:r>
            <a:endParaRPr lang="en-US" sz="950" dirty="0"/>
          </a:p>
        </p:txBody>
      </p:sp>
      <p:sp>
        <p:nvSpPr>
          <p:cNvPr id="24" name="Shape 22"/>
          <p:cNvSpPr/>
          <p:nvPr/>
        </p:nvSpPr>
        <p:spPr>
          <a:xfrm>
            <a:off x="365760" y="338328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65760" y="3383280"/>
            <a:ext cx="4206240" cy="54864"/>
          </a:xfrm>
          <a:prstGeom prst="rect">
            <a:avLst/>
          </a:prstGeom>
          <a:solidFill>
            <a:srgbClr val="C0392B"/>
          </a:solidFill>
          <a:ln w="12700">
            <a:solidFill>
              <a:srgbClr val="C0392B"/>
            </a:solidFill>
            <a:prstDash val="solid"/>
          </a:ln>
        </p:spPr>
      </p:sp>
      <p:sp>
        <p:nvSpPr>
          <p:cNvPr id="26" name="Text 24"/>
          <p:cNvSpPr/>
          <p:nvPr/>
        </p:nvSpPr>
        <p:spPr>
          <a:xfrm>
            <a:off x="457200" y="349300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1005840" y="345643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NASA FIRMS Overlay</a:t>
            </a:r>
            <a:endParaRPr lang="en-US" sz="1250" dirty="0"/>
          </a:p>
        </p:txBody>
      </p:sp>
      <p:sp>
        <p:nvSpPr>
          <p:cNvPr id="28" name="Text 26"/>
          <p:cNvSpPr/>
          <p:nvPr/>
        </p:nvSpPr>
        <p:spPr>
          <a:xfrm>
            <a:off x="1005840" y="380390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Real-time VIIRS fire hotspot WMS tiles from NASA FIRMS, toggleable on the main map for current fire activity context</a:t>
            </a:r>
            <a:endParaRPr lang="en-US" sz="950" dirty="0"/>
          </a:p>
        </p:txBody>
      </p:sp>
      <p:sp>
        <p:nvSpPr>
          <p:cNvPr id="29" name="Shape 27"/>
          <p:cNvSpPr/>
          <p:nvPr/>
        </p:nvSpPr>
        <p:spPr>
          <a:xfrm>
            <a:off x="4800600" y="3383280"/>
            <a:ext cx="4206240" cy="1188720"/>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4800600" y="3383280"/>
            <a:ext cx="4206240" cy="54864"/>
          </a:xfrm>
          <a:prstGeom prst="rect">
            <a:avLst/>
          </a:prstGeom>
          <a:solidFill>
            <a:srgbClr val="C0392B"/>
          </a:solidFill>
          <a:ln w="12700">
            <a:solidFill>
              <a:srgbClr val="C0392B"/>
            </a:solidFill>
            <a:prstDash val="solid"/>
          </a:ln>
        </p:spPr>
      </p:sp>
      <p:sp>
        <p:nvSpPr>
          <p:cNvPr id="31" name="Text 29"/>
          <p:cNvSpPr/>
          <p:nvPr/>
        </p:nvSpPr>
        <p:spPr>
          <a:xfrm>
            <a:off x="4892040" y="3493008"/>
            <a:ext cx="50292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5440680" y="3456432"/>
            <a:ext cx="3493008" cy="32004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Leaflet Draw AOI</a:t>
            </a:r>
            <a:endParaRPr lang="en-US" sz="1250" dirty="0"/>
          </a:p>
        </p:txBody>
      </p:sp>
      <p:sp>
        <p:nvSpPr>
          <p:cNvPr id="33" name="Text 31"/>
          <p:cNvSpPr/>
          <p:nvPr/>
        </p:nvSpPr>
        <p:spPr>
          <a:xfrm>
            <a:off x="5440680" y="3803904"/>
            <a:ext cx="3493008" cy="68580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Users draw custom rectangles or polygons; app counts burned/unburned points inside the AOI and offers GeoJSON download</a:t>
            </a:r>
            <a:endParaRPr lang="en-US" sz="950" dirty="0"/>
          </a:p>
        </p:txBody>
      </p:sp>
      <p:sp>
        <p:nvSpPr>
          <p:cNvPr id="34" name="Shape 32"/>
          <p:cNvSpPr/>
          <p:nvPr/>
        </p:nvSpPr>
        <p:spPr>
          <a:xfrm>
            <a:off x="365760" y="4681728"/>
            <a:ext cx="8412480" cy="27432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35" name="Text 33"/>
          <p:cNvSpPr/>
          <p:nvPr/>
        </p:nvSpPr>
        <p:spPr>
          <a:xfrm>
            <a:off x="365760" y="4681728"/>
            <a:ext cx="8412480" cy="274320"/>
          </a:xfrm>
          <a:prstGeom prst="rect">
            <a:avLst/>
          </a:prstGeom>
          <a:noFill/>
          <a:ln/>
        </p:spPr>
        <p:txBody>
          <a:bodyPr wrap="square" rtlCol="0" anchor="ctr"/>
          <a:lstStyle/>
          <a:p>
            <a:pPr algn="ctr" indent="0" marL="0">
              <a:buNone/>
            </a:pPr>
            <a:r>
              <a:rPr lang="en-US" sz="1000" b="1" dirty="0">
                <a:solidFill>
                  <a:srgbClr val="F5A623"/>
                </a:solidFill>
                <a:latin typeface="Calibri" pitchFamily="34" charset="0"/>
                <a:ea typeface="Calibri" pitchFamily="34" charset="-122"/>
                <a:cs typeface="Calibri" pitchFamily="34" charset="-120"/>
              </a:rPr>
              <a:t>🌐  Live app: https://3bdoiq200.github.io/GIS-Wildfire-Mugla/   |   Repo: github.com/3bdOIQ200/GIS-Wildfire-Mugla</a:t>
            </a:r>
            <a:endParaRPr lang="en-US" sz="1000" dirty="0"/>
          </a:p>
        </p:txBody>
      </p:sp>
      <p:sp>
        <p:nvSpPr>
          <p:cNvPr id="36" name="Shape 34"/>
          <p:cNvSpPr/>
          <p:nvPr/>
        </p:nvSpPr>
        <p:spPr>
          <a:xfrm>
            <a:off x="0" y="4892040"/>
            <a:ext cx="9144000" cy="251460"/>
          </a:xfrm>
          <a:prstGeom prst="rect">
            <a:avLst/>
          </a:prstGeom>
          <a:solidFill>
            <a:srgbClr val="0D1B2A"/>
          </a:solidFill>
          <a:ln w="12700">
            <a:solidFill>
              <a:srgbClr val="0D1B2A"/>
            </a:solidFill>
            <a:prstDash val="solid"/>
          </a:ln>
        </p:spPr>
      </p:sp>
      <p:sp>
        <p:nvSpPr>
          <p:cNvPr id="37" name="Text 35"/>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38" name="Text 36"/>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11480" y="201168"/>
            <a:ext cx="54864" cy="475488"/>
          </a:xfrm>
          <a:prstGeom prst="rect">
            <a:avLst/>
          </a:prstGeom>
          <a:solidFill>
            <a:srgbClr val="C0392B"/>
          </a:solidFill>
          <a:ln w="12700">
            <a:solidFill>
              <a:srgbClr val="C0392B"/>
            </a:solidFill>
            <a:prstDash val="solid"/>
          </a:ln>
        </p:spPr>
      </p:sp>
      <p:sp>
        <p:nvSpPr>
          <p:cNvPr id="3" name="Text 1"/>
          <p:cNvSpPr/>
          <p:nvPr/>
        </p:nvSpPr>
        <p:spPr>
          <a:xfrm>
            <a:off x="548640" y="164592"/>
            <a:ext cx="8046720" cy="548640"/>
          </a:xfrm>
          <a:prstGeom prst="rect">
            <a:avLst/>
          </a:prstGeom>
          <a:noFill/>
          <a:ln/>
        </p:spPr>
        <p:txBody>
          <a:bodyPr wrap="square" rtlCol="0" anchor="ctr"/>
          <a:lstStyle/>
          <a:p>
            <a:pPr indent="0" marL="0">
              <a:buNone/>
            </a:pPr>
            <a:r>
              <a:rPr lang="en-US" sz="2800" b="1" dirty="0">
                <a:solidFill>
                  <a:srgbClr val="0D1B2A"/>
                </a:solidFill>
                <a:latin typeface="Calibri" pitchFamily="34" charset="0"/>
                <a:ea typeface="Calibri" pitchFamily="34" charset="-122"/>
                <a:cs typeface="Calibri" pitchFamily="34" charset="-120"/>
              </a:rPr>
              <a:t>§8  Discussion</a:t>
            </a:r>
            <a:endParaRPr lang="en-US" sz="2800" dirty="0"/>
          </a:p>
        </p:txBody>
      </p:sp>
      <p:sp>
        <p:nvSpPr>
          <p:cNvPr id="4" name="Shape 2"/>
          <p:cNvSpPr/>
          <p:nvPr/>
        </p:nvSpPr>
        <p:spPr>
          <a:xfrm>
            <a:off x="365760" y="822960"/>
            <a:ext cx="4206240" cy="1261872"/>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822960"/>
            <a:ext cx="4206240" cy="54864"/>
          </a:xfrm>
          <a:prstGeom prst="rect">
            <a:avLst/>
          </a:prstGeom>
          <a:solidFill>
            <a:srgbClr val="C0392B"/>
          </a:solidFill>
          <a:ln w="12700">
            <a:solidFill>
              <a:srgbClr val="C0392B"/>
            </a:solidFill>
            <a:prstDash val="solid"/>
          </a:ln>
        </p:spPr>
      </p:sp>
      <p:sp>
        <p:nvSpPr>
          <p:cNvPr id="6" name="Text 4"/>
          <p:cNvSpPr/>
          <p:nvPr/>
        </p:nvSpPr>
        <p:spPr>
          <a:xfrm>
            <a:off x="438912" y="932688"/>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932688" y="896112"/>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Class Imbalance (14% burned, 86% unburned)</a:t>
            </a:r>
            <a:endParaRPr lang="en-US" sz="1100" dirty="0"/>
          </a:p>
        </p:txBody>
      </p:sp>
      <p:sp>
        <p:nvSpPr>
          <p:cNvPr id="8" name="Text 6"/>
          <p:cNvSpPr/>
          <p:nvPr/>
        </p:nvSpPr>
        <p:spPr>
          <a:xfrm>
            <a:off x="932688" y="1280160"/>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The limited F1 scores across all models (best: 0.533) directly reflect dataset imbalance. XGBoost's scale_pos_weight=6 parameter partially mitigated this. Future work should apply SMOTE oversampling or collect additional burned samples from prior fire seasons.</a:t>
            </a:r>
            <a:endParaRPr lang="en-US" sz="950" dirty="0"/>
          </a:p>
        </p:txBody>
      </p:sp>
      <p:sp>
        <p:nvSpPr>
          <p:cNvPr id="9" name="Shape 7"/>
          <p:cNvSpPr/>
          <p:nvPr/>
        </p:nvSpPr>
        <p:spPr>
          <a:xfrm>
            <a:off x="4800600" y="822960"/>
            <a:ext cx="4206240" cy="1261872"/>
          </a:xfrm>
          <a:prstGeom prst="rect">
            <a:avLst/>
          </a:prstGeom>
          <a:solidFill>
            <a:srgbClr val="FFFFFF"/>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800600" y="822960"/>
            <a:ext cx="4206240" cy="54864"/>
          </a:xfrm>
          <a:prstGeom prst="rect">
            <a:avLst/>
          </a:prstGeom>
          <a:solidFill>
            <a:srgbClr val="27AE60"/>
          </a:solidFill>
          <a:ln w="12700">
            <a:solidFill>
              <a:srgbClr val="27AE60"/>
            </a:solidFill>
            <a:prstDash val="solid"/>
          </a:ln>
        </p:spPr>
      </p:sp>
      <p:sp>
        <p:nvSpPr>
          <p:cNvPr id="11" name="Text 9"/>
          <p:cNvSpPr/>
          <p:nvPr/>
        </p:nvSpPr>
        <p:spPr>
          <a:xfrm>
            <a:off x="4873752" y="932688"/>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5367528" y="896112"/>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Vegetation Drives Risk (EVI, NDVI, NBR top-ranked)</a:t>
            </a:r>
            <a:endParaRPr lang="en-US" sz="1100" dirty="0"/>
          </a:p>
        </p:txBody>
      </p:sp>
      <p:sp>
        <p:nvSpPr>
          <p:cNvPr id="13" name="Text 11"/>
          <p:cNvSpPr/>
          <p:nvPr/>
        </p:nvSpPr>
        <p:spPr>
          <a:xfrm>
            <a:off x="5367528" y="1280160"/>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Vegetation stress indices dominate feature importance, confirming that fuel dryness and load are the primary fire susceptibility drivers in Mediterranean landscapes — consistent with established fire ecology literature.</a:t>
            </a:r>
            <a:endParaRPr lang="en-US" sz="950" dirty="0"/>
          </a:p>
        </p:txBody>
      </p:sp>
      <p:sp>
        <p:nvSpPr>
          <p:cNvPr id="14" name="Shape 12"/>
          <p:cNvSpPr/>
          <p:nvPr/>
        </p:nvSpPr>
        <p:spPr>
          <a:xfrm>
            <a:off x="365760" y="2185416"/>
            <a:ext cx="4206240" cy="1261872"/>
          </a:xfrm>
          <a:prstGeom prst="rect">
            <a:avLst/>
          </a:prstGeom>
          <a:solidFill>
            <a:srgbClr val="FFFFFF"/>
          </a:solidFill>
          <a:ln w="12700">
            <a:solidFill>
              <a:srgbClr val="0D1B2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65760" y="2185416"/>
            <a:ext cx="4206240" cy="54864"/>
          </a:xfrm>
          <a:prstGeom prst="rect">
            <a:avLst/>
          </a:prstGeom>
          <a:solidFill>
            <a:srgbClr val="0D1B2A"/>
          </a:solidFill>
          <a:ln w="12700">
            <a:solidFill>
              <a:srgbClr val="0D1B2A"/>
            </a:solidFill>
            <a:prstDash val="solid"/>
          </a:ln>
        </p:spPr>
      </p:sp>
      <p:sp>
        <p:nvSpPr>
          <p:cNvPr id="16" name="Text 14"/>
          <p:cNvSpPr/>
          <p:nvPr/>
        </p:nvSpPr>
        <p:spPr>
          <a:xfrm>
            <a:off x="438912" y="2295144"/>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932688" y="2258568"/>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Terrain as Secondary Driver (Slope, Elevation)</a:t>
            </a:r>
            <a:endParaRPr lang="en-US" sz="1100" dirty="0"/>
          </a:p>
        </p:txBody>
      </p:sp>
      <p:sp>
        <p:nvSpPr>
          <p:cNvPr id="18" name="Text 16"/>
          <p:cNvSpPr/>
          <p:nvPr/>
        </p:nvSpPr>
        <p:spPr>
          <a:xfrm>
            <a:off x="932688" y="2642616"/>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Steep slopes accelerate fire spread through wind channeling and thermal updrafts. Elevation controls temperature-moisture gradients that determine fuel moisture content — both critical in the rugged Muğla terrain.</a:t>
            </a:r>
            <a:endParaRPr lang="en-US" sz="950" dirty="0"/>
          </a:p>
        </p:txBody>
      </p:sp>
      <p:sp>
        <p:nvSpPr>
          <p:cNvPr id="19" name="Shape 17"/>
          <p:cNvSpPr/>
          <p:nvPr/>
        </p:nvSpPr>
        <p:spPr>
          <a:xfrm>
            <a:off x="4800600" y="2185416"/>
            <a:ext cx="4206240" cy="1261872"/>
          </a:xfrm>
          <a:prstGeom prst="rect">
            <a:avLst/>
          </a:prstGeom>
          <a:solidFill>
            <a:srgbClr val="FFFFFF"/>
          </a:solidFill>
          <a:ln w="12700">
            <a:solidFill>
              <a:srgbClr val="F39C12"/>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800600" y="2185416"/>
            <a:ext cx="4206240" cy="54864"/>
          </a:xfrm>
          <a:prstGeom prst="rect">
            <a:avLst/>
          </a:prstGeom>
          <a:solidFill>
            <a:srgbClr val="F39C12"/>
          </a:solidFill>
          <a:ln w="12700">
            <a:solidFill>
              <a:srgbClr val="F39C12"/>
            </a:solidFill>
            <a:prstDash val="solid"/>
          </a:ln>
        </p:spPr>
      </p:sp>
      <p:sp>
        <p:nvSpPr>
          <p:cNvPr id="21" name="Text 19"/>
          <p:cNvSpPr/>
          <p:nvPr/>
        </p:nvSpPr>
        <p:spPr>
          <a:xfrm>
            <a:off x="4873752" y="2295144"/>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5367528" y="2258568"/>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Distance to Roads = 0.000 Importance</a:t>
            </a:r>
            <a:endParaRPr lang="en-US" sz="1100" dirty="0"/>
          </a:p>
        </p:txBody>
      </p:sp>
      <p:sp>
        <p:nvSpPr>
          <p:cNvPr id="23" name="Text 21"/>
          <p:cNvSpPr/>
          <p:nvPr/>
        </p:nvSpPr>
        <p:spPr>
          <a:xfrm>
            <a:off x="5367528" y="2642616"/>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Unusually low road-proximity importance suggests the 2025 Muğla fires were predominantly lightning-ignited rather than human-caused — consistent with the extreme dry-lightning events recorded in early July 2025.</a:t>
            </a:r>
            <a:endParaRPr lang="en-US" sz="950" dirty="0"/>
          </a:p>
        </p:txBody>
      </p:sp>
      <p:sp>
        <p:nvSpPr>
          <p:cNvPr id="24" name="Shape 22"/>
          <p:cNvSpPr/>
          <p:nvPr/>
        </p:nvSpPr>
        <p:spPr>
          <a:xfrm>
            <a:off x="365760" y="3547872"/>
            <a:ext cx="4206240" cy="1261872"/>
          </a:xfrm>
          <a:prstGeom prst="rect">
            <a:avLst/>
          </a:prstGeom>
          <a:solidFill>
            <a:srgbClr val="FFFFFF"/>
          </a:solidFill>
          <a:ln w="12700">
            <a:solidFill>
              <a:srgbClr val="7F8C8D"/>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65760" y="3547872"/>
            <a:ext cx="4206240" cy="54864"/>
          </a:xfrm>
          <a:prstGeom prst="rect">
            <a:avLst/>
          </a:prstGeom>
          <a:solidFill>
            <a:srgbClr val="7F8C8D"/>
          </a:solidFill>
          <a:ln w="12700">
            <a:solidFill>
              <a:srgbClr val="7F8C8D"/>
            </a:solidFill>
            <a:prstDash val="solid"/>
          </a:ln>
        </p:spPr>
      </p:sp>
      <p:sp>
        <p:nvSpPr>
          <p:cNvPr id="26" name="Text 24"/>
          <p:cNvSpPr/>
          <p:nvPr/>
        </p:nvSpPr>
        <p:spPr>
          <a:xfrm>
            <a:off x="438912" y="3657600"/>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932688" y="3621024"/>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Web GIS Bridges Model → Stakeholder Gap</a:t>
            </a:r>
            <a:endParaRPr lang="en-US" sz="1100" dirty="0"/>
          </a:p>
        </p:txBody>
      </p:sp>
      <p:sp>
        <p:nvSpPr>
          <p:cNvPr id="28" name="Text 26"/>
          <p:cNvSpPr/>
          <p:nvPr/>
        </p:nvSpPr>
        <p:spPr>
          <a:xfrm>
            <a:off x="932688" y="4005072"/>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Translating probabilistic model outputs into publicly interpretable, interactive cartography without server infrastructure is a key contribution. The scenario simulator enables planners to explore compound conditions.</a:t>
            </a:r>
            <a:endParaRPr lang="en-US" sz="950" dirty="0"/>
          </a:p>
        </p:txBody>
      </p:sp>
      <p:sp>
        <p:nvSpPr>
          <p:cNvPr id="29" name="Shape 27"/>
          <p:cNvSpPr/>
          <p:nvPr/>
        </p:nvSpPr>
        <p:spPr>
          <a:xfrm>
            <a:off x="4800600" y="3547872"/>
            <a:ext cx="4206240" cy="1261872"/>
          </a:xfrm>
          <a:prstGeom prst="rect">
            <a:avLst/>
          </a:prstGeom>
          <a:solidFill>
            <a:srgbClr val="FFFFFF"/>
          </a:solidFill>
          <a:ln w="12700">
            <a:solidFill>
              <a:srgbClr val="E74C3C"/>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4800600" y="3547872"/>
            <a:ext cx="4206240" cy="54864"/>
          </a:xfrm>
          <a:prstGeom prst="rect">
            <a:avLst/>
          </a:prstGeom>
          <a:solidFill>
            <a:srgbClr val="E74C3C"/>
          </a:solidFill>
          <a:ln w="12700">
            <a:solidFill>
              <a:srgbClr val="E74C3C"/>
            </a:solidFill>
            <a:prstDash val="solid"/>
          </a:ln>
        </p:spPr>
      </p:sp>
      <p:sp>
        <p:nvSpPr>
          <p:cNvPr id="31" name="Text 29"/>
          <p:cNvSpPr/>
          <p:nvPr/>
        </p:nvSpPr>
        <p:spPr>
          <a:xfrm>
            <a:off x="4873752" y="3657600"/>
            <a:ext cx="457200"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5367528" y="3621024"/>
            <a:ext cx="3566160" cy="34747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Limitations</a:t>
            </a:r>
            <a:endParaRPr lang="en-US" sz="1100" dirty="0"/>
          </a:p>
        </p:txBody>
      </p:sp>
      <p:sp>
        <p:nvSpPr>
          <p:cNvPr id="33" name="Text 31"/>
          <p:cNvSpPr/>
          <p:nvPr/>
        </p:nvSpPr>
        <p:spPr>
          <a:xfrm>
            <a:off x="5367528" y="4005072"/>
            <a:ext cx="3566160" cy="731520"/>
          </a:xfrm>
          <a:prstGeom prst="rect">
            <a:avLst/>
          </a:prstGeom>
          <a:noFill/>
          <a:ln/>
        </p:spPr>
        <p:txBody>
          <a:bodyPr wrap="square" rtlCol="0" anchor="t"/>
          <a:lstStyle/>
          <a:p>
            <a:pPr indent="0" marL="0">
              <a:buNone/>
            </a:pPr>
            <a:r>
              <a:rPr lang="en-US" sz="950" dirty="0">
                <a:solidFill>
                  <a:srgbClr val="7F8C8D"/>
                </a:solidFill>
                <a:latin typeface="Calibri" pitchFamily="34" charset="0"/>
                <a:ea typeface="Calibri" pitchFamily="34" charset="-122"/>
                <a:cs typeface="Calibri" pitchFamily="34" charset="-120"/>
              </a:rPr>
              <a:t>Small training sample (326 rows, 1 fire season) · Coarse ERA5/SMAP resolution · FAO GAUL road proxy · No independent validation dataset · Susceptibility map should be validated against MODIS MCD64A1 before operational use.</a:t>
            </a:r>
            <a:endParaRPr lang="en-US" sz="950" dirty="0"/>
          </a:p>
        </p:txBody>
      </p:sp>
      <p:sp>
        <p:nvSpPr>
          <p:cNvPr id="34" name="Shape 32"/>
          <p:cNvSpPr/>
          <p:nvPr/>
        </p:nvSpPr>
        <p:spPr>
          <a:xfrm>
            <a:off x="0" y="4892040"/>
            <a:ext cx="9144000" cy="251460"/>
          </a:xfrm>
          <a:prstGeom prst="rect">
            <a:avLst/>
          </a:prstGeom>
          <a:solidFill>
            <a:srgbClr val="0D1B2A"/>
          </a:solidFill>
          <a:ln w="12700">
            <a:solidFill>
              <a:srgbClr val="0D1B2A"/>
            </a:solidFill>
            <a:prstDash val="solid"/>
          </a:ln>
        </p:spPr>
      </p:sp>
      <p:sp>
        <p:nvSpPr>
          <p:cNvPr id="35" name="Text 33"/>
          <p:cNvSpPr/>
          <p:nvPr/>
        </p:nvSpPr>
        <p:spPr>
          <a:xfrm>
            <a:off x="274320" y="4892040"/>
            <a:ext cx="8595360" cy="251460"/>
          </a:xfrm>
          <a:prstGeom prst="rect">
            <a:avLst/>
          </a:prstGeom>
          <a:noFill/>
          <a:ln/>
        </p:spPr>
        <p:txBody>
          <a:bodyPr wrap="square" lIns="0" tIns="0" rIns="0" bIns="0" rtlCol="0" anchor="ctr"/>
          <a:lstStyle/>
          <a:p>
            <a:pPr algn="l" indent="0" marL="0">
              <a:buNone/>
            </a:pPr>
            <a:r>
              <a:rPr lang="en-US" sz="900" dirty="0">
                <a:solidFill>
                  <a:srgbClr val="7F8C8D"/>
                </a:solidFill>
              </a:rPr>
              <a:t>CME434 — GIS &amp; Machine Learning  |  Karabük University  |  2026</a:t>
            </a:r>
            <a:endParaRPr lang="en-US" sz="900" dirty="0"/>
          </a:p>
        </p:txBody>
      </p:sp>
      <p:sp>
        <p:nvSpPr>
          <p:cNvPr id="36" name="Text 34"/>
          <p:cNvSpPr/>
          <p:nvPr/>
        </p:nvSpPr>
        <p:spPr>
          <a:xfrm>
            <a:off x="8046720" y="4892040"/>
            <a:ext cx="1097280" cy="251460"/>
          </a:xfrm>
          <a:prstGeom prst="rect">
            <a:avLst/>
          </a:prstGeom>
          <a:noFill/>
          <a:ln/>
        </p:spPr>
        <p:txBody>
          <a:bodyPr wrap="square" lIns="0" tIns="0" rIns="0" bIns="0" rtlCol="0" anchor="ctr"/>
          <a:lstStyle/>
          <a:p>
            <a:pPr algn="r" indent="0" marL="0">
              <a:buNone/>
            </a:pPr>
            <a:r>
              <a:rPr lang="en-US" sz="900" dirty="0">
                <a:solidFill>
                  <a:srgbClr val="5A6A7A"/>
                </a:solidFill>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C0392B"/>
          </a:solidFill>
          <a:ln w="12700">
            <a:solidFill>
              <a:srgbClr val="C0392B"/>
            </a:solidFill>
            <a:prstDash val="solid"/>
          </a:ln>
        </p:spPr>
      </p:sp>
      <p:sp>
        <p:nvSpPr>
          <p:cNvPr id="3" name="Text 1"/>
          <p:cNvSpPr/>
          <p:nvPr/>
        </p:nvSpPr>
        <p:spPr>
          <a:xfrm>
            <a:off x="274320" y="0"/>
            <a:ext cx="8595360" cy="640080"/>
          </a:xfrm>
          <a:prstGeom prst="rect">
            <a:avLst/>
          </a:prstGeom>
          <a:noFill/>
          <a:ln/>
        </p:spPr>
        <p:txBody>
          <a:bodyPr wrap="square" rtlCol="0" anchor="ctr"/>
          <a:lstStyle/>
          <a:p>
            <a:pPr algn="ctr" indent="0" marL="0">
              <a:buNone/>
            </a:pPr>
            <a:r>
              <a:rPr lang="en-US" sz="1100" spc="200" kern="0" dirty="0">
                <a:solidFill>
                  <a:srgbClr val="FFFFFF"/>
                </a:solidFill>
                <a:latin typeface="Calibri" pitchFamily="34" charset="0"/>
                <a:ea typeface="Calibri" pitchFamily="34" charset="-122"/>
                <a:cs typeface="Calibri" pitchFamily="34" charset="-120"/>
              </a:rPr>
              <a:t>CONCLUSION &amp; REFERENCES  |  CME434 — Karabük University  |  2026</a:t>
            </a:r>
            <a:endParaRPr lang="en-US" sz="1100" dirty="0"/>
          </a:p>
        </p:txBody>
      </p:sp>
      <p:sp>
        <p:nvSpPr>
          <p:cNvPr id="4" name="Shape 2"/>
          <p:cNvSpPr/>
          <p:nvPr/>
        </p:nvSpPr>
        <p:spPr>
          <a:xfrm>
            <a:off x="365760" y="777240"/>
            <a:ext cx="4480560" cy="3931920"/>
          </a:xfrm>
          <a:prstGeom prst="rect">
            <a:avLst/>
          </a:prstGeom>
          <a:solidFill>
            <a:srgbClr val="1B2A3B"/>
          </a:solidFill>
          <a:ln w="19050">
            <a:solidFill>
              <a:srgbClr val="C0392B"/>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365760" y="777240"/>
            <a:ext cx="4480560" cy="384048"/>
          </a:xfrm>
          <a:prstGeom prst="rect">
            <a:avLst/>
          </a:prstGeom>
          <a:solidFill>
            <a:srgbClr val="C0392B"/>
          </a:solidFill>
          <a:ln w="12700">
            <a:solidFill>
              <a:srgbClr val="C0392B"/>
            </a:solidFill>
            <a:prstDash val="solid"/>
          </a:ln>
        </p:spPr>
      </p:sp>
      <p:sp>
        <p:nvSpPr>
          <p:cNvPr id="6" name="Text 4"/>
          <p:cNvSpPr/>
          <p:nvPr/>
        </p:nvSpPr>
        <p:spPr>
          <a:xfrm>
            <a:off x="365760" y="777240"/>
            <a:ext cx="448056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Conclusion</a:t>
            </a:r>
            <a:endParaRPr lang="en-US" sz="1400" dirty="0"/>
          </a:p>
        </p:txBody>
      </p:sp>
      <p:sp>
        <p:nvSpPr>
          <p:cNvPr id="7" name="Text 5"/>
          <p:cNvSpPr/>
          <p:nvPr/>
        </p:nvSpPr>
        <p:spPr>
          <a:xfrm>
            <a:off x="502920" y="1252728"/>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Complete GEE → dNBR → 15 features → XGBoost → susceptibility map → Web GIS workflow demonstrated</a:t>
            </a:r>
            <a:endParaRPr lang="en-US" sz="1000" dirty="0"/>
          </a:p>
        </p:txBody>
      </p:sp>
      <p:sp>
        <p:nvSpPr>
          <p:cNvPr id="8" name="Text 6"/>
          <p:cNvSpPr/>
          <p:nvPr/>
        </p:nvSpPr>
        <p:spPr>
          <a:xfrm>
            <a:off x="502920" y="1700784"/>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XGBoost (tuned) achieved 89.4% accuracy and AUC-ROC 0.901 — best across all 6 model runs</a:t>
            </a:r>
            <a:endParaRPr lang="en-US" sz="1000" dirty="0"/>
          </a:p>
        </p:txBody>
      </p:sp>
      <p:sp>
        <p:nvSpPr>
          <p:cNvPr id="9" name="Text 7"/>
          <p:cNvSpPr/>
          <p:nvPr/>
        </p:nvSpPr>
        <p:spPr>
          <a:xfrm>
            <a:off x="502920" y="2148840"/>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≈27% of Muğla Province is in High or Very High wildfire risk zones</a:t>
            </a:r>
            <a:endParaRPr lang="en-US" sz="1000" dirty="0"/>
          </a:p>
        </p:txBody>
      </p:sp>
      <p:sp>
        <p:nvSpPr>
          <p:cNvPr id="10" name="Text 8"/>
          <p:cNvSpPr/>
          <p:nvPr/>
        </p:nvSpPr>
        <p:spPr>
          <a:xfrm>
            <a:off x="502920" y="2596896"/>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Coastal pine forests of Marmaris, Datça, and Fethiye are the highest-risk areas</a:t>
            </a:r>
            <a:endParaRPr lang="en-US" sz="1000" dirty="0"/>
          </a:p>
        </p:txBody>
      </p:sp>
      <p:sp>
        <p:nvSpPr>
          <p:cNvPr id="11" name="Text 9"/>
          <p:cNvSpPr/>
          <p:nvPr/>
        </p:nvSpPr>
        <p:spPr>
          <a:xfrm>
            <a:off x="502920" y="3044952"/>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Interactive Web GIS app enables non-specialist decision support without server infrastructure</a:t>
            </a:r>
            <a:endParaRPr lang="en-US" sz="1000" dirty="0"/>
          </a:p>
        </p:txBody>
      </p:sp>
      <p:sp>
        <p:nvSpPr>
          <p:cNvPr id="12" name="Text 10"/>
          <p:cNvSpPr/>
          <p:nvPr/>
        </p:nvSpPr>
        <p:spPr>
          <a:xfrm>
            <a:off x="502920" y="3493008"/>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All 15 GEE rasters, ML models, and susceptibility map are publicly reproducible</a:t>
            </a:r>
            <a:endParaRPr lang="en-US" sz="1000" dirty="0"/>
          </a:p>
        </p:txBody>
      </p:sp>
      <p:sp>
        <p:nvSpPr>
          <p:cNvPr id="13" name="Text 11"/>
          <p:cNvSpPr/>
          <p:nvPr/>
        </p:nvSpPr>
        <p:spPr>
          <a:xfrm>
            <a:off x="502920" y="3941064"/>
            <a:ext cx="4224528" cy="411480"/>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a:t>
            </a:r>
            <a:pPr indent="0" marL="0">
              <a:buNone/>
            </a:pPr>
            <a:r>
              <a:rPr lang="en-US" sz="1000" dirty="0">
                <a:solidFill>
                  <a:srgbClr val="C8D6E0"/>
                </a:solidFill>
                <a:latin typeface="Calibri" pitchFamily="34" charset="0"/>
                <a:ea typeface="Calibri" pitchFamily="34" charset="-122"/>
                <a:cs typeface="Calibri" pitchFamily="34" charset="-120"/>
              </a:rPr>
              <a:t>Future: SMOTE oversampling · multi-year training · real-time weather API · cross-validation</a:t>
            </a:r>
            <a:endParaRPr lang="en-US" sz="1000" dirty="0"/>
          </a:p>
        </p:txBody>
      </p:sp>
      <p:sp>
        <p:nvSpPr>
          <p:cNvPr id="14" name="Shape 12"/>
          <p:cNvSpPr/>
          <p:nvPr/>
        </p:nvSpPr>
        <p:spPr>
          <a:xfrm>
            <a:off x="5029200" y="777240"/>
            <a:ext cx="3749040" cy="3931920"/>
          </a:xfrm>
          <a:prstGeom prst="rect">
            <a:avLst/>
          </a:prstGeom>
          <a:solidFill>
            <a:srgbClr val="1B2A3B"/>
          </a:solidFill>
          <a:ln w="19050">
            <a:solidFill>
              <a:srgbClr val="F39C12"/>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5029200" y="777240"/>
            <a:ext cx="3749040" cy="384048"/>
          </a:xfrm>
          <a:prstGeom prst="rect">
            <a:avLst/>
          </a:prstGeom>
          <a:solidFill>
            <a:srgbClr val="F39C12"/>
          </a:solidFill>
          <a:ln w="12700">
            <a:solidFill>
              <a:srgbClr val="F39C12"/>
            </a:solidFill>
            <a:prstDash val="solid"/>
          </a:ln>
        </p:spPr>
      </p:sp>
      <p:sp>
        <p:nvSpPr>
          <p:cNvPr id="16" name="Text 14"/>
          <p:cNvSpPr/>
          <p:nvPr/>
        </p:nvSpPr>
        <p:spPr>
          <a:xfrm>
            <a:off x="5029200" y="777240"/>
            <a:ext cx="3749040" cy="38404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 References</a:t>
            </a:r>
            <a:endParaRPr lang="en-US" sz="1400" dirty="0"/>
          </a:p>
        </p:txBody>
      </p:sp>
      <p:sp>
        <p:nvSpPr>
          <p:cNvPr id="17" name="Text 15"/>
          <p:cNvSpPr/>
          <p:nvPr/>
        </p:nvSpPr>
        <p:spPr>
          <a:xfrm>
            <a:off x="5138928" y="1243584"/>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[1] AFAD (2024). Turkey Forest Fire Statistics 2002–2024.</a:t>
            </a:r>
            <a:endParaRPr lang="en-US" sz="900" dirty="0"/>
          </a:p>
        </p:txBody>
      </p:sp>
      <p:sp>
        <p:nvSpPr>
          <p:cNvPr id="18" name="Text 16"/>
          <p:cNvSpPr/>
          <p:nvPr/>
        </p:nvSpPr>
        <p:spPr>
          <a:xfrm>
            <a:off x="5138928" y="1559052"/>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[2] Breiman, L. (2001). Random Forests. Machine Learning, 45(1), 5–32.</a:t>
            </a:r>
            <a:endParaRPr lang="en-US" sz="900" dirty="0"/>
          </a:p>
        </p:txBody>
      </p:sp>
      <p:sp>
        <p:nvSpPr>
          <p:cNvPr id="19" name="Text 17"/>
          <p:cNvSpPr/>
          <p:nvPr/>
        </p:nvSpPr>
        <p:spPr>
          <a:xfrm>
            <a:off x="5138928" y="1874520"/>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[3] Chen &amp; Guestrin (2016). XGBoost: A Scalable Tree Boosting System. KDD'16.</a:t>
            </a:r>
            <a:endParaRPr lang="en-US" sz="900" dirty="0"/>
          </a:p>
        </p:txBody>
      </p:sp>
      <p:sp>
        <p:nvSpPr>
          <p:cNvPr id="20" name="Text 18"/>
          <p:cNvSpPr/>
          <p:nvPr/>
        </p:nvSpPr>
        <p:spPr>
          <a:xfrm>
            <a:off x="5138928" y="2189988"/>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[4] Cortes &amp; Vapnik (1995). Support-Vector Networks. Machine Learning.</a:t>
            </a:r>
            <a:endParaRPr lang="en-US" sz="900" dirty="0"/>
          </a:p>
        </p:txBody>
      </p:sp>
      <p:sp>
        <p:nvSpPr>
          <p:cNvPr id="21" name="Text 19"/>
          <p:cNvSpPr/>
          <p:nvPr/>
        </p:nvSpPr>
        <p:spPr>
          <a:xfrm>
            <a:off x="5138928" y="2505456"/>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[5] ESA (2024). Sentinel-2 User Handbook. European Space Agency.</a:t>
            </a:r>
            <a:endParaRPr lang="en-US" sz="900" dirty="0"/>
          </a:p>
        </p:txBody>
      </p:sp>
      <p:sp>
        <p:nvSpPr>
          <p:cNvPr id="22" name="Text 20"/>
          <p:cNvSpPr/>
          <p:nvPr/>
        </p:nvSpPr>
        <p:spPr>
          <a:xfrm>
            <a:off x="5138928" y="2820924"/>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[6] NASA USGS (2013). SRTM Digital Elevation Model.</a:t>
            </a:r>
            <a:endParaRPr lang="en-US" sz="900" dirty="0"/>
          </a:p>
        </p:txBody>
      </p:sp>
      <p:sp>
        <p:nvSpPr>
          <p:cNvPr id="23" name="Text 21"/>
          <p:cNvSpPr/>
          <p:nvPr/>
        </p:nvSpPr>
        <p:spPr>
          <a:xfrm>
            <a:off x="5138928" y="3136392"/>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[7] ECMWF (2024). ERA5-Land Hourly Data.</a:t>
            </a:r>
            <a:endParaRPr lang="en-US" sz="900" dirty="0"/>
          </a:p>
        </p:txBody>
      </p:sp>
      <p:sp>
        <p:nvSpPr>
          <p:cNvPr id="24" name="Text 22"/>
          <p:cNvSpPr/>
          <p:nvPr/>
        </p:nvSpPr>
        <p:spPr>
          <a:xfrm>
            <a:off x="5138928" y="3451860"/>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[8] Funk et al. (2015). CHIRPS: Quasi-global rainfall. Sci. Data.</a:t>
            </a:r>
            <a:endParaRPr lang="en-US" sz="900" dirty="0"/>
          </a:p>
        </p:txBody>
      </p:sp>
      <p:sp>
        <p:nvSpPr>
          <p:cNvPr id="25" name="Text 23"/>
          <p:cNvSpPr/>
          <p:nvPr/>
        </p:nvSpPr>
        <p:spPr>
          <a:xfrm>
            <a:off x="5138928" y="3767328"/>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[9] FAO (2015). Global Administrative Unit Layers (GAUL).</a:t>
            </a:r>
            <a:endParaRPr lang="en-US" sz="900" dirty="0"/>
          </a:p>
        </p:txBody>
      </p:sp>
      <p:sp>
        <p:nvSpPr>
          <p:cNvPr id="26" name="Text 24"/>
          <p:cNvSpPr/>
          <p:nvPr/>
        </p:nvSpPr>
        <p:spPr>
          <a:xfrm>
            <a:off x="5138928" y="4082796"/>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[10] Gorelick et al. (2017). Google Earth Engine. Remote Sens. Environ.</a:t>
            </a:r>
            <a:endParaRPr lang="en-US" sz="900" dirty="0"/>
          </a:p>
        </p:txBody>
      </p:sp>
      <p:sp>
        <p:nvSpPr>
          <p:cNvPr id="27" name="Text 25"/>
          <p:cNvSpPr/>
          <p:nvPr/>
        </p:nvSpPr>
        <p:spPr>
          <a:xfrm>
            <a:off x="5138928" y="4398264"/>
            <a:ext cx="3529584" cy="301752"/>
          </a:xfrm>
          <a:prstGeom prst="rect">
            <a:avLst/>
          </a:prstGeom>
          <a:noFill/>
          <a:ln/>
        </p:spPr>
        <p:txBody>
          <a:bodyPr wrap="square" rtlCol="0" anchor="ctr"/>
          <a:lstStyle/>
          <a:p>
            <a:pPr indent="0" marL="0">
              <a:buNone/>
            </a:pPr>
            <a:r>
              <a:rPr lang="en-US" sz="900" dirty="0">
                <a:solidFill>
                  <a:srgbClr val="9BAAB5"/>
                </a:solidFill>
                <a:latin typeface="Calibri" pitchFamily="34" charset="0"/>
                <a:ea typeface="Calibri" pitchFamily="34" charset="-122"/>
                <a:cs typeface="Calibri" pitchFamily="34" charset="-120"/>
              </a:rPr>
              <a:t>[11] Aguilera-Benavente (2024). Leaflet.js v1.9. Open-source mapping.</a:t>
            </a:r>
            <a:endParaRPr lang="en-US" sz="900" dirty="0"/>
          </a:p>
        </p:txBody>
      </p:sp>
      <p:sp>
        <p:nvSpPr>
          <p:cNvPr id="28" name="Shape 26"/>
          <p:cNvSpPr/>
          <p:nvPr/>
        </p:nvSpPr>
        <p:spPr>
          <a:xfrm>
            <a:off x="0" y="4828032"/>
            <a:ext cx="9144000" cy="315468"/>
          </a:xfrm>
          <a:prstGeom prst="rect">
            <a:avLst/>
          </a:prstGeom>
          <a:solidFill>
            <a:srgbClr val="C0392B"/>
          </a:solidFill>
          <a:ln w="12700">
            <a:solidFill>
              <a:srgbClr val="C0392B"/>
            </a:solidFill>
            <a:prstDash val="solid"/>
          </a:ln>
        </p:spPr>
      </p:sp>
      <p:sp>
        <p:nvSpPr>
          <p:cNvPr id="29" name="Text 27"/>
          <p:cNvSpPr/>
          <p:nvPr/>
        </p:nvSpPr>
        <p:spPr>
          <a:xfrm>
            <a:off x="274320" y="4828032"/>
            <a:ext cx="8595360" cy="31546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Live Web App: https://3bdoiq200.github.io/GIS-Wildfire-Mugla/   |   GitHub: github.com/3bdOIQ200/GIS-Wildfire-Mugla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Karabük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Wildfire Susceptibility Mapping — Muğla Province</dc:title>
  <dc:subject>PptxGenJS Presentation</dc:subject>
  <dc:creator>3bdOIQ200</dc:creator>
  <cp:lastModifiedBy>3bdOIQ200</cp:lastModifiedBy>
  <cp:revision>1</cp:revision>
  <dcterms:created xsi:type="dcterms:W3CDTF">2026-05-07T15:47:18Z</dcterms:created>
  <dcterms:modified xsi:type="dcterms:W3CDTF">2026-05-07T15:47:18Z</dcterms:modified>
</cp:coreProperties>
</file>