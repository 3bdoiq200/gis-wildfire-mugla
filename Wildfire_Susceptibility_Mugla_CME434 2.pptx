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03756D-4B64-A9FD-97BF-BD7B124E2DF2}" v="149" dt="2026-05-07T15:56:46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F1BA9-B74C-4CF5-BBD4-66C9E0FD64AF}" type="datetimeFigureOut"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F54D4-1981-4052-94ED-96852EACAD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1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CME434 — GEOGRAPHIC INFORMATION SYSTEMS  |  KARABÜK UNIVERSITY  | 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86200" y="8229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🔥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and Machine Learning-Based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Susceptibility Mapping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Muğla Province, Turkey  ·  Summer Wildfires 2025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3401568"/>
            <a:ext cx="27432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364992"/>
            <a:ext cx="8412480" cy="987552"/>
          </a:xfrm>
          <a:prstGeom prst="rect">
            <a:avLst/>
          </a:prstGeom>
          <a:solidFill>
            <a:srgbClr val="0A152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364992"/>
            <a:ext cx="8412480" cy="31089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36499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3730752"/>
            <a:ext cx="2011680" cy="548640"/>
          </a:xfrm>
          <a:prstGeom prst="rect">
            <a:avLst/>
          </a:prstGeom>
          <a:solidFill>
            <a:srgbClr val="1B2A3B"/>
          </a:solidFill>
          <a:ln w="6350">
            <a:solidFill>
              <a:srgbClr val="2A3B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3730752"/>
            <a:ext cx="4572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75818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Abdalrahman Asmaael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4032504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2210213532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14600" y="3730752"/>
            <a:ext cx="2011680" cy="548640"/>
          </a:xfrm>
          <a:prstGeom prst="rect">
            <a:avLst/>
          </a:prstGeom>
          <a:solidFill>
            <a:srgbClr val="1B2A3B"/>
          </a:solidFill>
          <a:ln w="6350">
            <a:solidFill>
              <a:srgbClr val="2A3B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3730752"/>
            <a:ext cx="4572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375818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Ajaha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4032504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2110213526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90288" y="3730752"/>
            <a:ext cx="2011680" cy="548640"/>
          </a:xfrm>
          <a:prstGeom prst="rect">
            <a:avLst/>
          </a:prstGeom>
          <a:solidFill>
            <a:srgbClr val="1B2A3B"/>
          </a:solidFill>
          <a:ln w="6350">
            <a:solidFill>
              <a:srgbClr val="2A3B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3730752"/>
            <a:ext cx="4572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75818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Ehab Talat Helal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4032504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2210213526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65976" y="3730752"/>
            <a:ext cx="2011680" cy="548640"/>
          </a:xfrm>
          <a:prstGeom prst="rect">
            <a:avLst/>
          </a:prstGeom>
          <a:solidFill>
            <a:srgbClr val="1B2A3B"/>
          </a:solidFill>
          <a:ln w="6350">
            <a:solidFill>
              <a:srgbClr val="2A3B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65976" y="3730752"/>
            <a:ext cx="4572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375818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Karadağ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4032504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2110213033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4622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75688" y="44622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CME434 — GIS Applications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446227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56248" y="44622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Sohaib K. M. Abujayyab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7000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75688" y="4700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Karabük University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47000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56248" y="47000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96112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9509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133502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findings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896112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96112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9611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76672" y="950976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6672" y="133502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motivation, objectives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874520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745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1832" y="192938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231343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Muğla Province geography &amp; climate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8745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874520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8745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76672" y="1929384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6672" y="231343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&amp; geospatial datasets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85292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52928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85292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1832" y="290779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" y="329184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dNBR labeling, feature extraction, ML pipeline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52928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852928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85292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76672" y="2907792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76672" y="329184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metrics, feature importance, susceptibility map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83133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831336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831336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41832" y="388620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GIS Application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1832" y="4270248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 decision-support tool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831336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831336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831336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76672" y="388620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76672" y="4270248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limitations, future work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054" y="181685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9674" y="145109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Abstract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300" y="874913"/>
            <a:ext cx="8418974" cy="3163514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6794" y="855431"/>
            <a:ext cx="841248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9674" y="992591"/>
            <a:ext cx="8046720" cy="3291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study presents a GIS and machine learning-based framework for wildfire susceptibility mapping in </a:t>
            </a:r>
            <a:r>
              <a:rPr lang="en-US" sz="12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Muğla</a:t>
            </a:r>
            <a:r>
              <a:rPr lang="en-US" sz="12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Province, southwestern Turkey, following the catastrophic wildfire season of summer 2025. Three machine learning classifiers — Random Forest, </a:t>
            </a:r>
            <a:r>
              <a:rPr lang="en-US" sz="12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US" sz="12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and Support Vector Machine (SVM) — were trained on 15 topographic, climatic, vegetative, </a:t>
            </a:r>
            <a:r>
              <a:rPr lang="en-US" sz="12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and anthropogenic predictor variables derived from satellite remote sensing and geospatial datasets.</a:t>
            </a:r>
            <a:endParaRPr lang="en-US" sz="125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Burned-area labels were extracted from Sentinel-2 </a:t>
            </a:r>
            <a:r>
              <a:rPr lang="en-US" sz="125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dNBR</a:t>
            </a:r>
            <a:r>
              <a:rPr lang="en-US" sz="12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differenced imagery, yielding 61 confirmed burned pixels and 441 unburned reference samples. </a:t>
            </a:r>
            <a:r>
              <a:rPr lang="en-US" sz="125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US" sz="12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achieved the highest classification performance (Accuracy 89.4%, AUC-ROC 0.901, F1 0.533), and</a:t>
            </a:r>
            <a:r>
              <a:rPr lang="en-US" sz="125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was used to generate a province-wide susceptibility raster at 100 m resolution.</a:t>
            </a:r>
            <a:endParaRPr lang="en-US" sz="125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Results were published through an interactive Leaflet.js Web GIS application supporting real-time overlay toggling, heatmap </a:t>
            </a:r>
            <a:r>
              <a:rPr lang="en-US" sz="12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visualisation</a:t>
            </a:r>
            <a:r>
              <a:rPr lang="en-US" sz="12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and scenario simulation. High susceptibility zones concentrate in the coastal pine forests of Marmaris, </a:t>
            </a:r>
            <a:r>
              <a:rPr lang="en-US" sz="12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Datça</a:t>
            </a:r>
            <a:r>
              <a:rPr lang="en-US" sz="12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and </a:t>
            </a:r>
            <a:r>
              <a:rPr lang="en-US" sz="12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Fethiye</a:t>
            </a:r>
            <a:r>
              <a:rPr lang="en-US" sz="12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districts, consistent with historical fire records and the 2025 observations.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4219592"/>
            <a:ext cx="19659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421959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4512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Points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4219592"/>
            <a:ext cx="19659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421959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8880" y="4512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Samples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4219592"/>
            <a:ext cx="19659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421959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512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Features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4219592"/>
            <a:ext cx="196596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421959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4512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Introduction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98231" y="1013010"/>
            <a:ext cx="4173769" cy="109026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12273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1086162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Wildfire Crisis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" y="1406202"/>
            <a:ext cx="3547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recorded 230,000+ fire incidents (2002–2024), burning over 2.5 million hectares (AFAD, 2024). Climate-driven temperature extremes and drought intensify risk annually.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13010"/>
            <a:ext cx="4206240" cy="109026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73752" y="112273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7528" y="1086162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Muğla Wildfires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67528" y="1406202"/>
            <a:ext cx="3547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severity: multiple large fires burned tens of thousands of hectares. Marmaris alone burned ~12,000 ha in 72 hours, displacing thousands and causing severe ecological damage.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4725" y="2721950"/>
            <a:ext cx="4167275" cy="1090266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81869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2688" y="2782114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3102154"/>
            <a:ext cx="3547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reproducible GIS + ML susceptibility workflow: GEE satellite acquisition → dNBR labeling → 15-feature extraction → multi-model training → province-wide map → Web GIS publication.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708962"/>
            <a:ext cx="4206240" cy="1090266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281869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67528" y="2782114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67528" y="3102154"/>
            <a:ext cx="3547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dNBR provides burned area labels. Google Earth Engine processes 15 predictor rasters. Python trains RF, XGBoost, and SVM. XGBoost selected as best model. Leaflet.js delivers interactive output.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Study Area — </a:t>
            </a:r>
            <a:r>
              <a:rPr lang="en-US" sz="2800" b="1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Muğla</a:t>
            </a:r>
            <a:r>
              <a:rPr lang="en-US" sz="28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Province, </a:t>
            </a:r>
            <a:r>
              <a:rPr lang="en-US" sz="2800" b="1" dirty="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Turkiye</a:t>
            </a:r>
            <a:endParaRPr lang="en-US" sz="28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Facts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1148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26187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36.0°–37.5° N, 27.2°–29.5° 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642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66420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13,338 km²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66544"/>
            <a:ext cx="41148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6654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06654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Csa — hot dry summers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688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46888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Pinus brutia, maquis, oak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41148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7121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Temp.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287121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28°C mean, &lt; 10 mm precipitation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735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Zones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2735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Marmaris, Datça, Köyceğiz, Bodrum, Fethiye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75888"/>
            <a:ext cx="41148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7588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6758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million inhabitants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78224"/>
            <a:ext cx="4114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7822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407822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Rugged — Menteşe &amp; Taurus Mountains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822960"/>
            <a:ext cx="41148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822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Major Fire Zones (2025)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1261872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261872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298448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Marmaris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73168" y="1563624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coast — ~12,000 ha burned in 72h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192024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920240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195681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Datça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222199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Peninsula — narrow terrain, three-sided sea exposure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578608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578608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615184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Köyceğiz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73168" y="2880360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coastal zone — mixed pine &amp; maquis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236976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3236976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327355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Bodrum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73168" y="3538728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peninsula — high tourism pressure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3895344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3895344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3931920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Fethiye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73168" y="419709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coast — steep slopes, dense Pinus brutia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Data Sources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2209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Sentinel-2 MSI (L2A)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ESA / Copernicus via GEE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dNBR labels, NDVI, NDWI, EVI, NBR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SRTM DEM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/ USGS via GEE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Elevation, slope, aspect, hillshade, TPI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ERA5-Land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ECMWF / GEE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km → 100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speed (annual mean 2023–2024)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CHIRPS v2.0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UCSB CHG / GEE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km → 100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rainfall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Landsat 8 (Collection 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USGS / GEE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Surface 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SMAP L3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/ GEE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km → 100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 (2023–2024 mean)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FAO GAUL (2015)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FAO / GEE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Province boundary (ADM1 = 'Mugla')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MODIS MCD12Q1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/ GEE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 → 100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urban (LC class 13)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processed in Google Earth Engine — Project ID: causal-bison-488813-q1  |  Export folder: GIS_Wildfire_Mugla  |  Resolution: 100 m (EPSG:32636)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Methodology — Burn Labeling &amp; Sampling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dNBR Formula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 = (NIR − SWIR2) / (NIR + SWIR2)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dNBR = NBR_pre − NBR_post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Pre-fire: May–Jun 2025  |  Post-fire: Jul–Sep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2296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822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Classification Thresholds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41371" y="1346297"/>
            <a:ext cx="86661" cy="353293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29844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(Label = 1)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82896" y="14996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dNBR &gt; 0.15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1344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points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H="1">
            <a:off x="4743608" y="1853063"/>
            <a:ext cx="82190" cy="340305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79222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Unsampled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82896" y="19933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 &lt; dNBR ≤ 0.15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18379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41371" y="2333850"/>
            <a:ext cx="86661" cy="353292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28600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Unburned (Label = 0)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2896" y="24871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−0.10 &lt; dNBR ≤ 0.10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23317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 points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852928"/>
            <a:ext cx="8412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852928"/>
            <a:ext cx="8412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852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Preparation Pipeline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100584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2918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54480" y="3291840"/>
            <a:ext cx="173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728216" y="3291840"/>
            <a:ext cx="100584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728216" y="32918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dNBR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34056" y="3291840"/>
            <a:ext cx="173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907792" y="3291840"/>
            <a:ext cx="100584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07792" y="32918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13632" y="3291840"/>
            <a:ext cx="173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087368" y="3291840"/>
            <a:ext cx="100584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087368" y="32918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93208" y="3291840"/>
            <a:ext cx="173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266944" y="3291840"/>
            <a:ext cx="100584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66944" y="32918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Labeled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72784" y="3291840"/>
            <a:ext cx="173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46520" y="3291840"/>
            <a:ext cx="100584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46520" y="32918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326 rows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52360" y="3291840"/>
            <a:ext cx="173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626096" y="3291840"/>
            <a:ext cx="100584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626096" y="32918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Inputs.txt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Label.txt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Methodology — 15 Predictor Variables (GEE)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" y="804672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04672"/>
            <a:ext cx="384048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87782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88336" y="877824"/>
            <a:ext cx="310896" cy="1737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88336" y="877824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82112" y="804672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804672"/>
            <a:ext cx="384048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804672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39312" y="87782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39312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22976" y="877824"/>
            <a:ext cx="310896" cy="1737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877824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016752" y="804672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16752" y="804672"/>
            <a:ext cx="384048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804672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3952" y="87782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73952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57616" y="877824"/>
            <a:ext cx="310896" cy="1737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877824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" y="1572768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1572768"/>
            <a:ext cx="384048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1572768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16459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Hillshade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19751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88336" y="1645920"/>
            <a:ext cx="310896" cy="1737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88336" y="1645920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182112" y="1572768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2112" y="1572768"/>
            <a:ext cx="384048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2112" y="1572768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39312" y="16459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39312" y="19751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22976" y="1645920"/>
            <a:ext cx="310896" cy="1737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22976" y="1645920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016752" y="1572768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16752" y="1572768"/>
            <a:ext cx="384048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1572768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73952" y="16459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73952" y="19751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357616" y="1645920"/>
            <a:ext cx="310896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7616" y="1645920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47472" y="2340864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2340864"/>
            <a:ext cx="384048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2340864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04672" y="241401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NDWI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" y="2743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88336" y="2414016"/>
            <a:ext cx="310896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88336" y="2414016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182112" y="2340864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82112" y="2340864"/>
            <a:ext cx="384048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82112" y="2340864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39312" y="241401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39312" y="2743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522976" y="2414016"/>
            <a:ext cx="310896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22976" y="2414016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016752" y="2340864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16752" y="2340864"/>
            <a:ext cx="384048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16752" y="2340864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473952" y="241401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73952" y="2743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357616" y="2414016"/>
            <a:ext cx="310896" cy="1737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57616" y="2414016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47472" y="3108960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7472" y="3108960"/>
            <a:ext cx="384048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3108960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804672" y="318211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04672" y="35112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ERA5-Land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688336" y="3182112"/>
            <a:ext cx="310896" cy="1737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88336" y="3182112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182112" y="3108960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82112" y="3108960"/>
            <a:ext cx="384048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82112" y="3108960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3639312" y="318211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3639312" y="35112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 8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522976" y="3182112"/>
            <a:ext cx="310896" cy="1737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22976" y="3182112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016752" y="3108960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6752" y="3108960"/>
            <a:ext cx="384048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16752" y="3108960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6473952" y="318211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473952" y="35112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SMAP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357616" y="3182112"/>
            <a:ext cx="310896" cy="1737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57616" y="3182112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47472" y="3877056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47472" y="3877056"/>
            <a:ext cx="38404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7472" y="3877056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804672" y="39502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Roads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804672" y="4279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proxy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688336" y="3950208"/>
            <a:ext cx="310896" cy="1737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88336" y="3950208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182112" y="3877056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2112" y="3877056"/>
            <a:ext cx="38404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182112" y="3877056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3639312" y="39502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Urban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3639312" y="4279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LC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522976" y="3950208"/>
            <a:ext cx="310896" cy="1737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522976" y="3950208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6016752" y="3877056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16752" y="3877056"/>
            <a:ext cx="384048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016752" y="3877056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6473952" y="39502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Rainfall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6473952" y="4279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8357616" y="3950208"/>
            <a:ext cx="310896" cy="1737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357616" y="3950208"/>
            <a:ext cx="31089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Methodology — Machine Learning Pipeline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Split: 80 / 20  |  Train: 260 samples  |  Test: 66 samples  |  Stratified  |  random_state=42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715768" cy="299923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2715768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2715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2084832"/>
            <a:ext cx="2642616" cy="365760"/>
          </a:xfrm>
          <a:prstGeom prst="rect">
            <a:avLst/>
          </a:prstGeom>
          <a:solidFill>
            <a:srgbClr val="F7F9FC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200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2459736"/>
            <a:ext cx="264261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59736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" y="2834640"/>
            <a:ext cx="2642616" cy="365760"/>
          </a:xfrm>
          <a:prstGeom prst="rect">
            <a:avLst/>
          </a:prstGeom>
          <a:solidFill>
            <a:srgbClr val="F7F9FC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 =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" y="3209544"/>
            <a:ext cx="264261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9544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 = 'sqrt'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" y="3584448"/>
            <a:ext cx="2642616" cy="365760"/>
          </a:xfrm>
          <a:prstGeom prst="rect">
            <a:avLst/>
          </a:prstGeom>
          <a:solidFill>
            <a:srgbClr val="F7F9FC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84448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required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" y="3959352"/>
            <a:ext cx="264261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59352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n_jobs = -1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1572768"/>
            <a:ext cx="2715768" cy="2999232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1572768"/>
            <a:ext cx="2715768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1572768"/>
            <a:ext cx="2715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★ BEST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55264" y="2084832"/>
            <a:ext cx="2642616" cy="365760"/>
          </a:xfrm>
          <a:prstGeom prst="rect">
            <a:avLst/>
          </a:prstGeom>
          <a:solidFill>
            <a:srgbClr val="F7F9FC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084832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200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55264" y="2459736"/>
            <a:ext cx="264261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459736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0.05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55264" y="2834640"/>
            <a:ext cx="2642616" cy="365760"/>
          </a:xfrm>
          <a:prstGeom prst="rect">
            <a:avLst/>
          </a:prstGeom>
          <a:solidFill>
            <a:srgbClr val="F7F9FC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83464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55264" y="3209544"/>
            <a:ext cx="264261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209544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 = 0.8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55264" y="3584448"/>
            <a:ext cx="2642616" cy="365760"/>
          </a:xfrm>
          <a:prstGeom prst="rect">
            <a:avLst/>
          </a:prstGeom>
          <a:solidFill>
            <a:srgbClr val="F7F9FC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584448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 = 0.8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55264" y="3959352"/>
            <a:ext cx="264261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959352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71616" y="1572768"/>
            <a:ext cx="2715768" cy="299923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71616" y="1572768"/>
            <a:ext cx="2715768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1572768"/>
            <a:ext cx="2715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08192" y="2084832"/>
            <a:ext cx="2642616" cy="365760"/>
          </a:xfrm>
          <a:prstGeom prst="rect">
            <a:avLst/>
          </a:prstGeom>
          <a:solidFill>
            <a:srgbClr val="F7F9FC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2084832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'rbf'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08192" y="2459736"/>
            <a:ext cx="264261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2459736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10.0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08192" y="2834640"/>
            <a:ext cx="2642616" cy="365760"/>
          </a:xfrm>
          <a:prstGeom prst="rect">
            <a:avLst/>
          </a:prstGeom>
          <a:solidFill>
            <a:srgbClr val="F7F9FC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283464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= 0.01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08192" y="3209544"/>
            <a:ext cx="264261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63056" y="3209544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08192" y="3584448"/>
            <a:ext cx="2642616" cy="365760"/>
          </a:xfrm>
          <a:prstGeom prst="rect">
            <a:avLst/>
          </a:prstGeom>
          <a:solidFill>
            <a:srgbClr val="F7F9FC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63056" y="3584448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= True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08192" y="3959352"/>
            <a:ext cx="264261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63056" y="3959352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Results — Model Performance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822960"/>
            <a:ext cx="192024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23160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AUC-ROC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822960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822960"/>
            <a:ext cx="19202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480560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F1-Score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822960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822960"/>
            <a:ext cx="192024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0.667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537960" y="14813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Precision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38528"/>
          <a:ext cx="8869680" cy="1813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(tuned)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45537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XGBoost (tuned) selected as the final model — highest F1, Precision, Recall, and AUC-ROC across all 6 runs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Results — Confusion Matrices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50392"/>
            <a:ext cx="822960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370832"/>
            <a:ext cx="2715768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4370832"/>
            <a:ext cx="2715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|  TN=53 FP=5 FN=6 TP=2  |  Acc 83.3%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18688" y="4370832"/>
            <a:ext cx="2715768" cy="5303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18688" y="4370832"/>
            <a:ext cx="2715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★  |  TN=55 FP=3 FN=4 TP=4  |  Acc 89.4%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71616" y="4370832"/>
            <a:ext cx="2715768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71616" y="4370832"/>
            <a:ext cx="2715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(tuned)  |  TN=58 FP=0 FN=7 TP=1  |  Acc 89.4%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Results — Feature Importance (Random Forest)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53949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822960"/>
            <a:ext cx="5303520" cy="3767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25312" y="804672"/>
            <a:ext cx="2852928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25312" y="804672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Predictors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25312" y="1207008"/>
            <a:ext cx="28529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25312" y="1207008"/>
            <a:ext cx="457200" cy="6035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25312" y="1207008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19088" y="1243584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19088" y="1499616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stress &amp; fuel load indicator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19872" y="124358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0.119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25312" y="1865376"/>
            <a:ext cx="28529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25312" y="1865376"/>
            <a:ext cx="457200" cy="6035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25312" y="1865376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19088" y="1901952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19088" y="2157984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steepness drives fire spread rate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119872" y="190195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25312" y="2523744"/>
            <a:ext cx="28529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25312" y="2523744"/>
            <a:ext cx="457200" cy="6035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25312" y="2523744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19088" y="2560320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19088" y="2816352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moisture gradients with altitude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119872" y="256032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0.107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925312" y="3182112"/>
            <a:ext cx="28529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25312" y="3182112"/>
            <a:ext cx="457200" cy="6035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25312" y="3182112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19088" y="3218688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419088" y="3474720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vegetation density &amp; dryness proxy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119872" y="321868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0.095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925312" y="3840480"/>
            <a:ext cx="28529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925312" y="3840480"/>
            <a:ext cx="457200" cy="6035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25312" y="384048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19088" y="3877056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419088" y="4133088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soils increase ignition probability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119872" y="387705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0.085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925312" y="4517136"/>
            <a:ext cx="2852928" cy="347472"/>
          </a:xfrm>
          <a:prstGeom prst="rect">
            <a:avLst/>
          </a:prstGeom>
          <a:solidFill>
            <a:srgbClr val="FFF3F3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0" y="4517136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dist_roads = 0.000  — fires were predominantly lightning-ignited, not road-proximate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Results — Wildfire Susceptibility Map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7198" y="746223"/>
            <a:ext cx="6238443" cy="407609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2918" y="764511"/>
            <a:ext cx="6179474" cy="39846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804672"/>
            <a:ext cx="1920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804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03720" y="1243584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03720" y="1243584"/>
            <a:ext cx="201168" cy="621792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50608" y="128016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50608" y="15361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3,468 km²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63840" y="153619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03720" y="1920240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03720" y="1920240"/>
            <a:ext cx="201168" cy="621792"/>
          </a:xfrm>
          <a:prstGeom prst="rect">
            <a:avLst/>
          </a:prstGeom>
          <a:solidFill>
            <a:srgbClr val="91CF60"/>
          </a:solidFill>
          <a:ln w="12700">
            <a:solidFill>
              <a:srgbClr val="91CF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50608" y="1956816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50608" y="22128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3,067 km²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863840" y="221284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1C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2596896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2596896"/>
            <a:ext cx="201168" cy="621792"/>
          </a:xfrm>
          <a:prstGeom prst="rect">
            <a:avLst/>
          </a:prstGeom>
          <a:solidFill>
            <a:srgbClr val="FEE08B"/>
          </a:solidFill>
          <a:ln w="12700">
            <a:solidFill>
              <a:srgbClr val="FEE0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50608" y="263347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50608" y="28895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 km²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863840" y="288950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0" y="327355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03720" y="3273552"/>
            <a:ext cx="201168" cy="621792"/>
          </a:xfrm>
          <a:prstGeom prst="rect">
            <a:avLst/>
          </a:prstGeom>
          <a:solidFill>
            <a:srgbClr val="FC8D59"/>
          </a:solidFill>
          <a:ln w="12700">
            <a:solidFill>
              <a:srgbClr val="FC8D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50608" y="331012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50608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2,268 km²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863840" y="35661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C8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903720" y="3950208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03720" y="3950208"/>
            <a:ext cx="201168" cy="621792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50608" y="398678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High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50608" y="424281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1,334 km²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863840" y="42428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7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03720" y="4663440"/>
            <a:ext cx="1920240" cy="182880"/>
          </a:xfrm>
          <a:prstGeom prst="rect">
            <a:avLst/>
          </a:prstGeom>
          <a:solidFill>
            <a:srgbClr val="C0392B">
              <a:alpha val="15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03720" y="46634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in High + Very High risk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Web GIS Decision-Support System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896112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Map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base tiles with 6 toggle-able layers: burned points, unburned points, fire heatmap, province boundary, before/after Sentinel-2 overlays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22960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326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40680" y="896112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Heatmap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40680" y="1243584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Leaflet.heat layer built from 61 burned-area markers with Gaussian spread (σ≈0.10°), clipped to province coastline via point-in-polygon ray-casting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03120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128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05840" y="2176272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2523744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for wind speed, drought index, and slope. XGBoost-calibrated formula gives instant probabilistic feedback without a live API server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103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103120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2128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40680" y="2176272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40680" y="2523744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table, training data summary (326 samples, 61 burned, 441 unburned), confusion matrix, and feature importance embedded inline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383280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930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🛰️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05840" y="3456432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Overlay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3803904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VIIRS fire hotspot WMS tiles from NASA FIRMS, toggleable on the main map for current fire activity context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3832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383280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4930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440680" y="3456432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Draw AOI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40680" y="3803904"/>
            <a:ext cx="34930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draw custom rectangles or polygons; app counts burned/unburned points inside the AOI and offers GeoJSON download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4385" y="4662244"/>
            <a:ext cx="7503276" cy="19638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4385" y="4662244"/>
            <a:ext cx="7503276" cy="196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app: https://3bdoiq200.github.io/GIS-Wildfire-Mugla/   |   Repo: github.com/3bdOIQ200/GIS-Wildfire-Mugla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 Discussion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206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32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896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(14% burned, 86% unburned)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2801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limited F1 scores across all models (best: 0.533) directly reflect dataset imbalance. XGBoost's scale_pos_weight=6 parameter partially mitigated this. Future work should apply SMOTE oversampling or collect additional burned samples from prior fire seasons.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22960"/>
            <a:ext cx="42062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32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67528" y="896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Drives Risk (EVI, NDVI, NBR top-ranked)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67528" y="12801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stress indices dominate feature importance, confirming that fuel dryness and load are the primary fire susceptibility drivers in Mediterranean landscapes — consistent with established fire ecology literature.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8541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85416"/>
            <a:ext cx="420624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951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🏔️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2688" y="22585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as Secondary Driver (Slope, Elevation)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64261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slopes accelerate fire spread through wind channeling and thermal updrafts. Elevation controls temperature-moisture gradients that determine fuel moisture content — both critical in the rugged Muğla terrain.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18541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185416"/>
            <a:ext cx="420624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2951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67528" y="22585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Roads = 0.000 Importance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67528" y="264261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low road-proximity importance suggests the 2025 Muğla fires were predominantly lightning-ignited rather than human-caused — consistent with the extreme dry-lightning events recorded in early July 2025.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5478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47872"/>
            <a:ext cx="4206240" cy="5486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576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2688" y="3621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GIS Bridges Model → Stakeholder Gap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400507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probabilistic model outputs into publicly interpretable, interactive cartography without server infrastructure is a key contribution. The scenario simulator enables planners to explore compound conditions.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5478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47872"/>
            <a:ext cx="420624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6576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67528" y="3621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67528" y="400507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training sample (326 rows, 1 fire season) · Coarse ERA5/SMAP resolution · FAO GAUL road proxy · No independent validation dataset · Susceptibility map should be validated against MODIS MCD64A1 before operational use.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CME434 — GIS &amp; Machine Learning  |  Karabük University  | 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7A"/>
                </a:solidFill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  |  CME434 — Karabük University  | 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480560" cy="3931920"/>
          </a:xfrm>
          <a:prstGeom prst="rect">
            <a:avLst/>
          </a:prstGeom>
          <a:solidFill>
            <a:srgbClr val="1B2A3B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48056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GEE → dNBR → 15 features → XGBoost → susceptibility map → Web GIS workflow demonstrated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 achieved 89.4% accuracy and AUC-ROC 0.901 — best across all 6 model runs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≈27% of Muğla Province is in High or Very High wildfire risk zones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96896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pine forests of Marmaris, Datça, and Fethiye are the highest-risk areas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044952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GIS app enables non-specialist decision support without server infrastructure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GEE rasters, ML models, and susceptibility map are publicly reproducible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941064"/>
            <a:ext cx="4224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SMOTE oversampling · multi-year training · real-time weather API · cross-validation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777240"/>
            <a:ext cx="3749040" cy="3931920"/>
          </a:xfrm>
          <a:prstGeom prst="rect">
            <a:avLst/>
          </a:prstGeom>
          <a:solidFill>
            <a:srgbClr val="1B2A3B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777240"/>
            <a:ext cx="374904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777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References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38928" y="1243584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AFAD (2024). Turkey Forest Fire Statistics 2002–2024.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38928" y="1559052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Breiman, L. (2001). Random Forests. Machine Learning, 45(1), 5–32.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38928" y="1874520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Chen &amp; Guestrin (2016). XGBoost: A Scalable Tree Boosting System. KDD'16.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38928" y="2189988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Cortes &amp; Vapnik (1995). Support-Vector Networks. Machine Learning.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38928" y="2505456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ESA (2024). Sentinel-2 User Handbook. European Space Agency.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38928" y="2820924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NASA USGS (2013). SRTM Digital Elevation Model.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3136392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ECMWF (2024). ERA5-Land Hourly Data.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38928" y="3451860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Funk et al. (2015). CHIRPS: Quasi-global rainfall. Sci. Data.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38928" y="3767328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FAO (2015). Global Administrative Unit Layers (GAUL).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38928" y="4082796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Gorelick et al. (2017). Google Earth Engine. Remote Sens. Environ.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38928" y="4398264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Aguilera-Benavente (2024). Leaflet.js v1.9. Open-source mapping.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Web App: https://3bdoiq200.github.io/GIS-Wildfire-Mugla/   |   GitHub: github.com/3bdOIQ200/GIS-Wildfire-Mugla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Karabük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Susceptibility Mapping — Muğla Province</dc:title>
  <dc:subject>PptxGenJS Presentation</dc:subject>
  <dc:creator>3bdOIQ200</dc:creator>
  <cp:lastModifiedBy>3bdOIQ200</cp:lastModifiedBy>
  <cp:revision>51</cp:revision>
  <dcterms:created xsi:type="dcterms:W3CDTF">2026-05-07T15:47:18Z</dcterms:created>
  <dcterms:modified xsi:type="dcterms:W3CDTF">2026-05-07T15:57:42Z</dcterms:modified>
</cp:coreProperties>
</file>